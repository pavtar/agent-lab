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5"/>
    <p:sldMasterId id="214748367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y="5143500" cx="9144000"/>
  <p:notesSz cx="6858000" cy="9144000"/>
  <p:embeddedFontLst>
    <p:embeddedFont>
      <p:font typeface="Inter Light"/>
      <p:regular r:id="rId56"/>
      <p:bold r:id="rId57"/>
      <p:italic r:id="rId58"/>
      <p:boldItalic r:id="rId59"/>
    </p:embeddedFont>
    <p:embeddedFont>
      <p:font typeface="Inter"/>
      <p:regular r:id="rId60"/>
      <p:bold r:id="rId61"/>
      <p:italic r:id="rId62"/>
      <p:boldItalic r:id="rId63"/>
    </p:embeddedFont>
    <p:embeddedFont>
      <p:font typeface="Montserrat"/>
      <p:regular r:id="rId64"/>
      <p:bold r:id="rId65"/>
      <p:italic r:id="rId66"/>
      <p:boldItalic r:id="rId67"/>
    </p:embeddedFont>
    <p:embeddedFont>
      <p:font typeface="Helvetica Neue"/>
      <p:regular r:id="rId68"/>
      <p:bold r:id="rId69"/>
      <p:italic r:id="rId70"/>
      <p:boldItalic r:id="rId71"/>
    </p:embeddedFont>
    <p:embeddedFont>
      <p:font typeface="Helvetica Neue Light"/>
      <p:regular r:id="rId72"/>
      <p:bold r:id="rId73"/>
      <p:italic r:id="rId74"/>
      <p:boldItalic r:id="rId75"/>
    </p:embeddedFont>
    <p:embeddedFont>
      <p:font typeface="Inter Medium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49">
          <p15:clr>
            <a:schemeClr val="accent4"/>
          </p15:clr>
        </p15:guide>
        <p15:guide id="2" pos="2862">
          <p15:clr>
            <a:schemeClr val="accent4"/>
          </p15:clr>
        </p15:guide>
        <p15:guide id="3" orient="horz" pos="823">
          <p15:clr>
            <a:schemeClr val="accent4"/>
          </p15:clr>
        </p15:guide>
        <p15:guide id="4" orient="horz" pos="1090">
          <p15:clr>
            <a:schemeClr val="accent4"/>
          </p15:clr>
        </p15:guide>
        <p15:guide id="5" orient="horz" pos="1369">
          <p15:clr>
            <a:schemeClr val="accent4"/>
          </p15:clr>
        </p15:guide>
        <p15:guide id="6" orient="horz" pos="1630">
          <p15:clr>
            <a:schemeClr val="accent4"/>
          </p15:clr>
        </p15:guide>
        <p15:guide id="7" orient="horz" pos="1899">
          <p15:clr>
            <a:schemeClr val="accent4"/>
          </p15:clr>
        </p15:guide>
        <p15:guide id="8" orient="horz" pos="2171">
          <p15:clr>
            <a:schemeClr val="accent4"/>
          </p15:clr>
        </p15:guide>
        <p15:guide id="9" orient="horz" pos="2444">
          <p15:clr>
            <a:schemeClr val="accent4"/>
          </p15:clr>
        </p15:guide>
        <p15:guide id="10" orient="horz" pos="2711">
          <p15:clr>
            <a:schemeClr val="accent4"/>
          </p15:clr>
        </p15:guide>
        <p15:guide id="11" orient="horz" pos="2975">
          <p15:clr>
            <a:schemeClr val="accent4"/>
          </p15:clr>
        </p15:guide>
        <p15:guide id="12" pos="176">
          <p15:clr>
            <a:schemeClr val="accent4"/>
          </p15:clr>
        </p15:guide>
        <p15:guide id="13" pos="591">
          <p15:clr>
            <a:schemeClr val="accent4"/>
          </p15:clr>
        </p15:guide>
        <p15:guide id="14" pos="638">
          <p15:clr>
            <a:schemeClr val="accent4"/>
          </p15:clr>
        </p15:guide>
        <p15:guide id="15" pos="1047">
          <p15:clr>
            <a:schemeClr val="accent4"/>
          </p15:clr>
        </p15:guide>
        <p15:guide id="16" pos="1100">
          <p15:clr>
            <a:schemeClr val="accent4"/>
          </p15:clr>
        </p15:guide>
        <p15:guide id="17" pos="1500">
          <p15:clr>
            <a:schemeClr val="accent4"/>
          </p15:clr>
        </p15:guide>
        <p15:guide id="18" pos="1548">
          <p15:clr>
            <a:schemeClr val="accent4"/>
          </p15:clr>
        </p15:guide>
        <p15:guide id="19" pos="1953">
          <p15:clr>
            <a:schemeClr val="accent4"/>
          </p15:clr>
        </p15:guide>
        <p15:guide id="20" pos="2003">
          <p15:clr>
            <a:schemeClr val="accent4"/>
          </p15:clr>
        </p15:guide>
        <p15:guide id="21" pos="2408">
          <p15:clr>
            <a:schemeClr val="accent4"/>
          </p15:clr>
        </p15:guide>
        <p15:guide id="22" pos="2459">
          <p15:clr>
            <a:schemeClr val="accent4"/>
          </p15:clr>
        </p15:guide>
        <p15:guide id="23" pos="2914">
          <p15:clr>
            <a:schemeClr val="accent4"/>
          </p15:clr>
        </p15:guide>
        <p15:guide id="24" pos="3315">
          <p15:clr>
            <a:schemeClr val="accent4"/>
          </p15:clr>
        </p15:guide>
        <p15:guide id="25" pos="3368">
          <p15:clr>
            <a:schemeClr val="accent4"/>
          </p15:clr>
        </p15:guide>
        <p15:guide id="26" pos="3772">
          <p15:clr>
            <a:schemeClr val="accent4"/>
          </p15:clr>
        </p15:guide>
        <p15:guide id="27" pos="3821">
          <p15:clr>
            <a:schemeClr val="accent4"/>
          </p15:clr>
        </p15:guide>
        <p15:guide id="28" pos="4225">
          <p15:clr>
            <a:schemeClr val="accent4"/>
          </p15:clr>
        </p15:guide>
        <p15:guide id="29" pos="4275">
          <p15:clr>
            <a:schemeClr val="accent4"/>
          </p15:clr>
        </p15:guide>
        <p15:guide id="30" pos="4678">
          <p15:clr>
            <a:schemeClr val="accent4"/>
          </p15:clr>
        </p15:guide>
        <p15:guide id="31" pos="4728">
          <p15:clr>
            <a:schemeClr val="accent4"/>
          </p15:clr>
        </p15:guide>
        <p15:guide id="32" pos="5131">
          <p15:clr>
            <a:schemeClr val="accent4"/>
          </p15:clr>
        </p15:guide>
        <p15:guide id="33" pos="5181">
          <p15:clr>
            <a:schemeClr val="accent4"/>
          </p15:clr>
        </p15:guide>
        <p15:guide id="34" pos="5584">
          <p15:clr>
            <a:schemeClr val="accent4"/>
          </p15:clr>
        </p15:guide>
        <p15:guide id="35" orient="horz" pos="703">
          <p15:clr>
            <a:srgbClr val="747775"/>
          </p15:clr>
        </p15:guide>
        <p15:guide id="36" orient="horz" pos="504">
          <p15:clr>
            <a:srgbClr val="747775"/>
          </p15:clr>
        </p15:guide>
        <p15:guide id="37" orient="horz" pos="1107">
          <p15:clr>
            <a:srgbClr val="747775"/>
          </p15:clr>
        </p15:guide>
        <p15:guide id="38" orient="horz" pos="2756">
          <p15:clr>
            <a:srgbClr val="747775"/>
          </p15:clr>
        </p15:guide>
        <p15:guide id="39" orient="horz" pos="2400">
          <p15:clr>
            <a:srgbClr val="747775"/>
          </p15:clr>
        </p15:guide>
        <p15:guide id="40" orient="horz" pos="28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3D5205-A638-40E8-9367-87A60A20FF23}">
  <a:tblStyle styleId="{CB3D5205-A638-40E8-9367-87A60A20FF23}" styleName="Table_0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wholeTbl>
    <a:band1H>
      <a:tcTxStyle/>
    </a:band1H>
    <a:band2H>
      <a:tcTxStyle b="off" i="off"/>
      <a:tcStyle>
        <a:fill>
          <a:solidFill>
            <a:srgbClr val="E3E5E8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0076B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3797C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004C7F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9" orient="horz"/>
        <p:guide pos="2862"/>
        <p:guide pos="823" orient="horz"/>
        <p:guide pos="1090" orient="horz"/>
        <p:guide pos="1369" orient="horz"/>
        <p:guide pos="1630" orient="horz"/>
        <p:guide pos="1899" orient="horz"/>
        <p:guide pos="2171" orient="horz"/>
        <p:guide pos="2444" orient="horz"/>
        <p:guide pos="2711" orient="horz"/>
        <p:guide pos="2975" orient="horz"/>
        <p:guide pos="176"/>
        <p:guide pos="591"/>
        <p:guide pos="638"/>
        <p:guide pos="1047"/>
        <p:guide pos="1100"/>
        <p:guide pos="1500"/>
        <p:guide pos="1548"/>
        <p:guide pos="1953"/>
        <p:guide pos="2003"/>
        <p:guide pos="2408"/>
        <p:guide pos="2459"/>
        <p:guide pos="2914"/>
        <p:guide pos="3315"/>
        <p:guide pos="3368"/>
        <p:guide pos="3772"/>
        <p:guide pos="3821"/>
        <p:guide pos="4225"/>
        <p:guide pos="4275"/>
        <p:guide pos="4678"/>
        <p:guide pos="4728"/>
        <p:guide pos="5131"/>
        <p:guide pos="5181"/>
        <p:guide pos="5584"/>
        <p:guide pos="703" orient="horz"/>
        <p:guide pos="504" orient="horz"/>
        <p:guide pos="1107" orient="horz"/>
        <p:guide pos="2756" orient="horz"/>
        <p:guide pos="2400" orient="horz"/>
        <p:guide pos="2881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HelveticaNeueLight-bold.fntdata"/><Relationship Id="rId72" Type="http://schemas.openxmlformats.org/officeDocument/2006/relationships/font" Target="fonts/HelveticaNeueLight-regular.fntdata"/><Relationship Id="rId31" Type="http://schemas.openxmlformats.org/officeDocument/2006/relationships/slide" Target="slides/slide24.xml"/><Relationship Id="rId75" Type="http://schemas.openxmlformats.org/officeDocument/2006/relationships/font" Target="fonts/HelveticaNeueLight-boldItalic.fntdata"/><Relationship Id="rId30" Type="http://schemas.openxmlformats.org/officeDocument/2006/relationships/slide" Target="slides/slide23.xml"/><Relationship Id="rId74" Type="http://schemas.openxmlformats.org/officeDocument/2006/relationships/font" Target="fonts/HelveticaNeueLight-italic.fntdata"/><Relationship Id="rId33" Type="http://schemas.openxmlformats.org/officeDocument/2006/relationships/slide" Target="slides/slide26.xml"/><Relationship Id="rId77" Type="http://schemas.openxmlformats.org/officeDocument/2006/relationships/font" Target="fonts/InterMedium-bold.fntdata"/><Relationship Id="rId32" Type="http://schemas.openxmlformats.org/officeDocument/2006/relationships/slide" Target="slides/slide25.xml"/><Relationship Id="rId76" Type="http://schemas.openxmlformats.org/officeDocument/2006/relationships/font" Target="fonts/InterMedium-regular.fntdata"/><Relationship Id="rId35" Type="http://schemas.openxmlformats.org/officeDocument/2006/relationships/slide" Target="slides/slide28.xml"/><Relationship Id="rId79" Type="http://schemas.openxmlformats.org/officeDocument/2006/relationships/font" Target="fonts/InterMedium-boldItalic.fntdata"/><Relationship Id="rId34" Type="http://schemas.openxmlformats.org/officeDocument/2006/relationships/slide" Target="slides/slide27.xml"/><Relationship Id="rId78" Type="http://schemas.openxmlformats.org/officeDocument/2006/relationships/font" Target="fonts/InterMedium-italic.fntdata"/><Relationship Id="rId71" Type="http://schemas.openxmlformats.org/officeDocument/2006/relationships/font" Target="fonts/HelveticaNeue-boldItalic.fntdata"/><Relationship Id="rId70" Type="http://schemas.openxmlformats.org/officeDocument/2006/relationships/font" Target="fonts/HelveticaNeue-italic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Inter-italic.fntdata"/><Relationship Id="rId61" Type="http://schemas.openxmlformats.org/officeDocument/2006/relationships/font" Target="fonts/Inter-bold.fntdata"/><Relationship Id="rId20" Type="http://schemas.openxmlformats.org/officeDocument/2006/relationships/slide" Target="slides/slide13.xml"/><Relationship Id="rId64" Type="http://schemas.openxmlformats.org/officeDocument/2006/relationships/font" Target="fonts/Montserrat-regular.fntdata"/><Relationship Id="rId63" Type="http://schemas.openxmlformats.org/officeDocument/2006/relationships/font" Target="fonts/Inter-boldItalic.fntdata"/><Relationship Id="rId22" Type="http://schemas.openxmlformats.org/officeDocument/2006/relationships/slide" Target="slides/slide15.xml"/><Relationship Id="rId66" Type="http://schemas.openxmlformats.org/officeDocument/2006/relationships/font" Target="fonts/Montserrat-italic.fntdata"/><Relationship Id="rId21" Type="http://schemas.openxmlformats.org/officeDocument/2006/relationships/slide" Target="slides/slide14.xml"/><Relationship Id="rId65" Type="http://schemas.openxmlformats.org/officeDocument/2006/relationships/font" Target="fonts/Montserrat-bold.fntdata"/><Relationship Id="rId24" Type="http://schemas.openxmlformats.org/officeDocument/2006/relationships/slide" Target="slides/slide17.xml"/><Relationship Id="rId68" Type="http://schemas.openxmlformats.org/officeDocument/2006/relationships/font" Target="fonts/HelveticaNeue-regular.fntdata"/><Relationship Id="rId23" Type="http://schemas.openxmlformats.org/officeDocument/2006/relationships/slide" Target="slides/slide16.xml"/><Relationship Id="rId67" Type="http://schemas.openxmlformats.org/officeDocument/2006/relationships/font" Target="fonts/Montserrat-boldItalic.fntdata"/><Relationship Id="rId60" Type="http://schemas.openxmlformats.org/officeDocument/2006/relationships/font" Target="fonts/Inter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HelveticaNeue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font" Target="fonts/InterLight-bold.fntdata"/><Relationship Id="rId12" Type="http://schemas.openxmlformats.org/officeDocument/2006/relationships/slide" Target="slides/slide5.xml"/><Relationship Id="rId56" Type="http://schemas.openxmlformats.org/officeDocument/2006/relationships/font" Target="fonts/InterLight-regular.fntdata"/><Relationship Id="rId15" Type="http://schemas.openxmlformats.org/officeDocument/2006/relationships/slide" Target="slides/slide8.xml"/><Relationship Id="rId59" Type="http://schemas.openxmlformats.org/officeDocument/2006/relationships/font" Target="fonts/InterLight-boldItalic.fntdata"/><Relationship Id="rId14" Type="http://schemas.openxmlformats.org/officeDocument/2006/relationships/slide" Target="slides/slide7.xml"/><Relationship Id="rId58" Type="http://schemas.openxmlformats.org/officeDocument/2006/relationships/font" Target="fonts/InterLight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131f2e4dd4_0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131f2e4dd4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dcc20dbdc_1_0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9dcc20dbdc_1_0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2795b09460_0_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2795b09460_0_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2795b09460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2795b0946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1327abf761_0_6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1327abf761_0_6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1327abf76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31327abf76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1327abf761_0_2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1327abf761_0_2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a945f18afb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g3a945f18afb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68d6da65f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68d6da65f5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68d6da65f5_0_1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68d6da65f5_0_1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68c645f2f2_0_0:notes"/>
          <p:cNvSpPr txBox="1"/>
          <p:nvPr>
            <p:ph idx="1" type="body"/>
          </p:nvPr>
        </p:nvSpPr>
        <p:spPr>
          <a:xfrm>
            <a:off x="685787" y="4343386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g368c645f2f2_0_0:notes"/>
          <p:cNvSpPr/>
          <p:nvPr>
            <p:ph idx="2" type="sldImg"/>
          </p:nvPr>
        </p:nvSpPr>
        <p:spPr>
          <a:xfrm>
            <a:off x="1143221" y="685795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145a9b984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g3145a9b984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9b71dcf356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0" name="Google Shape;950;g39b71dcf35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68d6da65f5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68d6da65f5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36c32bf8128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g36c32bf812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>
  <p:cSld name="Заголовок и пункты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nt">
  <p:cSld name="mint">
    <p:bg>
      <p:bgPr>
        <a:solidFill>
          <a:srgbClr val="CC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горизонтально">
  <p:cSld name="Фото — горизонтально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/>
          <p:nvPr>
            <p:ph idx="2" type="pic"/>
          </p:nvPr>
        </p:nvSpPr>
        <p:spPr>
          <a:xfrm>
            <a:off x="1172238" y="-147637"/>
            <a:ext cx="6801000" cy="45339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6"/>
          <p:cNvSpPr txBox="1"/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" type="body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по центру">
  <p:cSld name="Заголовок — по центру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вертикально">
  <p:cSld name="Фото — вертикально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>
            <p:ph idx="2" type="pic"/>
          </p:nvPr>
        </p:nvSpPr>
        <p:spPr>
          <a:xfrm>
            <a:off x="4810125" y="357188"/>
            <a:ext cx="43005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8"/>
          <p:cNvSpPr txBox="1"/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сверху">
  <p:cSld name="Заголовок — сверху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пункты и фото">
  <p:cSld name="Заголовок, пункты и фото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/>
          <p:nvPr>
            <p:ph idx="2" type="pic"/>
          </p:nvPr>
        </p:nvSpPr>
        <p:spPr>
          <a:xfrm>
            <a:off x="4110038" y="1181100"/>
            <a:ext cx="5229300" cy="34863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633413" y="1181100"/>
            <a:ext cx="38337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36550" lvl="0" marL="457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700"/>
              <a:buFont typeface="Helvetica Neue"/>
              <a:buChar char="•"/>
              <a:defRPr sz="1400"/>
            </a:lvl1pPr>
            <a:lvl2pPr indent="-342900" lvl="1" marL="914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2pPr>
            <a:lvl3pPr indent="-34290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3pPr>
            <a:lvl4pPr indent="-34290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4pPr>
            <a:lvl5pPr indent="-342900" lvl="4" marL="22860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Helvetica Neue"/>
              <a:buChar char="•"/>
              <a:defRPr sz="1800"/>
            </a:lvl1pPr>
            <a:lvl2pPr indent="-37465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2pPr>
            <a:lvl3pPr indent="-37465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3pPr>
            <a:lvl4pPr indent="-37465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4pPr>
            <a:lvl5pPr indent="-37465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(3 шт.)">
  <p:cSld name="Фото (3 шт.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/>
          <p:nvPr>
            <p:ph idx="2" type="pic"/>
          </p:nvPr>
        </p:nvSpPr>
        <p:spPr>
          <a:xfrm>
            <a:off x="5737622" y="2643188"/>
            <a:ext cx="31218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2"/>
          <p:cNvSpPr/>
          <p:nvPr>
            <p:ph idx="3" type="pic"/>
          </p:nvPr>
        </p:nvSpPr>
        <p:spPr>
          <a:xfrm>
            <a:off x="5910263" y="323850"/>
            <a:ext cx="2776500" cy="2776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2"/>
          <p:cNvSpPr/>
          <p:nvPr>
            <p:ph idx="4" type="pic"/>
          </p:nvPr>
        </p:nvSpPr>
        <p:spPr>
          <a:xfrm>
            <a:off x="-371475" y="423863"/>
            <a:ext cx="64509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">
  <p:cSld name="Фото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/>
          <p:nvPr>
            <p:ph idx="2" type="pic"/>
          </p:nvPr>
        </p:nvSpPr>
        <p:spPr>
          <a:xfrm>
            <a:off x="-19050" y="-476250"/>
            <a:ext cx="9182100" cy="61215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">
  <p:cSld name="gray">
    <p:bg>
      <p:bgPr>
        <a:solidFill>
          <a:srgbClr val="F2F2F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idx="12" type="sldNum"/>
          </p:nvPr>
        </p:nvSpPr>
        <p:spPr>
          <a:xfrm>
            <a:off x="8572170" y="413907"/>
            <a:ext cx="1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1" name="Google Shape;51;p14"/>
          <p:cNvSpPr txBox="1"/>
          <p:nvPr>
            <p:ph type="title"/>
          </p:nvPr>
        </p:nvSpPr>
        <p:spPr>
          <a:xfrm>
            <a:off x="1168003" y="409145"/>
            <a:ext cx="57087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">
    <p:bg>
      <p:bgPr>
        <a:solidFill>
          <a:srgbClr val="D6FEFE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/>
        </p:nvSpPr>
        <p:spPr>
          <a:xfrm>
            <a:off x="4594813" y="4230344"/>
            <a:ext cx="3546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202</a:t>
            </a:r>
            <a:r>
              <a:rPr lang="en-US" sz="13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15"/>
          <p:cNvSpPr/>
          <p:nvPr/>
        </p:nvSpPr>
        <p:spPr>
          <a:xfrm>
            <a:off x="276495" y="435512"/>
            <a:ext cx="447900" cy="139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Slide2">
  <p:cSld name="MasterSlide2">
    <p:bg>
      <p:bgPr>
        <a:solidFill>
          <a:srgbClr val="D6FEFE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/>
          <p:nvPr/>
        </p:nvSpPr>
        <p:spPr>
          <a:xfrm>
            <a:off x="0" y="3214755"/>
            <a:ext cx="9144090" cy="1928880"/>
          </a:xfrm>
          <a:custGeom>
            <a:rect b="b" l="l" r="r" t="t"/>
            <a:pathLst>
              <a:path extrusionOk="0" h="14288" w="67734">
                <a:moveTo>
                  <a:pt x="0" y="9561"/>
                </a:moveTo>
                <a:lnTo>
                  <a:pt x="67734" y="0"/>
                </a:lnTo>
                <a:lnTo>
                  <a:pt x="67734" y="14288"/>
                </a:lnTo>
                <a:lnTo>
                  <a:pt x="0" y="14288"/>
                </a:lnTo>
                <a:lnTo>
                  <a:pt x="0" y="9561"/>
                </a:lnTo>
                <a:close/>
              </a:path>
            </a:pathLst>
          </a:custGeom>
          <a:gradFill>
            <a:gsLst>
              <a:gs pos="0">
                <a:srgbClr val="D6FEFE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16875" lIns="33750" spcFirstLastPara="1" rIns="33750" wrap="square" tIns="16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457110" y="1203525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indent="-228600" lvl="1" marL="9144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indent="-228600" lvl="2" marL="13716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indent="-228600" lvl="3" marL="18288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indent="-228600" lvl="4" marL="22860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indent="-228600" lvl="5" marL="27432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indent="-228600" lvl="6" marL="32004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indent="-228600" lvl="7" marL="36576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indent="-228600" lvl="8" marL="41148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2">
  <p:cSld name="TITLE_AND_BODY_3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Slide1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/>
        </p:nvSpPr>
        <p:spPr>
          <a:xfrm>
            <a:off x="821531" y="1982391"/>
            <a:ext cx="5143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8778999" y="233363"/>
            <a:ext cx="9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</a:t>
            </a:r>
            <a:endParaRPr/>
          </a:p>
        </p:txBody>
      </p:sp>
      <p:sp>
        <p:nvSpPr>
          <p:cNvPr id="69" name="Google Shape;69;p20"/>
          <p:cNvSpPr/>
          <p:nvPr/>
        </p:nvSpPr>
        <p:spPr>
          <a:xfrm>
            <a:off x="266700" y="413750"/>
            <a:ext cx="86106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">
    <p:bg>
      <p:bgPr>
        <a:solidFill>
          <a:srgbClr val="D6FEFE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/>
        </p:nvSpPr>
        <p:spPr>
          <a:xfrm>
            <a:off x="4594813" y="4230344"/>
            <a:ext cx="3546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2024</a:t>
            </a:r>
            <a:endParaRPr sz="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21"/>
          <p:cNvSpPr/>
          <p:nvPr/>
        </p:nvSpPr>
        <p:spPr>
          <a:xfrm>
            <a:off x="276495" y="435512"/>
            <a:ext cx="447900" cy="139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 showMasterSp="0">
  <p:cSld name="26_Пустой слайд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22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75" name="Google Shape;75;p22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2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" showMasterSp="0">
  <p:cSld name="TITLE_AND_BOD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23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79" name="Google Shape;79;p23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" name="Google Shape;80;p23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" name="Google Shape;81;p23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2" name="Google Shape;82;p23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3" name="Google Shape;83;p23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4" name="Google Shape;84;p23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" name="Google Shape;85;p23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23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" name="Google Shape;87;p23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" name="Google Shape;88;p23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23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" name="Google Shape;90;p23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1" name="Google Shape;91;p23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23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3" name="Google Shape;93;p23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95" name="Google Shape;95;p23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96" name="Google Shape;96;p23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3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1" showMasterSp="0">
  <p:cSld name="TITLE_AND_BODY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24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01" name="Google Shape;101;p24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2" name="Google Shape;102;p24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3" name="Google Shape;103;p24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" name="Google Shape;104;p24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5" name="Google Shape;105;p24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7" name="Google Shape;107;p24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8" name="Google Shape;108;p24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9" name="Google Shape;109;p24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0" name="Google Shape;110;p24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1" name="Google Shape;111;p24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24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3" name="Google Shape;113;p24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4" name="Google Shape;114;p24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5" name="Google Shape;115;p24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17" name="Google Shape;117;p24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18" name="Google Shape;118;p24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4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2" showMasterSp="0">
  <p:cSld name="TITLE_AND_BODY_3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25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23" name="Google Shape;123;p25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4" name="Google Shape;124;p25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5" name="Google Shape;125;p25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" name="Google Shape;126;p25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7" name="Google Shape;127;p25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8" name="Google Shape;128;p25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9" name="Google Shape;129;p25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0" name="Google Shape;130;p25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1" name="Google Shape;131;p25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2" name="Google Shape;132;p25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3" name="Google Shape;133;p25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4" name="Google Shape;134;p25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5" name="Google Shape;135;p25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6" name="Google Shape;136;p25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7" name="Google Shape;137;p25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39" name="Google Shape;139;p25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40" name="Google Shape;140;p25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5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3" showMasterSp="0">
  <p:cSld name="TITLE_AND_BODY_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6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45" name="Google Shape;145;p26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6" name="Google Shape;146;p26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7" name="Google Shape;147;p26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8" name="Google Shape;148;p26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9" name="Google Shape;149;p26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0" name="Google Shape;150;p26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1" name="Google Shape;151;p26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2" name="Google Shape;152;p26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3" name="Google Shape;153;p26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6" name="Google Shape;156;p26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9" name="Google Shape;159;p26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61" name="Google Shape;161;p26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62" name="Google Shape;162;p26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6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Пустой слайд" showMasterSp="0">
  <p:cSld name="27_Пустой слайд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/>
          <p:nvPr/>
        </p:nvSpPr>
        <p:spPr>
          <a:xfrm>
            <a:off x="0" y="4235999"/>
            <a:ext cx="9144000" cy="9075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ontserrat"/>
              <a:buNone/>
              <a:defRPr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grpSp>
        <p:nvGrpSpPr>
          <p:cNvPr id="168" name="Google Shape;168;p27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69" name="Google Shape;169;p27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0" name="Google Shape;170;p27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1" name="Google Shape;171;p27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2" name="Google Shape;172;p27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4" name="Google Shape;174;p27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5" name="Google Shape;175;p27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6" name="Google Shape;176;p27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8" name="Google Shape;178;p27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0" name="Google Shape;180;p27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1" name="Google Shape;181;p27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2" name="Google Shape;182;p27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1203493" y="1279777"/>
            <a:ext cx="3837000" cy="22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84" name="Google Shape;184;p27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85" name="Google Shape;185;p27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7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Пустой слайд" showMasterSp="0">
  <p:cSld name="11_Пустой слайд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8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90" name="Google Shape;190;p28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3" name="Google Shape;193;p28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4" name="Google Shape;194;p28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6" name="Google Shape;196;p28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7" name="Google Shape;197;p28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8" name="Google Shape;198;p28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9" name="Google Shape;199;p28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0" name="Google Shape;200;p28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1" name="Google Shape;201;p28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2" name="Google Shape;202;p28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3" name="Google Shape;203;p28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04" name="Google Shape;204;p28"/>
          <p:cNvSpPr/>
          <p:nvPr>
            <p:ph idx="2" type="pic"/>
          </p:nvPr>
        </p:nvSpPr>
        <p:spPr>
          <a:xfrm>
            <a:off x="521493" y="1730261"/>
            <a:ext cx="833400" cy="8346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28"/>
          <p:cNvSpPr/>
          <p:nvPr>
            <p:ph idx="3" type="pic"/>
          </p:nvPr>
        </p:nvSpPr>
        <p:spPr>
          <a:xfrm>
            <a:off x="521493" y="3685580"/>
            <a:ext cx="833400" cy="834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1578485" y="1730261"/>
            <a:ext cx="39975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857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4" type="body"/>
          </p:nvPr>
        </p:nvSpPr>
        <p:spPr>
          <a:xfrm>
            <a:off x="1578484" y="3685580"/>
            <a:ext cx="65214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28"/>
          <p:cNvSpPr txBox="1"/>
          <p:nvPr>
            <p:ph type="title"/>
          </p:nvPr>
        </p:nvSpPr>
        <p:spPr>
          <a:xfrm>
            <a:off x="2536473" y="413872"/>
            <a:ext cx="4071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ontserrat"/>
              <a:buNone/>
              <a:defRPr b="1" sz="18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9" name="Google Shape;209;p28"/>
          <p:cNvSpPr txBox="1"/>
          <p:nvPr>
            <p:ph idx="5" type="body"/>
          </p:nvPr>
        </p:nvSpPr>
        <p:spPr>
          <a:xfrm>
            <a:off x="442014" y="3179211"/>
            <a:ext cx="4130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28"/>
          <p:cNvSpPr txBox="1"/>
          <p:nvPr>
            <p:ph idx="6" type="body"/>
          </p:nvPr>
        </p:nvSpPr>
        <p:spPr>
          <a:xfrm>
            <a:off x="442014" y="1229435"/>
            <a:ext cx="4130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11" name="Google Shape;211;p28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12" name="Google Shape;212;p28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28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5" name="Google Shape;215;p28"/>
          <p:cNvSpPr txBox="1"/>
          <p:nvPr>
            <p:ph idx="7" type="body"/>
          </p:nvPr>
        </p:nvSpPr>
        <p:spPr>
          <a:xfrm>
            <a:off x="6618648" y="1650488"/>
            <a:ext cx="1420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4" showMasterSp="0">
  <p:cSld name="TITLE_AND_BODY_5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29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218" name="Google Shape;218;p29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1" name="Google Shape;221;p29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2" name="Google Shape;222;p29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3" name="Google Shape;223;p29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4" name="Google Shape;224;p29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5" name="Google Shape;225;p29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6" name="Google Shape;226;p29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7" name="Google Shape;227;p29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8" name="Google Shape;228;p29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9" name="Google Shape;229;p29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0" name="Google Shape;230;p29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1" name="Google Shape;231;p29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32" name="Google Shape;232;p29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34" name="Google Shape;234;p29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35" name="Google Shape;235;p29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9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29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5" showMasterSp="0">
  <p:cSld name="TITLE_AND_BODY_6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30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240" name="Google Shape;240;p30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1" name="Google Shape;241;p30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2" name="Google Shape;242;p30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3" name="Google Shape;243;p30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4" name="Google Shape;244;p30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5" name="Google Shape;245;p30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6" name="Google Shape;246;p30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7" name="Google Shape;247;p30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1" name="Google Shape;251;p30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2" name="Google Shape;252;p30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3" name="Google Shape;253;p30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54" name="Google Shape;254;p30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5" name="Google Shape;255;p30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56" name="Google Shape;256;p30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57" name="Google Shape;257;p30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0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30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33413" y="118110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7465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3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Inter Medium"/>
              <a:buNone/>
              <a:defRPr i="0" sz="29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633413" y="118110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49250" lvl="0" marL="4572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  <a:defRPr i="0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1150" lvl="1" marL="9144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Char char="•"/>
              <a:defRPr i="0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•"/>
              <a:defRPr i="0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81000" lvl="3" marL="18288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81000" lvl="4" marL="22860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81000" lvl="5" marL="27432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81000" lvl="6" marL="32004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81000" lvl="7" marL="36576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81000" lvl="8" marL="41148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uplab.ru/works/korporatsiya-sts/" TargetMode="External"/><Relationship Id="rId22" Type="http://schemas.openxmlformats.org/officeDocument/2006/relationships/hyperlink" Target="https://www.uplab.ru/works/rusal-sayanskaya-folga/?ysclid=mhakd78b9p360679886" TargetMode="External"/><Relationship Id="rId21" Type="http://schemas.openxmlformats.org/officeDocument/2006/relationships/hyperlink" Target="https://www.uplab.ru/works/reef_residence/?ysclid=mhak6k72n5130032703" TargetMode="External"/><Relationship Id="rId24" Type="http://schemas.openxmlformats.org/officeDocument/2006/relationships/hyperlink" Target="https://www.uplab.ru/works/airports_of_regions/?ysclid=mhak4ejv8d837982559" TargetMode="External"/><Relationship Id="rId23" Type="http://schemas.openxmlformats.org/officeDocument/2006/relationships/hyperlink" Target="https://www.uplab.ru/works/mospolitekh/?ysclid=mhakg37tgn884458850" TargetMode="External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hyperlink" Target="https://www.uplab.ru/works/kept/?ysclid=mhak7luou1798739427" TargetMode="External"/><Relationship Id="rId26" Type="http://schemas.openxmlformats.org/officeDocument/2006/relationships/hyperlink" Target="https://www.uplab.ru/works/peterburgteploenergo/?ysclid=mhak3ah73z163949414" TargetMode="External"/><Relationship Id="rId25" Type="http://schemas.openxmlformats.org/officeDocument/2006/relationships/hyperlink" Target="https://www.uplab.ru/works/bogoslov/?ysclid=mhajynqcad989884509" TargetMode="External"/><Relationship Id="rId28" Type="http://schemas.openxmlformats.org/officeDocument/2006/relationships/hyperlink" Target="https://www.uplab.ru/works/gis-energoeffektivnost/?ysclid=mhajy14ax0134514203" TargetMode="External"/><Relationship Id="rId27" Type="http://schemas.openxmlformats.org/officeDocument/2006/relationships/hyperlink" Target="https://www.uplab.ru/works/aeroport-yuzhno-sakhalinsk/" TargetMode="External"/><Relationship Id="rId5" Type="http://schemas.openxmlformats.org/officeDocument/2006/relationships/hyperlink" Target="https://www.uplab.ru/works/air-marakanda/?ysclid=mhak3vtimq40286527" TargetMode="External"/><Relationship Id="rId6" Type="http://schemas.openxmlformats.org/officeDocument/2006/relationships/hyperlink" Target="https://www.uplab.ru/works/alyuminievaya-assotsiatsiya/?ysclid=mhajx8su5w131013791" TargetMode="External"/><Relationship Id="rId29" Type="http://schemas.openxmlformats.org/officeDocument/2006/relationships/hyperlink" Target="https://www.uplab.ru/works/pgk/?ysclid=mhak2pi2nh200033474" TargetMode="External"/><Relationship Id="rId7" Type="http://schemas.openxmlformats.org/officeDocument/2006/relationships/hyperlink" Target="https://www.uplab.ru/works/severstal-stalnye-resheniya/?ysclid=mhajzmh5x0114280206" TargetMode="External"/><Relationship Id="rId8" Type="http://schemas.openxmlformats.org/officeDocument/2006/relationships/hyperlink" Target="https://www.uplab.ru/works/mtt/?ysclid=mhajs2qwyn546259593" TargetMode="External"/><Relationship Id="rId11" Type="http://schemas.openxmlformats.org/officeDocument/2006/relationships/hyperlink" Target="https://www.uplab.ru/works/cherkizovo/?ysclid=mhajvwbx2010348590" TargetMode="External"/><Relationship Id="rId10" Type="http://schemas.openxmlformats.org/officeDocument/2006/relationships/hyperlink" Target="https://www.uplab.ru/works/sibur-rd/?ysclid=mhajvbzmf8464170397" TargetMode="External"/><Relationship Id="rId13" Type="http://schemas.openxmlformats.org/officeDocument/2006/relationships/hyperlink" Target="https://www.uplab.ru/works/atol/?ysclid=mhakffmz5838819755" TargetMode="External"/><Relationship Id="rId12" Type="http://schemas.openxmlformats.org/officeDocument/2006/relationships/hyperlink" Target="https://www.uplab.ru/works/stalnoe-derevo/?ysclid=mhakdopbfh465014879" TargetMode="External"/><Relationship Id="rId15" Type="http://schemas.openxmlformats.org/officeDocument/2006/relationships/hyperlink" Target="https://www.uplab.ru/works/ntk/" TargetMode="External"/><Relationship Id="rId14" Type="http://schemas.openxmlformats.org/officeDocument/2006/relationships/hyperlink" Target="https://www.uplab.ru/works/rostselmash/?ysclid=mhak0x1osw674922889" TargetMode="External"/><Relationship Id="rId17" Type="http://schemas.openxmlformats.org/officeDocument/2006/relationships/hyperlink" Target="https://www.uplab.ru/works/korporatsiya-sts/" TargetMode="External"/><Relationship Id="rId16" Type="http://schemas.openxmlformats.org/officeDocument/2006/relationships/hyperlink" Target="https://www.uplab.ru/works/metalloinvest/?ysclid=mhakgi3q35363647276" TargetMode="External"/><Relationship Id="rId19" Type="http://schemas.openxmlformats.org/officeDocument/2006/relationships/hyperlink" Target="https://www.uplab.ru/works/severstal-vmeste/?ysclid=mhak05wpy6336347047" TargetMode="External"/><Relationship Id="rId18" Type="http://schemas.openxmlformats.org/officeDocument/2006/relationships/hyperlink" Target="https://www.uplab.ru/works/melling-voitishkin-partners/?ysclid=mhak7176nw871662928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27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24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110.png"/><Relationship Id="rId7" Type="http://schemas.openxmlformats.org/officeDocument/2006/relationships/image" Target="../media/image26.jpg"/><Relationship Id="rId8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9.png"/><Relationship Id="rId8" Type="http://schemas.openxmlformats.org/officeDocument/2006/relationships/hyperlink" Target="https://deadsign.ru/ui/everything-you-need-to-know-about-atomic-design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Relationship Id="rId6" Type="http://schemas.openxmlformats.org/officeDocument/2006/relationships/image" Target="../media/image3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Relationship Id="rId6" Type="http://schemas.openxmlformats.org/officeDocument/2006/relationships/image" Target="../media/image38.png"/><Relationship Id="rId7" Type="http://schemas.openxmlformats.org/officeDocument/2006/relationships/hyperlink" Target="https://www.uplab.ru/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Relationship Id="rId4" Type="http://schemas.openxmlformats.org/officeDocument/2006/relationships/hyperlink" Target="https://www.uplab.ru/blog/how-to-make-a-website/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6.png"/><Relationship Id="rId4" Type="http://schemas.openxmlformats.org/officeDocument/2006/relationships/image" Target="../media/image49.png"/><Relationship Id="rId9" Type="http://schemas.openxmlformats.org/officeDocument/2006/relationships/image" Target="../media/image50.png"/><Relationship Id="rId5" Type="http://schemas.openxmlformats.org/officeDocument/2006/relationships/image" Target="../media/image55.png"/><Relationship Id="rId6" Type="http://schemas.openxmlformats.org/officeDocument/2006/relationships/image" Target="../media/image47.png"/><Relationship Id="rId7" Type="http://schemas.openxmlformats.org/officeDocument/2006/relationships/image" Target="../media/image57.png"/><Relationship Id="rId8" Type="http://schemas.openxmlformats.org/officeDocument/2006/relationships/image" Target="../media/image54.png"/><Relationship Id="rId10" Type="http://schemas.openxmlformats.org/officeDocument/2006/relationships/image" Target="../media/image5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1.png"/><Relationship Id="rId5" Type="http://schemas.openxmlformats.org/officeDocument/2006/relationships/image" Target="../media/image64.png"/><Relationship Id="rId6" Type="http://schemas.openxmlformats.org/officeDocument/2006/relationships/image" Target="../media/image63.png"/><Relationship Id="rId7" Type="http://schemas.openxmlformats.org/officeDocument/2006/relationships/image" Target="../media/image56.png"/><Relationship Id="rId8" Type="http://schemas.openxmlformats.org/officeDocument/2006/relationships/image" Target="../media/image60.png"/><Relationship Id="rId11" Type="http://schemas.openxmlformats.org/officeDocument/2006/relationships/image" Target="../media/image69.png"/><Relationship Id="rId10" Type="http://schemas.openxmlformats.org/officeDocument/2006/relationships/image" Target="../media/image61.png"/></Relationships>
</file>

<file path=ppt/slides/_rels/slide43.xml.rels><?xml version="1.0" encoding="UTF-8" standalone="yes"?><Relationships xmlns="http://schemas.openxmlformats.org/package/2006/relationships"><Relationship Id="rId20" Type="http://schemas.openxmlformats.org/officeDocument/2006/relationships/image" Target="../media/image74.png"/><Relationship Id="rId22" Type="http://schemas.openxmlformats.org/officeDocument/2006/relationships/image" Target="../media/image77.png"/><Relationship Id="rId21" Type="http://schemas.openxmlformats.org/officeDocument/2006/relationships/image" Target="../media/image87.png"/><Relationship Id="rId24" Type="http://schemas.openxmlformats.org/officeDocument/2006/relationships/image" Target="../media/image88.png"/><Relationship Id="rId23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0.png"/><Relationship Id="rId26" Type="http://schemas.openxmlformats.org/officeDocument/2006/relationships/image" Target="../media/image84.png"/><Relationship Id="rId25" Type="http://schemas.openxmlformats.org/officeDocument/2006/relationships/image" Target="../media/image104.png"/><Relationship Id="rId28" Type="http://schemas.openxmlformats.org/officeDocument/2006/relationships/image" Target="../media/image91.png"/><Relationship Id="rId27" Type="http://schemas.openxmlformats.org/officeDocument/2006/relationships/image" Target="../media/image86.png"/><Relationship Id="rId5" Type="http://schemas.openxmlformats.org/officeDocument/2006/relationships/image" Target="../media/image68.png"/><Relationship Id="rId6" Type="http://schemas.openxmlformats.org/officeDocument/2006/relationships/image" Target="../media/image62.png"/><Relationship Id="rId29" Type="http://schemas.openxmlformats.org/officeDocument/2006/relationships/image" Target="../media/image81.png"/><Relationship Id="rId7" Type="http://schemas.openxmlformats.org/officeDocument/2006/relationships/image" Target="../media/image78.png"/><Relationship Id="rId8" Type="http://schemas.openxmlformats.org/officeDocument/2006/relationships/image" Target="../media/image65.png"/><Relationship Id="rId31" Type="http://schemas.openxmlformats.org/officeDocument/2006/relationships/image" Target="../media/image85.png"/><Relationship Id="rId30" Type="http://schemas.openxmlformats.org/officeDocument/2006/relationships/image" Target="../media/image99.png"/><Relationship Id="rId11" Type="http://schemas.openxmlformats.org/officeDocument/2006/relationships/image" Target="../media/image58.png"/><Relationship Id="rId33" Type="http://schemas.openxmlformats.org/officeDocument/2006/relationships/image" Target="../media/image90.png"/><Relationship Id="rId10" Type="http://schemas.openxmlformats.org/officeDocument/2006/relationships/image" Target="../media/image71.png"/><Relationship Id="rId32" Type="http://schemas.openxmlformats.org/officeDocument/2006/relationships/image" Target="../media/image96.png"/><Relationship Id="rId13" Type="http://schemas.openxmlformats.org/officeDocument/2006/relationships/image" Target="../media/image79.png"/><Relationship Id="rId35" Type="http://schemas.openxmlformats.org/officeDocument/2006/relationships/image" Target="../media/image94.png"/><Relationship Id="rId12" Type="http://schemas.openxmlformats.org/officeDocument/2006/relationships/image" Target="../media/image75.png"/><Relationship Id="rId34" Type="http://schemas.openxmlformats.org/officeDocument/2006/relationships/image" Target="../media/image92.png"/><Relationship Id="rId15" Type="http://schemas.openxmlformats.org/officeDocument/2006/relationships/image" Target="../media/image72.png"/><Relationship Id="rId37" Type="http://schemas.openxmlformats.org/officeDocument/2006/relationships/image" Target="../media/image101.png"/><Relationship Id="rId14" Type="http://schemas.openxmlformats.org/officeDocument/2006/relationships/image" Target="../media/image73.png"/><Relationship Id="rId36" Type="http://schemas.openxmlformats.org/officeDocument/2006/relationships/image" Target="../media/image103.png"/><Relationship Id="rId17" Type="http://schemas.openxmlformats.org/officeDocument/2006/relationships/image" Target="../media/image80.png"/><Relationship Id="rId16" Type="http://schemas.openxmlformats.org/officeDocument/2006/relationships/image" Target="../media/image83.png"/><Relationship Id="rId38" Type="http://schemas.openxmlformats.org/officeDocument/2006/relationships/image" Target="../media/image98.png"/><Relationship Id="rId19" Type="http://schemas.openxmlformats.org/officeDocument/2006/relationships/image" Target="../media/image82.png"/><Relationship Id="rId18" Type="http://schemas.openxmlformats.org/officeDocument/2006/relationships/image" Target="../media/image89.png"/></Relationships>
</file>

<file path=ppt/slides/_rels/slide4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9.png"/><Relationship Id="rId22" Type="http://schemas.openxmlformats.org/officeDocument/2006/relationships/image" Target="../media/image165.jpg"/><Relationship Id="rId21" Type="http://schemas.openxmlformats.org/officeDocument/2006/relationships/image" Target="../media/image137.png"/><Relationship Id="rId24" Type="http://schemas.openxmlformats.org/officeDocument/2006/relationships/image" Target="../media/image138.png"/><Relationship Id="rId23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1.png"/><Relationship Id="rId4" Type="http://schemas.openxmlformats.org/officeDocument/2006/relationships/image" Target="../media/image106.png"/><Relationship Id="rId9" Type="http://schemas.openxmlformats.org/officeDocument/2006/relationships/image" Target="../media/image105.png"/><Relationship Id="rId26" Type="http://schemas.openxmlformats.org/officeDocument/2006/relationships/image" Target="../media/image131.png"/><Relationship Id="rId25" Type="http://schemas.openxmlformats.org/officeDocument/2006/relationships/image" Target="../media/image140.png"/><Relationship Id="rId28" Type="http://schemas.openxmlformats.org/officeDocument/2006/relationships/image" Target="../media/image53.png"/><Relationship Id="rId27" Type="http://schemas.openxmlformats.org/officeDocument/2006/relationships/image" Target="../media/image59.png"/><Relationship Id="rId5" Type="http://schemas.openxmlformats.org/officeDocument/2006/relationships/image" Target="../media/image97.png"/><Relationship Id="rId6" Type="http://schemas.openxmlformats.org/officeDocument/2006/relationships/image" Target="../media/image134.png"/><Relationship Id="rId29" Type="http://schemas.openxmlformats.org/officeDocument/2006/relationships/image" Target="../media/image60.png"/><Relationship Id="rId7" Type="http://schemas.openxmlformats.org/officeDocument/2006/relationships/image" Target="../media/image102.png"/><Relationship Id="rId8" Type="http://schemas.openxmlformats.org/officeDocument/2006/relationships/image" Target="../media/image136.png"/><Relationship Id="rId30" Type="http://schemas.openxmlformats.org/officeDocument/2006/relationships/image" Target="../media/image69.png"/><Relationship Id="rId11" Type="http://schemas.openxmlformats.org/officeDocument/2006/relationships/image" Target="../media/image100.png"/><Relationship Id="rId10" Type="http://schemas.openxmlformats.org/officeDocument/2006/relationships/image" Target="../media/image65.png"/><Relationship Id="rId13" Type="http://schemas.openxmlformats.org/officeDocument/2006/relationships/image" Target="../media/image81.png"/><Relationship Id="rId12" Type="http://schemas.openxmlformats.org/officeDocument/2006/relationships/image" Target="../media/image108.png"/><Relationship Id="rId15" Type="http://schemas.openxmlformats.org/officeDocument/2006/relationships/image" Target="../media/image124.png"/><Relationship Id="rId14" Type="http://schemas.openxmlformats.org/officeDocument/2006/relationships/image" Target="../media/image113.png"/><Relationship Id="rId17" Type="http://schemas.openxmlformats.org/officeDocument/2006/relationships/image" Target="../media/image111.png"/><Relationship Id="rId16" Type="http://schemas.openxmlformats.org/officeDocument/2006/relationships/image" Target="../media/image161.png"/><Relationship Id="rId19" Type="http://schemas.openxmlformats.org/officeDocument/2006/relationships/image" Target="../media/image163.png"/><Relationship Id="rId18" Type="http://schemas.openxmlformats.org/officeDocument/2006/relationships/image" Target="../media/image117.png"/></Relationships>
</file>

<file path=ppt/slides/_rels/slide45.xml.rels><?xml version="1.0" encoding="UTF-8" standalone="yes"?><Relationships xmlns="http://schemas.openxmlformats.org/package/2006/relationships"><Relationship Id="rId40" Type="http://schemas.openxmlformats.org/officeDocument/2006/relationships/image" Target="../media/image92.png"/><Relationship Id="rId20" Type="http://schemas.openxmlformats.org/officeDocument/2006/relationships/image" Target="../media/image58.png"/><Relationship Id="rId42" Type="http://schemas.openxmlformats.org/officeDocument/2006/relationships/image" Target="../media/image103.png"/><Relationship Id="rId41" Type="http://schemas.openxmlformats.org/officeDocument/2006/relationships/image" Target="../media/image94.png"/><Relationship Id="rId22" Type="http://schemas.openxmlformats.org/officeDocument/2006/relationships/image" Target="../media/image73.png"/><Relationship Id="rId44" Type="http://schemas.openxmlformats.org/officeDocument/2006/relationships/image" Target="../media/image169.png"/><Relationship Id="rId21" Type="http://schemas.openxmlformats.org/officeDocument/2006/relationships/image" Target="../media/image75.png"/><Relationship Id="rId43" Type="http://schemas.openxmlformats.org/officeDocument/2006/relationships/image" Target="../media/image101.png"/><Relationship Id="rId24" Type="http://schemas.openxmlformats.org/officeDocument/2006/relationships/image" Target="../media/image83.png"/><Relationship Id="rId23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8.png"/><Relationship Id="rId4" Type="http://schemas.openxmlformats.org/officeDocument/2006/relationships/image" Target="../media/image84.png"/><Relationship Id="rId9" Type="http://schemas.openxmlformats.org/officeDocument/2006/relationships/image" Target="../media/image66.png"/><Relationship Id="rId26" Type="http://schemas.openxmlformats.org/officeDocument/2006/relationships/image" Target="../media/image89.png"/><Relationship Id="rId25" Type="http://schemas.openxmlformats.org/officeDocument/2006/relationships/image" Target="../media/image164.png"/><Relationship Id="rId28" Type="http://schemas.openxmlformats.org/officeDocument/2006/relationships/image" Target="../media/image74.png"/><Relationship Id="rId27" Type="http://schemas.openxmlformats.org/officeDocument/2006/relationships/image" Target="../media/image82.png"/><Relationship Id="rId5" Type="http://schemas.openxmlformats.org/officeDocument/2006/relationships/image" Target="../media/image152.png"/><Relationship Id="rId6" Type="http://schemas.openxmlformats.org/officeDocument/2006/relationships/image" Target="../media/image159.png"/><Relationship Id="rId29" Type="http://schemas.openxmlformats.org/officeDocument/2006/relationships/image" Target="../media/image87.png"/><Relationship Id="rId7" Type="http://schemas.openxmlformats.org/officeDocument/2006/relationships/image" Target="../media/image65.png"/><Relationship Id="rId8" Type="http://schemas.openxmlformats.org/officeDocument/2006/relationships/image" Target="../media/image67.png"/><Relationship Id="rId31" Type="http://schemas.openxmlformats.org/officeDocument/2006/relationships/image" Target="../media/image76.png"/><Relationship Id="rId30" Type="http://schemas.openxmlformats.org/officeDocument/2006/relationships/image" Target="../media/image77.png"/><Relationship Id="rId11" Type="http://schemas.openxmlformats.org/officeDocument/2006/relationships/image" Target="../media/image62.png"/><Relationship Id="rId33" Type="http://schemas.openxmlformats.org/officeDocument/2006/relationships/image" Target="../media/image86.png"/><Relationship Id="rId10" Type="http://schemas.openxmlformats.org/officeDocument/2006/relationships/image" Target="../media/image68.png"/><Relationship Id="rId32" Type="http://schemas.openxmlformats.org/officeDocument/2006/relationships/image" Target="../media/image104.png"/><Relationship Id="rId13" Type="http://schemas.openxmlformats.org/officeDocument/2006/relationships/image" Target="../media/image119.png"/><Relationship Id="rId35" Type="http://schemas.openxmlformats.org/officeDocument/2006/relationships/image" Target="../media/image81.png"/><Relationship Id="rId12" Type="http://schemas.openxmlformats.org/officeDocument/2006/relationships/image" Target="../media/image78.png"/><Relationship Id="rId34" Type="http://schemas.openxmlformats.org/officeDocument/2006/relationships/image" Target="../media/image91.png"/><Relationship Id="rId15" Type="http://schemas.openxmlformats.org/officeDocument/2006/relationships/image" Target="../media/image167.png"/><Relationship Id="rId37" Type="http://schemas.openxmlformats.org/officeDocument/2006/relationships/image" Target="../media/image85.png"/><Relationship Id="rId14" Type="http://schemas.openxmlformats.org/officeDocument/2006/relationships/image" Target="../media/image139.png"/><Relationship Id="rId36" Type="http://schemas.openxmlformats.org/officeDocument/2006/relationships/image" Target="../media/image99.png"/><Relationship Id="rId17" Type="http://schemas.openxmlformats.org/officeDocument/2006/relationships/image" Target="../media/image147.png"/><Relationship Id="rId39" Type="http://schemas.openxmlformats.org/officeDocument/2006/relationships/image" Target="../media/image90.png"/><Relationship Id="rId16" Type="http://schemas.openxmlformats.org/officeDocument/2006/relationships/image" Target="../media/image162.png"/><Relationship Id="rId38" Type="http://schemas.openxmlformats.org/officeDocument/2006/relationships/image" Target="../media/image96.png"/><Relationship Id="rId19" Type="http://schemas.openxmlformats.org/officeDocument/2006/relationships/image" Target="../media/image71.png"/><Relationship Id="rId18" Type="http://schemas.openxmlformats.org/officeDocument/2006/relationships/image" Target="../media/image7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68.png"/><Relationship Id="rId4" Type="http://schemas.openxmlformats.org/officeDocument/2006/relationships/image" Target="../media/image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Relationship Id="rId4" Type="http://schemas.openxmlformats.org/officeDocument/2006/relationships/image" Target="../media/image1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idx="4294967295" type="title"/>
          </p:nvPr>
        </p:nvSpPr>
        <p:spPr>
          <a:xfrm>
            <a:off x="4585289" y="309810"/>
            <a:ext cx="4303500" cy="25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Arial"/>
              <a:buNone/>
            </a:pPr>
            <a:r>
              <a:rPr lang="en-US" sz="34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Онлайн-сервисы для бизнеса и государства</a:t>
            </a:r>
            <a:endParaRPr sz="34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descr="240x240_star.png" id="265" name="Google Shape;265;p31"/>
          <p:cNvPicPr preferRelativeResize="0"/>
          <p:nvPr/>
        </p:nvPicPr>
        <p:blipFill rotWithShape="1">
          <a:blip r:embed="rId3">
            <a:alphaModFix/>
          </a:blip>
          <a:srcRect b="16486" l="11371" r="0" t="0"/>
          <a:stretch/>
        </p:blipFill>
        <p:spPr>
          <a:xfrm>
            <a:off x="0" y="866756"/>
            <a:ext cx="4538684" cy="4276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/>
          <p:nvPr/>
        </p:nvSpPr>
        <p:spPr>
          <a:xfrm>
            <a:off x="261900" y="1360125"/>
            <a:ext cx="2028900" cy="476400"/>
          </a:xfrm>
          <a:prstGeom prst="rect">
            <a:avLst/>
          </a:prstGeom>
          <a:noFill/>
          <a:ln cap="flat" cmpd="sng" w="47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  <a:effectLst>
            <a:outerShdw rotWithShape="0">
              <a:srgbClr val="000000">
                <a:alpha val="0"/>
              </a:srgbClr>
            </a:outerShdw>
          </a:effectLst>
        </p:spPr>
        <p:txBody>
          <a:bodyPr anchorCtr="0" anchor="t" bIns="19175" lIns="36050" spcFirstLastPara="1" rIns="36050" wrap="square" tIns="191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2"/>
          <p:cNvSpPr txBox="1"/>
          <p:nvPr/>
        </p:nvSpPr>
        <p:spPr>
          <a:xfrm>
            <a:off x="276198" y="385575"/>
            <a:ext cx="1044900" cy="338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875" lIns="33750" spcFirstLastPara="1" rIns="33750" wrap="square" tIns="16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Кейсы</a:t>
            </a:r>
            <a:endParaRPr sz="1900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2" name="Google Shape;272;p32"/>
          <p:cNvGrpSpPr/>
          <p:nvPr/>
        </p:nvGrpSpPr>
        <p:grpSpPr>
          <a:xfrm>
            <a:off x="4647915" y="778275"/>
            <a:ext cx="2081295" cy="493425"/>
            <a:chOff x="12394440" y="2075400"/>
            <a:chExt cx="5550120" cy="1315800"/>
          </a:xfrm>
        </p:grpSpPr>
        <p:sp>
          <p:nvSpPr>
            <p:cNvPr id="273" name="Google Shape;273;p32"/>
            <p:cNvSpPr/>
            <p:nvPr/>
          </p:nvSpPr>
          <p:spPr>
            <a:xfrm>
              <a:off x="12394440" y="2075400"/>
              <a:ext cx="5550120" cy="1270440"/>
            </a:xfrm>
            <a:custGeom>
              <a:rect b="b" l="l" r="r" t="t"/>
              <a:pathLst>
                <a:path extrusionOk="0" h="3529" w="15417">
                  <a:moveTo>
                    <a:pt x="0" y="0"/>
                  </a:moveTo>
                  <a:lnTo>
                    <a:pt x="15417" y="0"/>
                  </a:lnTo>
                  <a:lnTo>
                    <a:pt x="15417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4" name="Google Shape;274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220600" y="222264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75" name="Google Shape;275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495960" y="336564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76" name="Google Shape;276;p32"/>
            <p:cNvSpPr txBox="1"/>
            <p:nvPr/>
          </p:nvSpPr>
          <p:spPr>
            <a:xfrm>
              <a:off x="12470760" y="2222640"/>
              <a:ext cx="47088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Air Marakanda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2"/>
            <p:cNvSpPr txBox="1"/>
            <p:nvPr/>
          </p:nvSpPr>
          <p:spPr>
            <a:xfrm>
              <a:off x="12470760" y="264168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Сервисный сайт аэропорта города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Самарканд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" name="Google Shape;278;p32"/>
          <p:cNvGrpSpPr/>
          <p:nvPr/>
        </p:nvGrpSpPr>
        <p:grpSpPr>
          <a:xfrm>
            <a:off x="285795" y="3135105"/>
            <a:ext cx="2035260" cy="476415"/>
            <a:chOff x="762120" y="8360280"/>
            <a:chExt cx="5427360" cy="1270440"/>
          </a:xfrm>
        </p:grpSpPr>
        <p:sp>
          <p:nvSpPr>
            <p:cNvPr id="279" name="Google Shape;279;p32"/>
            <p:cNvSpPr/>
            <p:nvPr/>
          </p:nvSpPr>
          <p:spPr>
            <a:xfrm>
              <a:off x="770400" y="8360280"/>
              <a:ext cx="5419080" cy="1270440"/>
            </a:xfrm>
            <a:custGeom>
              <a:rect b="b" l="l" r="r" t="t"/>
              <a:pathLst>
                <a:path extrusionOk="0" h="3529" w="15053">
                  <a:moveTo>
                    <a:pt x="0" y="0"/>
                  </a:moveTo>
                  <a:lnTo>
                    <a:pt x="15053" y="0"/>
                  </a:lnTo>
                  <a:lnTo>
                    <a:pt x="15053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0" name="Google Shape;28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37160" y="846216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81" name="Google Shape;28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7320" y="960516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82" name="Google Shape;282;p32"/>
            <p:cNvSpPr txBox="1"/>
            <p:nvPr/>
          </p:nvSpPr>
          <p:spPr>
            <a:xfrm>
              <a:off x="762120" y="8462160"/>
              <a:ext cx="4602900" cy="869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Алюминиевая Ассоциация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2"/>
            <p:cNvSpPr txBox="1"/>
            <p:nvPr/>
          </p:nvSpPr>
          <p:spPr>
            <a:xfrm>
              <a:off x="762120" y="8881200"/>
              <a:ext cx="5397600" cy="395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Внутренний портал для участников ассоциации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p32"/>
          <p:cNvGrpSpPr/>
          <p:nvPr/>
        </p:nvGrpSpPr>
        <p:grpSpPr>
          <a:xfrm>
            <a:off x="2460650" y="778275"/>
            <a:ext cx="2109877" cy="493425"/>
            <a:chOff x="6561733" y="2075400"/>
            <a:chExt cx="5626339" cy="1315800"/>
          </a:xfrm>
        </p:grpSpPr>
        <p:sp>
          <p:nvSpPr>
            <p:cNvPr id="285" name="Google Shape;285;p32"/>
            <p:cNvSpPr/>
            <p:nvPr/>
          </p:nvSpPr>
          <p:spPr>
            <a:xfrm>
              <a:off x="6561733" y="2075400"/>
              <a:ext cx="4999656" cy="1270466"/>
            </a:xfrm>
            <a:custGeom>
              <a:rect b="b" l="l" r="r" t="t"/>
              <a:pathLst>
                <a:path extrusionOk="0" h="3529" w="15417">
                  <a:moveTo>
                    <a:pt x="0" y="0"/>
                  </a:moveTo>
                  <a:lnTo>
                    <a:pt x="15417" y="0"/>
                  </a:lnTo>
                  <a:lnTo>
                    <a:pt x="15417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6" name="Google Shape;286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94000" y="222264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87" name="Google Shape;287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63240" y="336564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88" name="Google Shape;288;p32"/>
            <p:cNvSpPr txBox="1"/>
            <p:nvPr/>
          </p:nvSpPr>
          <p:spPr>
            <a:xfrm>
              <a:off x="6638072" y="2222667"/>
              <a:ext cx="5550000" cy="869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Северсталь-Стальные Решения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2"/>
            <p:cNvSpPr txBox="1"/>
            <p:nvPr/>
          </p:nvSpPr>
          <p:spPr>
            <a:xfrm>
              <a:off x="6638040" y="264168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Каталог быстровозводимых зданий из металлоконструкций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p32"/>
          <p:cNvGrpSpPr/>
          <p:nvPr/>
        </p:nvGrpSpPr>
        <p:grpSpPr>
          <a:xfrm>
            <a:off x="285795" y="812160"/>
            <a:ext cx="2028780" cy="460080"/>
            <a:chOff x="762120" y="2165760"/>
            <a:chExt cx="5410081" cy="1226880"/>
          </a:xfrm>
        </p:grpSpPr>
        <p:pic>
          <p:nvPicPr>
            <p:cNvPr id="291" name="Google Shape;291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49760" y="216576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92" name="Google Shape;292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7320" y="336708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93" name="Google Shape;293;p32"/>
            <p:cNvSpPr txBox="1"/>
            <p:nvPr/>
          </p:nvSpPr>
          <p:spPr>
            <a:xfrm>
              <a:off x="762120" y="2224080"/>
              <a:ext cx="45108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МТТ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2"/>
            <p:cNvSpPr txBox="1"/>
            <p:nvPr/>
          </p:nvSpPr>
          <p:spPr>
            <a:xfrm>
              <a:off x="762120" y="264312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Корпоративный сайт федерального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оператора связи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5" name="Google Shape;295;p32"/>
          <p:cNvGrpSpPr/>
          <p:nvPr/>
        </p:nvGrpSpPr>
        <p:grpSpPr>
          <a:xfrm>
            <a:off x="4682610" y="3673080"/>
            <a:ext cx="2028780" cy="493290"/>
            <a:chOff x="12486960" y="9794880"/>
            <a:chExt cx="5410081" cy="1315440"/>
          </a:xfrm>
        </p:grpSpPr>
        <p:sp>
          <p:nvSpPr>
            <p:cNvPr id="296" name="Google Shape;296;p32"/>
            <p:cNvSpPr/>
            <p:nvPr/>
          </p:nvSpPr>
          <p:spPr>
            <a:xfrm>
              <a:off x="12493440" y="9794880"/>
              <a:ext cx="5385240" cy="1270440"/>
            </a:xfrm>
            <a:custGeom>
              <a:rect b="b" l="l" r="r" t="t"/>
              <a:pathLst>
                <a:path extrusionOk="0" h="3529" w="14959">
                  <a:moveTo>
                    <a:pt x="0" y="0"/>
                  </a:moveTo>
                  <a:lnTo>
                    <a:pt x="14959" y="0"/>
                  </a:lnTo>
                  <a:lnTo>
                    <a:pt x="14959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7" name="Google Shape;297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512160" y="1108476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98" name="Google Shape;298;p32"/>
            <p:cNvSpPr txBox="1"/>
            <p:nvPr/>
          </p:nvSpPr>
          <p:spPr>
            <a:xfrm>
              <a:off x="12486960" y="9941760"/>
              <a:ext cx="53976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9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Kept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2"/>
            <p:cNvSpPr txBox="1"/>
            <p:nvPr/>
          </p:nvSpPr>
          <p:spPr>
            <a:xfrm>
              <a:off x="12486960" y="1036080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Корпоративный сайт консалтинговой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фирмы (ex-KPMG)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0" name="Google Shape;30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260200" y="994644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301" name="Google Shape;301;p32"/>
          <p:cNvSpPr txBox="1"/>
          <p:nvPr/>
        </p:nvSpPr>
        <p:spPr>
          <a:xfrm>
            <a:off x="290520" y="1583010"/>
            <a:ext cx="2024100" cy="148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875" lIns="33750" spcFirstLastPara="1" rIns="33750" wrap="square" tIns="16875">
            <a:noAutofit/>
          </a:bodyPr>
          <a:lstStyle/>
          <a:p>
            <a:pPr indent="0" lvl="0" marL="0" marR="0" rtl="0" algn="l">
              <a:lnSpc>
                <a:spcPct val="150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Корпоративный сайт R&amp;D центра компании</a:t>
            </a:r>
            <a:endParaRPr b="0" sz="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1710" y="1425870"/>
            <a:ext cx="152415" cy="15241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3" name="Google Shape;30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105" y="1854495"/>
            <a:ext cx="2019330" cy="958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4" name="Google Shape;304;p32"/>
          <p:cNvSpPr txBox="1"/>
          <p:nvPr/>
        </p:nvSpPr>
        <p:spPr>
          <a:xfrm>
            <a:off x="278695" y="1412083"/>
            <a:ext cx="1729200" cy="180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875" lIns="33750" spcFirstLastPara="1" rIns="33750" wrap="square" tIns="16875">
            <a:noAutofit/>
          </a:bodyPr>
          <a:lstStyle/>
          <a:p>
            <a:pPr indent="0" lvl="0" marL="0" marR="0" rtl="0" algn="l">
              <a:lnSpc>
                <a:spcPct val="1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sng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СИБУР «ПолиЛаб»</a:t>
            </a:r>
            <a:endParaRPr b="0" sz="9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5" name="Google Shape;305;p32"/>
          <p:cNvGrpSpPr/>
          <p:nvPr/>
        </p:nvGrpSpPr>
        <p:grpSpPr>
          <a:xfrm>
            <a:off x="284985" y="1948860"/>
            <a:ext cx="2029725" cy="503955"/>
            <a:chOff x="759960" y="5196960"/>
            <a:chExt cx="5412600" cy="1343880"/>
          </a:xfrm>
        </p:grpSpPr>
        <p:sp>
          <p:nvSpPr>
            <p:cNvPr id="306" name="Google Shape;306;p32"/>
            <p:cNvSpPr/>
            <p:nvPr/>
          </p:nvSpPr>
          <p:spPr>
            <a:xfrm>
              <a:off x="766440" y="5196960"/>
              <a:ext cx="5406120" cy="1270440"/>
            </a:xfrm>
            <a:custGeom>
              <a:rect b="b" l="l" r="r" t="t"/>
              <a:pathLst>
                <a:path extrusionOk="0" h="3529" w="15017">
                  <a:moveTo>
                    <a:pt x="0" y="0"/>
                  </a:moveTo>
                  <a:lnTo>
                    <a:pt x="15017" y="0"/>
                  </a:lnTo>
                  <a:lnTo>
                    <a:pt x="15017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7" name="Google Shape;307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44720" y="537228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08" name="Google Shape;308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5160" y="651528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09" name="Google Shape;309;p32"/>
            <p:cNvSpPr txBox="1"/>
            <p:nvPr/>
          </p:nvSpPr>
          <p:spPr>
            <a:xfrm>
              <a:off x="759960" y="5372280"/>
              <a:ext cx="43674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1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Черкизово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2"/>
            <p:cNvSpPr txBox="1"/>
            <p:nvPr/>
          </p:nvSpPr>
          <p:spPr>
            <a:xfrm>
              <a:off x="759960" y="579132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Корпоративный сайт производителя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мясной продукции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32"/>
          <p:cNvGrpSpPr/>
          <p:nvPr/>
        </p:nvGrpSpPr>
        <p:grpSpPr>
          <a:xfrm>
            <a:off x="6864345" y="1357695"/>
            <a:ext cx="2081295" cy="503955"/>
            <a:chOff x="18304920" y="3620520"/>
            <a:chExt cx="5550120" cy="1343880"/>
          </a:xfrm>
        </p:grpSpPr>
        <p:sp>
          <p:nvSpPr>
            <p:cNvPr id="312" name="Google Shape;312;p32"/>
            <p:cNvSpPr/>
            <p:nvPr/>
          </p:nvSpPr>
          <p:spPr>
            <a:xfrm>
              <a:off x="18304920" y="3620520"/>
              <a:ext cx="5550120" cy="1179000"/>
            </a:xfrm>
            <a:custGeom>
              <a:rect b="b" l="l" r="r" t="t"/>
              <a:pathLst>
                <a:path extrusionOk="0" h="3275" w="15417">
                  <a:moveTo>
                    <a:pt x="0" y="0"/>
                  </a:moveTo>
                  <a:lnTo>
                    <a:pt x="15417" y="0"/>
                  </a:lnTo>
                  <a:lnTo>
                    <a:pt x="15417" y="3275"/>
                  </a:lnTo>
                  <a:lnTo>
                    <a:pt x="0" y="327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3" name="Google Shape;313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56280" y="379584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14" name="Google Shape;314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406440" y="493884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15" name="Google Shape;315;p32"/>
            <p:cNvSpPr txBox="1"/>
            <p:nvPr/>
          </p:nvSpPr>
          <p:spPr>
            <a:xfrm>
              <a:off x="18381240" y="3795840"/>
              <a:ext cx="4191000" cy="869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1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НЛМК-Стальное дерево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2"/>
            <p:cNvSpPr txBox="1"/>
            <p:nvPr/>
          </p:nvSpPr>
          <p:spPr>
            <a:xfrm>
              <a:off x="18381240" y="4214880"/>
              <a:ext cx="5397600" cy="395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Портал грантового конкурса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" name="Google Shape;317;p32"/>
          <p:cNvGrpSpPr/>
          <p:nvPr/>
        </p:nvGrpSpPr>
        <p:grpSpPr>
          <a:xfrm>
            <a:off x="6892965" y="3105675"/>
            <a:ext cx="2028780" cy="503955"/>
            <a:chOff x="18381240" y="8281800"/>
            <a:chExt cx="5410081" cy="1343880"/>
          </a:xfrm>
        </p:grpSpPr>
        <p:sp>
          <p:nvSpPr>
            <p:cNvPr id="318" name="Google Shape;318;p32"/>
            <p:cNvSpPr/>
            <p:nvPr/>
          </p:nvSpPr>
          <p:spPr>
            <a:xfrm>
              <a:off x="18387360" y="8281800"/>
              <a:ext cx="5372640" cy="1270440"/>
            </a:xfrm>
            <a:custGeom>
              <a:rect b="b" l="l" r="r" t="t"/>
              <a:pathLst>
                <a:path extrusionOk="0" h="3529" w="14924">
                  <a:moveTo>
                    <a:pt x="0" y="0"/>
                  </a:moveTo>
                  <a:lnTo>
                    <a:pt x="14924" y="0"/>
                  </a:lnTo>
                  <a:lnTo>
                    <a:pt x="14924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9" name="Google Shape;319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69240" y="845712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20" name="Google Shape;320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406440" y="960012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21" name="Google Shape;321;p32"/>
            <p:cNvSpPr txBox="1"/>
            <p:nvPr/>
          </p:nvSpPr>
          <p:spPr>
            <a:xfrm>
              <a:off x="18393840" y="8457120"/>
              <a:ext cx="46113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1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АТОЛ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2"/>
            <p:cNvSpPr txBox="1"/>
            <p:nvPr/>
          </p:nvSpPr>
          <p:spPr>
            <a:xfrm>
              <a:off x="18381240" y="8876160"/>
              <a:ext cx="5397600" cy="395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Каталог терминалов сбора данных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32"/>
          <p:cNvGrpSpPr/>
          <p:nvPr/>
        </p:nvGrpSpPr>
        <p:grpSpPr>
          <a:xfrm>
            <a:off x="2485620" y="1946025"/>
            <a:ext cx="2031210" cy="506250"/>
            <a:chOff x="6628320" y="5189400"/>
            <a:chExt cx="5416561" cy="1350000"/>
          </a:xfrm>
        </p:grpSpPr>
        <p:sp>
          <p:nvSpPr>
            <p:cNvPr id="324" name="Google Shape;324;p32"/>
            <p:cNvSpPr/>
            <p:nvPr/>
          </p:nvSpPr>
          <p:spPr>
            <a:xfrm>
              <a:off x="6628320" y="5189400"/>
              <a:ext cx="5397840" cy="1270440"/>
            </a:xfrm>
            <a:custGeom>
              <a:rect b="b" l="l" r="r" t="t"/>
              <a:pathLst>
                <a:path extrusionOk="0" h="3529" w="14994">
                  <a:moveTo>
                    <a:pt x="0" y="0"/>
                  </a:moveTo>
                  <a:lnTo>
                    <a:pt x="14994" y="0"/>
                  </a:lnTo>
                  <a:lnTo>
                    <a:pt x="14994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5" name="Google Shape;325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10920" y="537084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26" name="Google Shape;326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60000" y="651384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27" name="Google Shape;327;p32"/>
            <p:cNvSpPr txBox="1"/>
            <p:nvPr/>
          </p:nvSpPr>
          <p:spPr>
            <a:xfrm>
              <a:off x="6634800" y="5370840"/>
              <a:ext cx="44637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1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Ростсельмаш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2"/>
            <p:cNvSpPr txBox="1"/>
            <p:nvPr/>
          </p:nvSpPr>
          <p:spPr>
            <a:xfrm>
              <a:off x="6634800" y="578988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Сайт транснационального производителя сельхозтехники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32"/>
          <p:cNvGrpSpPr/>
          <p:nvPr/>
        </p:nvGrpSpPr>
        <p:grpSpPr>
          <a:xfrm>
            <a:off x="257175" y="2531925"/>
            <a:ext cx="2057400" cy="506250"/>
            <a:chOff x="685800" y="6751800"/>
            <a:chExt cx="5486401" cy="1350000"/>
          </a:xfrm>
        </p:grpSpPr>
        <p:sp>
          <p:nvSpPr>
            <p:cNvPr id="330" name="Google Shape;330;p32"/>
            <p:cNvSpPr/>
            <p:nvPr/>
          </p:nvSpPr>
          <p:spPr>
            <a:xfrm>
              <a:off x="685800" y="6751800"/>
              <a:ext cx="5410440" cy="1270440"/>
            </a:xfrm>
            <a:custGeom>
              <a:rect b="b" l="l" r="r" t="t"/>
              <a:pathLst>
                <a:path extrusionOk="0" h="3529" w="15029">
                  <a:moveTo>
                    <a:pt x="0" y="0"/>
                  </a:moveTo>
                  <a:lnTo>
                    <a:pt x="15029" y="0"/>
                  </a:lnTo>
                  <a:lnTo>
                    <a:pt x="15029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2"/>
            <p:cNvSpPr txBox="1"/>
            <p:nvPr/>
          </p:nvSpPr>
          <p:spPr>
            <a:xfrm>
              <a:off x="762120" y="7352280"/>
              <a:ext cx="5397600" cy="395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Корпоративный сайт транспортной корпорации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2" name="Google Shape;332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11960" y="693324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33" name="Google Shape;333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7320" y="807624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34" name="Google Shape;334;p32"/>
            <p:cNvSpPr txBox="1"/>
            <p:nvPr/>
          </p:nvSpPr>
          <p:spPr>
            <a:xfrm>
              <a:off x="762120" y="6933240"/>
              <a:ext cx="46113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1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НТК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32"/>
          <p:cNvGrpSpPr/>
          <p:nvPr/>
        </p:nvGrpSpPr>
        <p:grpSpPr>
          <a:xfrm>
            <a:off x="4678830" y="4293135"/>
            <a:ext cx="2038500" cy="506250"/>
            <a:chOff x="12476880" y="11448360"/>
            <a:chExt cx="5436000" cy="1350000"/>
          </a:xfrm>
        </p:grpSpPr>
        <p:sp>
          <p:nvSpPr>
            <p:cNvPr id="336" name="Google Shape;336;p32"/>
            <p:cNvSpPr/>
            <p:nvPr/>
          </p:nvSpPr>
          <p:spPr>
            <a:xfrm>
              <a:off x="12476880" y="11448360"/>
              <a:ext cx="5436000" cy="1270440"/>
            </a:xfrm>
            <a:custGeom>
              <a:rect b="b" l="l" r="r" t="t"/>
              <a:pathLst>
                <a:path extrusionOk="0" h="3529" w="15100">
                  <a:moveTo>
                    <a:pt x="0" y="0"/>
                  </a:moveTo>
                  <a:lnTo>
                    <a:pt x="15100" y="0"/>
                  </a:lnTo>
                  <a:lnTo>
                    <a:pt x="15100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7" name="Google Shape;337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521520" y="1277280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38" name="Google Shape;338;p32"/>
            <p:cNvSpPr txBox="1"/>
            <p:nvPr/>
          </p:nvSpPr>
          <p:spPr>
            <a:xfrm>
              <a:off x="12495960" y="11629800"/>
              <a:ext cx="42960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АСТ</a:t>
              </a:r>
              <a:endParaRPr b="0" sz="9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2"/>
            <p:cNvSpPr txBox="1"/>
            <p:nvPr/>
          </p:nvSpPr>
          <p:spPr>
            <a:xfrm>
              <a:off x="12495960" y="1204884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Каталог сельскохозяйственной</a:t>
              </a:r>
              <a:r>
                <a:rPr lang="en-US" sz="600"/>
                <a:t> </a:t>
              </a: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и строительной техники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32"/>
          <p:cNvGrpSpPr/>
          <p:nvPr/>
        </p:nvGrpSpPr>
        <p:grpSpPr>
          <a:xfrm>
            <a:off x="6854760" y="4293135"/>
            <a:ext cx="2062260" cy="506250"/>
            <a:chOff x="18279360" y="11448360"/>
            <a:chExt cx="5499361" cy="1350000"/>
          </a:xfrm>
        </p:grpSpPr>
        <p:sp>
          <p:nvSpPr>
            <p:cNvPr id="341" name="Google Shape;341;p32"/>
            <p:cNvSpPr/>
            <p:nvPr/>
          </p:nvSpPr>
          <p:spPr>
            <a:xfrm>
              <a:off x="18279360" y="11448360"/>
              <a:ext cx="5480280" cy="1270440"/>
            </a:xfrm>
            <a:custGeom>
              <a:rect b="b" l="l" r="r" t="t"/>
              <a:pathLst>
                <a:path extrusionOk="0" h="3529" w="15223">
                  <a:moveTo>
                    <a:pt x="0" y="0"/>
                  </a:moveTo>
                  <a:lnTo>
                    <a:pt x="15223" y="0"/>
                  </a:lnTo>
                  <a:lnTo>
                    <a:pt x="15223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2" name="Google Shape;342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393840" y="1277280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43" name="Google Shape;343;p32"/>
            <p:cNvSpPr txBox="1"/>
            <p:nvPr/>
          </p:nvSpPr>
          <p:spPr>
            <a:xfrm>
              <a:off x="18368640" y="11629800"/>
              <a:ext cx="39786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1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Металлоинвест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2"/>
            <p:cNvSpPr txBox="1"/>
            <p:nvPr/>
          </p:nvSpPr>
          <p:spPr>
            <a:xfrm>
              <a:off x="18368640" y="1204884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Каталог продукции горно- металлургического холдинга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5" name="Google Shape;345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43680" y="1162980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grpSp>
        <p:nvGrpSpPr>
          <p:cNvPr id="346" name="Google Shape;346;p32"/>
          <p:cNvGrpSpPr/>
          <p:nvPr/>
        </p:nvGrpSpPr>
        <p:grpSpPr>
          <a:xfrm>
            <a:off x="2483190" y="2561895"/>
            <a:ext cx="2036070" cy="476415"/>
            <a:chOff x="6621840" y="6831720"/>
            <a:chExt cx="5429521" cy="1270440"/>
          </a:xfrm>
        </p:grpSpPr>
        <p:sp>
          <p:nvSpPr>
            <p:cNvPr id="347" name="Google Shape;347;p32"/>
            <p:cNvSpPr/>
            <p:nvPr/>
          </p:nvSpPr>
          <p:spPr>
            <a:xfrm>
              <a:off x="6621840" y="6831720"/>
              <a:ext cx="5372640" cy="1270440"/>
            </a:xfrm>
            <a:custGeom>
              <a:rect b="b" l="l" r="r" t="t"/>
              <a:pathLst>
                <a:path extrusionOk="0" h="3529" w="14924">
                  <a:moveTo>
                    <a:pt x="0" y="0"/>
                  </a:moveTo>
                  <a:lnTo>
                    <a:pt x="14924" y="0"/>
                  </a:lnTo>
                  <a:lnTo>
                    <a:pt x="14924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8" name="Google Shape;34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15240" y="693324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49" name="Google Shape;349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66480" y="807624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50" name="Google Shape;350;p32"/>
            <p:cNvSpPr txBox="1"/>
            <p:nvPr/>
          </p:nvSpPr>
          <p:spPr>
            <a:xfrm>
              <a:off x="6640920" y="6933240"/>
              <a:ext cx="46605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1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СТС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2"/>
            <p:cNvSpPr txBox="1"/>
            <p:nvPr/>
          </p:nvSpPr>
          <p:spPr>
            <a:xfrm>
              <a:off x="6640920" y="7352280"/>
              <a:ext cx="5397600" cy="395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Корпоративный сайт энергетического холдинга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2" name="Google Shape;352;p32"/>
          <p:cNvGrpSpPr/>
          <p:nvPr/>
        </p:nvGrpSpPr>
        <p:grpSpPr>
          <a:xfrm>
            <a:off x="4651695" y="3106485"/>
            <a:ext cx="2057400" cy="503955"/>
            <a:chOff x="12404520" y="8283960"/>
            <a:chExt cx="5486401" cy="1343880"/>
          </a:xfrm>
        </p:grpSpPr>
        <p:sp>
          <p:nvSpPr>
            <p:cNvPr id="353" name="Google Shape;353;p32"/>
            <p:cNvSpPr txBox="1"/>
            <p:nvPr/>
          </p:nvSpPr>
          <p:spPr>
            <a:xfrm>
              <a:off x="12480480" y="8878320"/>
              <a:ext cx="5397600" cy="395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Корпоративный сайт юридической фирмы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2"/>
            <p:cNvSpPr/>
            <p:nvPr/>
          </p:nvSpPr>
          <p:spPr>
            <a:xfrm>
              <a:off x="12404520" y="8283960"/>
              <a:ext cx="5410440" cy="1270440"/>
            </a:xfrm>
            <a:custGeom>
              <a:rect b="b" l="l" r="r" t="t"/>
              <a:pathLst>
                <a:path extrusionOk="0" h="3529" w="15029">
                  <a:moveTo>
                    <a:pt x="0" y="0"/>
                  </a:moveTo>
                  <a:lnTo>
                    <a:pt x="15029" y="0"/>
                  </a:lnTo>
                  <a:lnTo>
                    <a:pt x="15029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5" name="Google Shape;355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230320" y="845928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56" name="Google Shape;356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506040" y="960228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57" name="Google Shape;357;p32"/>
            <p:cNvSpPr txBox="1"/>
            <p:nvPr/>
          </p:nvSpPr>
          <p:spPr>
            <a:xfrm>
              <a:off x="12480480" y="8459280"/>
              <a:ext cx="4611300" cy="869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1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Melling, Voitishkin &amp; Partners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32"/>
          <p:cNvGrpSpPr/>
          <p:nvPr/>
        </p:nvGrpSpPr>
        <p:grpSpPr>
          <a:xfrm>
            <a:off x="2490345" y="1379970"/>
            <a:ext cx="2028915" cy="482220"/>
            <a:chOff x="6640920" y="3679920"/>
            <a:chExt cx="5410441" cy="1285920"/>
          </a:xfrm>
        </p:grpSpPr>
        <p:sp>
          <p:nvSpPr>
            <p:cNvPr id="359" name="Google Shape;359;p32"/>
            <p:cNvSpPr/>
            <p:nvPr/>
          </p:nvSpPr>
          <p:spPr>
            <a:xfrm>
              <a:off x="6647400" y="3679920"/>
              <a:ext cx="5385240" cy="1270440"/>
            </a:xfrm>
            <a:custGeom>
              <a:rect b="b" l="l" r="r" t="t"/>
              <a:pathLst>
                <a:path extrusionOk="0" h="3529" w="14959">
                  <a:moveTo>
                    <a:pt x="0" y="0"/>
                  </a:moveTo>
                  <a:lnTo>
                    <a:pt x="14959" y="0"/>
                  </a:lnTo>
                  <a:lnTo>
                    <a:pt x="14959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0" name="Google Shape;36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28920" y="381312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61" name="Google Shape;36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66480" y="494028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62" name="Google Shape;362;p32"/>
            <p:cNvSpPr txBox="1"/>
            <p:nvPr/>
          </p:nvSpPr>
          <p:spPr>
            <a:xfrm>
              <a:off x="6640920" y="3797280"/>
              <a:ext cx="47499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19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Северсталь «Вместе»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2"/>
            <p:cNvSpPr txBox="1"/>
            <p:nvPr/>
          </p:nvSpPr>
          <p:spPr>
            <a:xfrm>
              <a:off x="6640920" y="4216320"/>
              <a:ext cx="5397600" cy="395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Клиентский и инжиниринговый порталы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4" name="Google Shape;364;p32"/>
          <p:cNvGrpSpPr/>
          <p:nvPr/>
        </p:nvGrpSpPr>
        <p:grpSpPr>
          <a:xfrm>
            <a:off x="2455785" y="3135105"/>
            <a:ext cx="2062260" cy="476415"/>
            <a:chOff x="6548760" y="8360280"/>
            <a:chExt cx="5499361" cy="1270440"/>
          </a:xfrm>
        </p:grpSpPr>
        <p:sp>
          <p:nvSpPr>
            <p:cNvPr id="365" name="Google Shape;365;p32"/>
            <p:cNvSpPr/>
            <p:nvPr/>
          </p:nvSpPr>
          <p:spPr>
            <a:xfrm>
              <a:off x="6548760" y="8360280"/>
              <a:ext cx="5480280" cy="1270440"/>
            </a:xfrm>
            <a:custGeom>
              <a:rect b="b" l="l" r="r" t="t"/>
              <a:pathLst>
                <a:path extrusionOk="0" h="3529" w="15223">
                  <a:moveTo>
                    <a:pt x="0" y="0"/>
                  </a:moveTo>
                  <a:lnTo>
                    <a:pt x="15223" y="0"/>
                  </a:lnTo>
                  <a:lnTo>
                    <a:pt x="15223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6" name="Google Shape;366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09480" y="846216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67" name="Google Shape;367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63240" y="960516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68" name="Google Shape;368;p32"/>
            <p:cNvSpPr txBox="1"/>
            <p:nvPr/>
          </p:nvSpPr>
          <p:spPr>
            <a:xfrm>
              <a:off x="6638040" y="8462160"/>
              <a:ext cx="42375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20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СТС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2"/>
            <p:cNvSpPr txBox="1"/>
            <p:nvPr/>
          </p:nvSpPr>
          <p:spPr>
            <a:xfrm>
              <a:off x="6638040" y="8881200"/>
              <a:ext cx="5397600" cy="395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Карьерный сайт энергетического холдинга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0" name="Google Shape;370;p32"/>
          <p:cNvGrpSpPr/>
          <p:nvPr/>
        </p:nvGrpSpPr>
        <p:grpSpPr>
          <a:xfrm>
            <a:off x="4670595" y="2562165"/>
            <a:ext cx="2035935" cy="476415"/>
            <a:chOff x="12454920" y="6832440"/>
            <a:chExt cx="5429161" cy="1270440"/>
          </a:xfrm>
        </p:grpSpPr>
        <p:sp>
          <p:nvSpPr>
            <p:cNvPr id="371" name="Google Shape;371;p32"/>
            <p:cNvSpPr/>
            <p:nvPr/>
          </p:nvSpPr>
          <p:spPr>
            <a:xfrm>
              <a:off x="12454920" y="6832440"/>
              <a:ext cx="5410440" cy="1270440"/>
            </a:xfrm>
            <a:custGeom>
              <a:rect b="b" l="l" r="r" t="t"/>
              <a:pathLst>
                <a:path extrusionOk="0" h="3529" w="15029">
                  <a:moveTo>
                    <a:pt x="0" y="0"/>
                  </a:moveTo>
                  <a:lnTo>
                    <a:pt x="15029" y="0"/>
                  </a:lnTo>
                  <a:lnTo>
                    <a:pt x="15029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2" name="Google Shape;372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261640" y="693432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73" name="Google Shape;373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499200" y="807732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74" name="Google Shape;374;p32"/>
            <p:cNvSpPr txBox="1"/>
            <p:nvPr/>
          </p:nvSpPr>
          <p:spPr>
            <a:xfrm>
              <a:off x="12474000" y="6934320"/>
              <a:ext cx="42375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2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Reef Residence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2"/>
            <p:cNvSpPr txBox="1"/>
            <p:nvPr/>
          </p:nvSpPr>
          <p:spPr>
            <a:xfrm>
              <a:off x="12474000" y="7353720"/>
              <a:ext cx="5397600" cy="395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Сайт клубной резиденции класса de luxe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6" name="Google Shape;376;p32"/>
          <p:cNvGrpSpPr/>
          <p:nvPr/>
        </p:nvGrpSpPr>
        <p:grpSpPr>
          <a:xfrm>
            <a:off x="6892965" y="2006100"/>
            <a:ext cx="2052675" cy="478575"/>
            <a:chOff x="18381240" y="5349600"/>
            <a:chExt cx="5473800" cy="1276200"/>
          </a:xfrm>
        </p:grpSpPr>
        <p:sp>
          <p:nvSpPr>
            <p:cNvPr id="377" name="Google Shape;377;p32"/>
            <p:cNvSpPr/>
            <p:nvPr/>
          </p:nvSpPr>
          <p:spPr>
            <a:xfrm>
              <a:off x="18387360" y="5349600"/>
              <a:ext cx="5467680" cy="1270440"/>
            </a:xfrm>
            <a:custGeom>
              <a:rect b="b" l="l" r="r" t="t"/>
              <a:pathLst>
                <a:path extrusionOk="0" h="3529" w="15188">
                  <a:moveTo>
                    <a:pt x="0" y="0"/>
                  </a:moveTo>
                  <a:lnTo>
                    <a:pt x="15188" y="0"/>
                  </a:lnTo>
                  <a:lnTo>
                    <a:pt x="15188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8" name="Google Shape;378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406440" y="660024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79" name="Google Shape;379;p32"/>
            <p:cNvSpPr txBox="1"/>
            <p:nvPr/>
          </p:nvSpPr>
          <p:spPr>
            <a:xfrm>
              <a:off x="18381240" y="5368680"/>
              <a:ext cx="47640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ММК</a:t>
              </a:r>
              <a:endParaRPr b="0" sz="9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2"/>
            <p:cNvSpPr txBox="1"/>
            <p:nvPr/>
          </p:nvSpPr>
          <p:spPr>
            <a:xfrm>
              <a:off x="18381240" y="580032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Сайт ведущего производителя металлопродукции </a:t>
              </a:r>
              <a:endParaRPr b="0" sz="600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в России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1" name="Google Shape;381;p32"/>
          <p:cNvGrpSpPr/>
          <p:nvPr/>
        </p:nvGrpSpPr>
        <p:grpSpPr>
          <a:xfrm>
            <a:off x="6892965" y="778275"/>
            <a:ext cx="2052675" cy="493020"/>
            <a:chOff x="18381240" y="2075400"/>
            <a:chExt cx="5473800" cy="1314720"/>
          </a:xfrm>
        </p:grpSpPr>
        <p:sp>
          <p:nvSpPr>
            <p:cNvPr id="382" name="Google Shape;382;p32"/>
            <p:cNvSpPr/>
            <p:nvPr/>
          </p:nvSpPr>
          <p:spPr>
            <a:xfrm>
              <a:off x="18387360" y="2075400"/>
              <a:ext cx="5467680" cy="1270440"/>
            </a:xfrm>
            <a:custGeom>
              <a:rect b="b" l="l" r="r" t="t"/>
              <a:pathLst>
                <a:path extrusionOk="0" h="3529" w="15188">
                  <a:moveTo>
                    <a:pt x="0" y="0"/>
                  </a:moveTo>
                  <a:lnTo>
                    <a:pt x="15188" y="0"/>
                  </a:lnTo>
                  <a:lnTo>
                    <a:pt x="15188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3" name="Google Shape;383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49800" y="210708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84" name="Google Shape;384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406440" y="336456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85" name="Google Shape;385;p32"/>
            <p:cNvSpPr txBox="1"/>
            <p:nvPr/>
          </p:nvSpPr>
          <p:spPr>
            <a:xfrm>
              <a:off x="18381240" y="2221920"/>
              <a:ext cx="45504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2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РУСАЛ-Саянская фольга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32"/>
            <p:cNvSpPr txBox="1"/>
            <p:nvPr/>
          </p:nvSpPr>
          <p:spPr>
            <a:xfrm>
              <a:off x="18381240" y="265320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Сайт крупнейшего производителя 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бытовой фольги в РФ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" name="Google Shape;387;p32"/>
          <p:cNvGrpSpPr/>
          <p:nvPr/>
        </p:nvGrpSpPr>
        <p:grpSpPr>
          <a:xfrm>
            <a:off x="6883380" y="3716280"/>
            <a:ext cx="2036070" cy="476415"/>
            <a:chOff x="18355680" y="9910080"/>
            <a:chExt cx="5429521" cy="1270440"/>
          </a:xfrm>
        </p:grpSpPr>
        <p:sp>
          <p:nvSpPr>
            <p:cNvPr id="388" name="Google Shape;388;p32"/>
            <p:cNvSpPr/>
            <p:nvPr/>
          </p:nvSpPr>
          <p:spPr>
            <a:xfrm>
              <a:off x="18355680" y="9910080"/>
              <a:ext cx="5410440" cy="1270440"/>
            </a:xfrm>
            <a:custGeom>
              <a:rect b="b" l="l" r="r" t="t"/>
              <a:pathLst>
                <a:path extrusionOk="0" h="3529" w="15029">
                  <a:moveTo>
                    <a:pt x="0" y="0"/>
                  </a:moveTo>
                  <a:lnTo>
                    <a:pt x="15029" y="0"/>
                  </a:lnTo>
                  <a:lnTo>
                    <a:pt x="15029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9" name="Google Shape;389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49800" y="992916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90" name="Google Shape;390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400320" y="1108476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8374760" y="9942120"/>
              <a:ext cx="46926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2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Мосполитех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32"/>
            <p:cNvSpPr txBox="1"/>
            <p:nvPr/>
          </p:nvSpPr>
          <p:spPr>
            <a:xfrm>
              <a:off x="18374760" y="10360800"/>
              <a:ext cx="5397600" cy="395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Сайт образовательного учреждения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4680720" y="1357695"/>
            <a:ext cx="2031210" cy="503955"/>
            <a:chOff x="12481920" y="3620520"/>
            <a:chExt cx="5416561" cy="1343880"/>
          </a:xfrm>
        </p:grpSpPr>
        <p:sp>
          <p:nvSpPr>
            <p:cNvPr id="394" name="Google Shape;394;p32"/>
            <p:cNvSpPr/>
            <p:nvPr/>
          </p:nvSpPr>
          <p:spPr>
            <a:xfrm>
              <a:off x="12481920" y="3620520"/>
              <a:ext cx="5410440" cy="1270440"/>
            </a:xfrm>
            <a:custGeom>
              <a:rect b="b" l="l" r="r" t="t"/>
              <a:pathLst>
                <a:path extrusionOk="0" h="3529" w="15029">
                  <a:moveTo>
                    <a:pt x="0" y="0"/>
                  </a:moveTo>
                  <a:lnTo>
                    <a:pt x="15029" y="0"/>
                  </a:lnTo>
                  <a:lnTo>
                    <a:pt x="15029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5" name="Google Shape;395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256240" y="377892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96" name="Google Shape;396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513600" y="493884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397" name="Google Shape;397;p32"/>
            <p:cNvSpPr txBox="1"/>
            <p:nvPr/>
          </p:nvSpPr>
          <p:spPr>
            <a:xfrm>
              <a:off x="12488400" y="3795840"/>
              <a:ext cx="44046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2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Аэропорты регионов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32"/>
            <p:cNvSpPr txBox="1"/>
            <p:nvPr/>
          </p:nvSpPr>
          <p:spPr>
            <a:xfrm>
              <a:off x="12488400" y="421488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Дизайн-система ведущего аэропортового холдинга РФ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9" name="Google Shape;399;p32"/>
          <p:cNvGrpSpPr/>
          <p:nvPr/>
        </p:nvGrpSpPr>
        <p:grpSpPr>
          <a:xfrm>
            <a:off x="276210" y="4295430"/>
            <a:ext cx="2060775" cy="503955"/>
            <a:chOff x="736560" y="11454480"/>
            <a:chExt cx="5495400" cy="1343880"/>
          </a:xfrm>
        </p:grpSpPr>
        <p:sp>
          <p:nvSpPr>
            <p:cNvPr id="400" name="Google Shape;400;p32"/>
            <p:cNvSpPr/>
            <p:nvPr/>
          </p:nvSpPr>
          <p:spPr>
            <a:xfrm>
              <a:off x="736560" y="11454480"/>
              <a:ext cx="5495400" cy="1270440"/>
            </a:xfrm>
            <a:custGeom>
              <a:rect b="b" l="l" r="r" t="t"/>
              <a:pathLst>
                <a:path extrusionOk="0" h="3529" w="15265">
                  <a:moveTo>
                    <a:pt x="0" y="0"/>
                  </a:moveTo>
                  <a:lnTo>
                    <a:pt x="15265" y="0"/>
                  </a:lnTo>
                  <a:lnTo>
                    <a:pt x="15265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1" name="Google Shape;401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41480" y="1161324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402" name="Google Shape;402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91640" y="1277280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03" name="Google Shape;403;p32"/>
            <p:cNvSpPr txBox="1"/>
            <p:nvPr/>
          </p:nvSpPr>
          <p:spPr>
            <a:xfrm>
              <a:off x="766440" y="11629800"/>
              <a:ext cx="45084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2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Богослов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2"/>
            <p:cNvSpPr txBox="1"/>
            <p:nvPr/>
          </p:nvSpPr>
          <p:spPr>
            <a:xfrm>
              <a:off x="766440" y="12048840"/>
              <a:ext cx="5397600" cy="6096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Научно-образовательный портал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5" name="Google Shape;405;p32"/>
          <p:cNvGrpSpPr/>
          <p:nvPr/>
        </p:nvGrpSpPr>
        <p:grpSpPr>
          <a:xfrm>
            <a:off x="2459565" y="4295430"/>
            <a:ext cx="2057400" cy="528795"/>
            <a:chOff x="6558840" y="11454480"/>
            <a:chExt cx="5486401" cy="1410120"/>
          </a:xfrm>
        </p:grpSpPr>
        <p:sp>
          <p:nvSpPr>
            <p:cNvPr id="406" name="Google Shape;406;p32"/>
            <p:cNvSpPr/>
            <p:nvPr/>
          </p:nvSpPr>
          <p:spPr>
            <a:xfrm>
              <a:off x="6558840" y="11454480"/>
              <a:ext cx="5467680" cy="1410120"/>
            </a:xfrm>
            <a:custGeom>
              <a:rect b="b" l="l" r="r" t="t"/>
              <a:pathLst>
                <a:path extrusionOk="0" h="3917" w="15188">
                  <a:moveTo>
                    <a:pt x="0" y="0"/>
                  </a:moveTo>
                  <a:lnTo>
                    <a:pt x="15188" y="0"/>
                  </a:lnTo>
                  <a:lnTo>
                    <a:pt x="15188" y="3917"/>
                  </a:lnTo>
                  <a:lnTo>
                    <a:pt x="0" y="391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7" name="Google Shape;407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397600" y="1161324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408" name="Google Shape;408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60360" y="1277280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09" name="Google Shape;409;p32"/>
            <p:cNvSpPr txBox="1"/>
            <p:nvPr/>
          </p:nvSpPr>
          <p:spPr>
            <a:xfrm>
              <a:off x="6635160" y="11629800"/>
              <a:ext cx="45084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2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Петербургтеплоэнерго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2"/>
            <p:cNvSpPr txBox="1"/>
            <p:nvPr/>
          </p:nvSpPr>
          <p:spPr>
            <a:xfrm>
              <a:off x="6635160" y="12048840"/>
              <a:ext cx="5397600" cy="6096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Личный кабинет потребителя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1" name="Google Shape;411;p32"/>
          <p:cNvGrpSpPr/>
          <p:nvPr/>
        </p:nvGrpSpPr>
        <p:grpSpPr>
          <a:xfrm>
            <a:off x="6861915" y="2534625"/>
            <a:ext cx="2057535" cy="503955"/>
            <a:chOff x="18298440" y="6759000"/>
            <a:chExt cx="5486761" cy="1343880"/>
          </a:xfrm>
        </p:grpSpPr>
        <p:sp>
          <p:nvSpPr>
            <p:cNvPr id="412" name="Google Shape;412;p32"/>
            <p:cNvSpPr txBox="1"/>
            <p:nvPr/>
          </p:nvSpPr>
          <p:spPr>
            <a:xfrm>
              <a:off x="18374760" y="735336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Интернет-магазин оборудования для солнечной 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энергетики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2"/>
            <p:cNvSpPr/>
            <p:nvPr/>
          </p:nvSpPr>
          <p:spPr>
            <a:xfrm>
              <a:off x="18298440" y="6759000"/>
              <a:ext cx="5410440" cy="1270440"/>
            </a:xfrm>
            <a:custGeom>
              <a:rect b="b" l="l" r="r" t="t"/>
              <a:pathLst>
                <a:path extrusionOk="0" h="3529" w="15029">
                  <a:moveTo>
                    <a:pt x="0" y="0"/>
                  </a:moveTo>
                  <a:lnTo>
                    <a:pt x="15029" y="0"/>
                  </a:lnTo>
                  <a:lnTo>
                    <a:pt x="15029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4" name="Google Shape;414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400320" y="807732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15" name="Google Shape;415;p32"/>
            <p:cNvSpPr txBox="1"/>
            <p:nvPr/>
          </p:nvSpPr>
          <p:spPr>
            <a:xfrm>
              <a:off x="18374760" y="6934320"/>
              <a:ext cx="46113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Volta Energy</a:t>
              </a:r>
              <a:endParaRPr b="0" sz="9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6" name="Google Shape;416;p32"/>
          <p:cNvGrpSpPr/>
          <p:nvPr/>
        </p:nvGrpSpPr>
        <p:grpSpPr>
          <a:xfrm>
            <a:off x="4656420" y="1958985"/>
            <a:ext cx="2081295" cy="493290"/>
            <a:chOff x="12417120" y="5223960"/>
            <a:chExt cx="5550120" cy="1315440"/>
          </a:xfrm>
        </p:grpSpPr>
        <p:sp>
          <p:nvSpPr>
            <p:cNvPr id="417" name="Google Shape;417;p32"/>
            <p:cNvSpPr/>
            <p:nvPr/>
          </p:nvSpPr>
          <p:spPr>
            <a:xfrm>
              <a:off x="12417120" y="5223960"/>
              <a:ext cx="5550120" cy="1270440"/>
            </a:xfrm>
            <a:custGeom>
              <a:rect b="b" l="l" r="r" t="t"/>
              <a:pathLst>
                <a:path extrusionOk="0" h="3529" w="15417">
                  <a:moveTo>
                    <a:pt x="0" y="0"/>
                  </a:moveTo>
                  <a:lnTo>
                    <a:pt x="15417" y="0"/>
                  </a:lnTo>
                  <a:lnTo>
                    <a:pt x="15417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8" name="Google Shape;41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249400" y="537084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419" name="Google Shape;419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518640" y="651384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20" name="Google Shape;420;p32"/>
            <p:cNvSpPr txBox="1"/>
            <p:nvPr/>
          </p:nvSpPr>
          <p:spPr>
            <a:xfrm>
              <a:off x="12493440" y="5370840"/>
              <a:ext cx="4550400" cy="869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2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Аэропорт Южно-Сахалинск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2"/>
            <p:cNvSpPr txBox="1"/>
            <p:nvPr/>
          </p:nvSpPr>
          <p:spPr>
            <a:xfrm>
              <a:off x="12493440" y="578988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Сайт крупнейшего авиаузла </a:t>
              </a:r>
              <a:endParaRPr b="0" sz="600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/>
                <a:t>н</a:t>
              </a: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а Дальнем Востоке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2" name="Google Shape;422;p32"/>
          <p:cNvGrpSpPr/>
          <p:nvPr/>
        </p:nvGrpSpPr>
        <p:grpSpPr>
          <a:xfrm>
            <a:off x="285795" y="3689955"/>
            <a:ext cx="2095431" cy="476415"/>
            <a:chOff x="762120" y="9839880"/>
            <a:chExt cx="5587816" cy="1270440"/>
          </a:xfrm>
        </p:grpSpPr>
        <p:sp>
          <p:nvSpPr>
            <p:cNvPr id="423" name="Google Shape;423;p32"/>
            <p:cNvSpPr/>
            <p:nvPr/>
          </p:nvSpPr>
          <p:spPr>
            <a:xfrm>
              <a:off x="770400" y="9839880"/>
              <a:ext cx="5419080" cy="1270440"/>
            </a:xfrm>
            <a:custGeom>
              <a:rect b="b" l="l" r="r" t="t"/>
              <a:pathLst>
                <a:path extrusionOk="0" h="3529" w="15053">
                  <a:moveTo>
                    <a:pt x="0" y="0"/>
                  </a:moveTo>
                  <a:lnTo>
                    <a:pt x="15053" y="0"/>
                  </a:lnTo>
                  <a:lnTo>
                    <a:pt x="15053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4" name="Google Shape;424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37160" y="994176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425" name="Google Shape;425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7320" y="1108476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26" name="Google Shape;426;p32"/>
            <p:cNvSpPr txBox="1"/>
            <p:nvPr/>
          </p:nvSpPr>
          <p:spPr>
            <a:xfrm>
              <a:off x="762136" y="9941733"/>
              <a:ext cx="5587800" cy="869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2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ГИС «Энергоэффективность»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2"/>
            <p:cNvSpPr txBox="1"/>
            <p:nvPr/>
          </p:nvSpPr>
          <p:spPr>
            <a:xfrm>
              <a:off x="762120" y="1036080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Система отчетности по выбросу парниковых газов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8" name="Google Shape;428;p32"/>
          <p:cNvGrpSpPr/>
          <p:nvPr/>
        </p:nvGrpSpPr>
        <p:grpSpPr>
          <a:xfrm>
            <a:off x="2490345" y="3689955"/>
            <a:ext cx="2035395" cy="476415"/>
            <a:chOff x="6640920" y="9839880"/>
            <a:chExt cx="5427720" cy="1270440"/>
          </a:xfrm>
        </p:grpSpPr>
        <p:sp>
          <p:nvSpPr>
            <p:cNvPr id="429" name="Google Shape;429;p32"/>
            <p:cNvSpPr/>
            <p:nvPr/>
          </p:nvSpPr>
          <p:spPr>
            <a:xfrm>
              <a:off x="6649560" y="9839880"/>
              <a:ext cx="5419080" cy="1270440"/>
            </a:xfrm>
            <a:custGeom>
              <a:rect b="b" l="l" r="r" t="t"/>
              <a:pathLst>
                <a:path extrusionOk="0" h="3529" w="15053">
                  <a:moveTo>
                    <a:pt x="0" y="0"/>
                  </a:moveTo>
                  <a:lnTo>
                    <a:pt x="15053" y="0"/>
                  </a:lnTo>
                  <a:lnTo>
                    <a:pt x="15053" y="3529"/>
                  </a:lnTo>
                  <a:lnTo>
                    <a:pt x="0" y="352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725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19175" lIns="36050" spcFirstLastPara="1" rIns="36050" wrap="square" tIns="191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7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0" name="Google Shape;4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16320" y="9941760"/>
              <a:ext cx="406440" cy="40644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431" name="Google Shape;4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66480" y="11084760"/>
              <a:ext cx="5384881" cy="2556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32" name="Google Shape;432;p32"/>
            <p:cNvSpPr txBox="1"/>
            <p:nvPr/>
          </p:nvSpPr>
          <p:spPr>
            <a:xfrm>
              <a:off x="6640920" y="9941760"/>
              <a:ext cx="4602900" cy="480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277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 u="sng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29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ПГК</a:t>
              </a:r>
              <a:endParaRPr b="0" sz="9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2"/>
            <p:cNvSpPr txBox="1"/>
            <p:nvPr/>
          </p:nvSpPr>
          <p:spPr>
            <a:xfrm>
              <a:off x="6640920" y="10360800"/>
              <a:ext cx="5397600" cy="700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6875" lIns="33750" spcFirstLastPara="1" rIns="33750" wrap="square" tIns="16875">
              <a:noAutofit/>
            </a:bodyPr>
            <a:lstStyle/>
            <a:p>
              <a:pPr indent="0" lvl="0" marL="0" marR="0" rtl="0" algn="l">
                <a:lnSpc>
                  <a:spcPct val="1500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600" strike="noStrike">
                  <a:solidFill>
                    <a:srgbClr val="202020"/>
                  </a:solidFill>
                  <a:latin typeface="Arial"/>
                  <a:ea typeface="Arial"/>
                  <a:cs typeface="Arial"/>
                  <a:sym typeface="Arial"/>
                </a:rPr>
                <a:t>Корпоративный сайт крупнейшего оператора грузовых ж/д перевозок в России</a:t>
              </a:r>
              <a:endParaRPr b="0" sz="6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3"/>
          <p:cNvSpPr txBox="1"/>
          <p:nvPr/>
        </p:nvSpPr>
        <p:spPr>
          <a:xfrm>
            <a:off x="261268" y="863275"/>
            <a:ext cx="2672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lang="en-US" sz="1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Решения</a:t>
            </a:r>
            <a:endParaRPr sz="3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9" name="Google Shape;439;p33"/>
          <p:cNvSpPr txBox="1"/>
          <p:nvPr/>
        </p:nvSpPr>
        <p:spPr>
          <a:xfrm>
            <a:off x="482525" y="1729900"/>
            <a:ext cx="223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Оптимизируем процессы, продажи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коммуникации и отношения с клиентами.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0" name="Google Shape;440;p33"/>
          <p:cNvSpPr txBox="1"/>
          <p:nvPr/>
        </p:nvSpPr>
        <p:spPr>
          <a:xfrm>
            <a:off x="8707480" y="233375"/>
            <a:ext cx="174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i="0" lang="en-US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4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33"/>
          <p:cNvSpPr txBox="1"/>
          <p:nvPr/>
        </p:nvSpPr>
        <p:spPr>
          <a:xfrm>
            <a:off x="482525" y="1457100"/>
            <a:ext cx="2236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Онлайн-сервисы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2" name="Google Shape;442;p33"/>
          <p:cNvSpPr txBox="1"/>
          <p:nvPr/>
        </p:nvSpPr>
        <p:spPr>
          <a:xfrm>
            <a:off x="251750" y="1457100"/>
            <a:ext cx="174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p33"/>
          <p:cNvSpPr txBox="1"/>
          <p:nvPr/>
        </p:nvSpPr>
        <p:spPr>
          <a:xfrm>
            <a:off x="3164750" y="1729900"/>
            <a:ext cx="2672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Обладаем самой широкой экспертизой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 рынке. Более 15 аэропортов проинтегрировано.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33"/>
          <p:cNvSpPr txBox="1"/>
          <p:nvPr/>
        </p:nvSpPr>
        <p:spPr>
          <a:xfrm>
            <a:off x="3164750" y="1457100"/>
            <a:ext cx="2236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Сайты аэропортов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5" name="Google Shape;445;p33"/>
          <p:cNvSpPr txBox="1"/>
          <p:nvPr/>
        </p:nvSpPr>
        <p:spPr>
          <a:xfrm>
            <a:off x="2933975" y="1457100"/>
            <a:ext cx="204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6" name="Google Shape;446;p33"/>
          <p:cNvSpPr txBox="1"/>
          <p:nvPr/>
        </p:nvSpPr>
        <p:spPr>
          <a:xfrm>
            <a:off x="6042725" y="1723950"/>
            <a:ext cx="2672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Разработаем платформу бренда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 айдентику.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7" name="Google Shape;447;p33"/>
          <p:cNvSpPr txBox="1"/>
          <p:nvPr/>
        </p:nvSpPr>
        <p:spPr>
          <a:xfrm>
            <a:off x="6042725" y="1451150"/>
            <a:ext cx="2236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Брендинг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8" name="Google Shape;448;p33"/>
          <p:cNvSpPr txBox="1"/>
          <p:nvPr/>
        </p:nvSpPr>
        <p:spPr>
          <a:xfrm>
            <a:off x="5811950" y="1451150"/>
            <a:ext cx="204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33"/>
          <p:cNvSpPr txBox="1"/>
          <p:nvPr/>
        </p:nvSpPr>
        <p:spPr>
          <a:xfrm>
            <a:off x="482525" y="2622875"/>
            <a:ext cx="2285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Разработаем прибыльные интернет-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магазины или маркетплейсы.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Google Shape;450;p33"/>
          <p:cNvSpPr txBox="1"/>
          <p:nvPr/>
        </p:nvSpPr>
        <p:spPr>
          <a:xfrm>
            <a:off x="482525" y="2350075"/>
            <a:ext cx="2236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E-commerce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Google Shape;451;p33"/>
          <p:cNvSpPr txBox="1"/>
          <p:nvPr/>
        </p:nvSpPr>
        <p:spPr>
          <a:xfrm>
            <a:off x="251750" y="2350075"/>
            <a:ext cx="204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Google Shape;452;p33"/>
          <p:cNvSpPr txBox="1"/>
          <p:nvPr/>
        </p:nvSpPr>
        <p:spPr>
          <a:xfrm>
            <a:off x="3164750" y="2622875"/>
            <a:ext cx="2285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Повысим инвестиционную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привлекательность компании.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Google Shape;453;p33"/>
          <p:cNvSpPr txBox="1"/>
          <p:nvPr/>
        </p:nvSpPr>
        <p:spPr>
          <a:xfrm>
            <a:off x="3164750" y="2350075"/>
            <a:ext cx="2236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Корпоративные сайты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4" name="Google Shape;454;p33"/>
          <p:cNvSpPr txBox="1"/>
          <p:nvPr/>
        </p:nvSpPr>
        <p:spPr>
          <a:xfrm>
            <a:off x="2933975" y="2350075"/>
            <a:ext cx="204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5" name="Google Shape;455;p33"/>
          <p:cNvSpPr txBox="1"/>
          <p:nvPr/>
        </p:nvSpPr>
        <p:spPr>
          <a:xfrm>
            <a:off x="6042725" y="2622875"/>
            <a:ext cx="2285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кратчайшие сроки запустим цифровой продукт на платформе Tilda.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6" name="Google Shape;456;p33"/>
          <p:cNvSpPr txBox="1"/>
          <p:nvPr/>
        </p:nvSpPr>
        <p:spPr>
          <a:xfrm>
            <a:off x="6042725" y="2350075"/>
            <a:ext cx="2236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No-code разработка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7" name="Google Shape;457;p33"/>
          <p:cNvSpPr txBox="1"/>
          <p:nvPr/>
        </p:nvSpPr>
        <p:spPr>
          <a:xfrm>
            <a:off x="5811950" y="2350075"/>
            <a:ext cx="204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8" name="Google Shape;458;p33"/>
          <p:cNvSpPr txBox="1"/>
          <p:nvPr/>
        </p:nvSpPr>
        <p:spPr>
          <a:xfrm>
            <a:off x="482525" y="3515850"/>
            <a:ext cx="2285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Сделаем онлайн-витрины, которые увеличат конверсию в заявку.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" name="Google Shape;459;p33"/>
          <p:cNvSpPr txBox="1"/>
          <p:nvPr/>
        </p:nvSpPr>
        <p:spPr>
          <a:xfrm>
            <a:off x="482525" y="3243050"/>
            <a:ext cx="2236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Продуктовые каталоги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" name="Google Shape;460;p33"/>
          <p:cNvSpPr txBox="1"/>
          <p:nvPr/>
        </p:nvSpPr>
        <p:spPr>
          <a:xfrm>
            <a:off x="251750" y="3243050"/>
            <a:ext cx="204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Google Shape;461;p33"/>
          <p:cNvSpPr txBox="1"/>
          <p:nvPr/>
        </p:nvSpPr>
        <p:spPr>
          <a:xfrm>
            <a:off x="3164750" y="3515850"/>
            <a:ext cx="244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Увеличим количество и качество соискателей, усилим HR-бренд и сократим расходы. 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Google Shape;462;p33"/>
          <p:cNvSpPr txBox="1"/>
          <p:nvPr/>
        </p:nvSpPr>
        <p:spPr>
          <a:xfrm>
            <a:off x="3164750" y="3243050"/>
            <a:ext cx="2236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Карьерные сайты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33"/>
          <p:cNvSpPr txBox="1"/>
          <p:nvPr/>
        </p:nvSpPr>
        <p:spPr>
          <a:xfrm>
            <a:off x="2933975" y="3243050"/>
            <a:ext cx="204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Google Shape;464;p33"/>
          <p:cNvSpPr txBox="1"/>
          <p:nvPr/>
        </p:nvSpPr>
        <p:spPr>
          <a:xfrm>
            <a:off x="6042725" y="3515850"/>
            <a:ext cx="2592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Объединим сотрудников в едином информационном пространстве и цифровизируем бизнес процессы.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Google Shape;465;p33"/>
          <p:cNvSpPr txBox="1"/>
          <p:nvPr/>
        </p:nvSpPr>
        <p:spPr>
          <a:xfrm>
            <a:off x="6042725" y="3243050"/>
            <a:ext cx="2236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Корпоративные порталы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33"/>
          <p:cNvSpPr txBox="1"/>
          <p:nvPr/>
        </p:nvSpPr>
        <p:spPr>
          <a:xfrm>
            <a:off x="5811950" y="3243050"/>
            <a:ext cx="204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7" name="Google Shape;467;p33"/>
          <p:cNvSpPr txBox="1"/>
          <p:nvPr/>
        </p:nvSpPr>
        <p:spPr>
          <a:xfrm>
            <a:off x="482525" y="4408825"/>
            <a:ext cx="2285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Оцифруем услуги компании и повысим эффективность коммуникации с клиентом.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8" name="Google Shape;468;p33"/>
          <p:cNvSpPr txBox="1"/>
          <p:nvPr/>
        </p:nvSpPr>
        <p:spPr>
          <a:xfrm>
            <a:off x="482525" y="4136025"/>
            <a:ext cx="2236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Порталы и ЛК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" name="Google Shape;469;p33"/>
          <p:cNvSpPr txBox="1"/>
          <p:nvPr/>
        </p:nvSpPr>
        <p:spPr>
          <a:xfrm>
            <a:off x="251750" y="4136025"/>
            <a:ext cx="204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" name="Google Shape;470;p33"/>
          <p:cNvSpPr txBox="1"/>
          <p:nvPr/>
        </p:nvSpPr>
        <p:spPr>
          <a:xfrm>
            <a:off x="3164750" y="4408825"/>
            <a:ext cx="244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Разработаем интерфейс на основе аналитики, метрик и пользовательского опыта.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1" name="Google Shape;471;p33"/>
          <p:cNvSpPr txBox="1"/>
          <p:nvPr/>
        </p:nvSpPr>
        <p:spPr>
          <a:xfrm>
            <a:off x="3164750" y="4136025"/>
            <a:ext cx="2236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UX/UI дизайн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2" name="Google Shape;472;p33"/>
          <p:cNvSpPr txBox="1"/>
          <p:nvPr/>
        </p:nvSpPr>
        <p:spPr>
          <a:xfrm>
            <a:off x="2933975" y="4136025"/>
            <a:ext cx="204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Google Shape;473;p33"/>
          <p:cNvSpPr txBox="1"/>
          <p:nvPr/>
        </p:nvSpPr>
        <p:spPr>
          <a:xfrm>
            <a:off x="6058775" y="4408825"/>
            <a:ext cx="244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Выведем сайт в топ выдачи и улучшим репутацию онлайн с помощью SEO и SERM.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Google Shape;474;p33"/>
          <p:cNvSpPr txBox="1"/>
          <p:nvPr/>
        </p:nvSpPr>
        <p:spPr>
          <a:xfrm>
            <a:off x="6058775" y="4136025"/>
            <a:ext cx="2236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Поисковый маркетинг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5828000" y="4136025"/>
            <a:ext cx="204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sz="10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4"/>
          <p:cNvSpPr txBox="1"/>
          <p:nvPr/>
        </p:nvSpPr>
        <p:spPr>
          <a:xfrm>
            <a:off x="261272" y="863275"/>
            <a:ext cx="1485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lang="en-US" sz="1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Комплекс</a:t>
            </a:r>
            <a:endParaRPr sz="1900">
              <a:solidFill>
                <a:srgbClr val="21212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lang="en-US" sz="1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услуг</a:t>
            </a:r>
            <a:endParaRPr sz="3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81" name="Google Shape;481;p34"/>
          <p:cNvSpPr txBox="1"/>
          <p:nvPr/>
        </p:nvSpPr>
        <p:spPr>
          <a:xfrm>
            <a:off x="8783669" y="233363"/>
            <a:ext cx="97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i="0" lang="en-US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4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2" name="Google Shape;482;p34"/>
          <p:cNvSpPr txBox="1"/>
          <p:nvPr/>
        </p:nvSpPr>
        <p:spPr>
          <a:xfrm>
            <a:off x="2441100" y="1415275"/>
            <a:ext cx="1445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34"/>
          <p:cNvSpPr txBox="1"/>
          <p:nvPr/>
        </p:nvSpPr>
        <p:spPr>
          <a:xfrm>
            <a:off x="2340651" y="1713342"/>
            <a:ext cx="20181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сервисы и порталы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корпоративные сайты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каталоги и витрины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e-commerce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промосайты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системы сайтов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no-code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4" name="Google Shape;48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7725" y="863275"/>
            <a:ext cx="418525" cy="41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4"/>
          <p:cNvSpPr txBox="1"/>
          <p:nvPr/>
        </p:nvSpPr>
        <p:spPr>
          <a:xfrm>
            <a:off x="4616850" y="1415275"/>
            <a:ext cx="1445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Дизайн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Google Shape;486;p34"/>
          <p:cNvSpPr txBox="1"/>
          <p:nvPr/>
        </p:nvSpPr>
        <p:spPr>
          <a:xfrm>
            <a:off x="4516401" y="1713342"/>
            <a:ext cx="20181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дизайн интерфейсов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дизайн-системы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брендинг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3-d визуализация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key visual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графический дизайн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иллюстрации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7" name="Google Shape;48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475" y="863275"/>
            <a:ext cx="418525" cy="41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4"/>
          <p:cNvSpPr txBox="1"/>
          <p:nvPr/>
        </p:nvSpPr>
        <p:spPr>
          <a:xfrm>
            <a:off x="6759325" y="1405725"/>
            <a:ext cx="1445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Поддержка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9" name="Google Shape;489;p34"/>
          <p:cNvSpPr txBox="1"/>
          <p:nvPr/>
        </p:nvSpPr>
        <p:spPr>
          <a:xfrm>
            <a:off x="6675501" y="1713342"/>
            <a:ext cx="2018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техподдержка и развитие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дизайн-поддержка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контент-поддержка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0" name="Google Shape;49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2600" y="871875"/>
            <a:ext cx="418525" cy="41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4"/>
          <p:cNvSpPr txBox="1"/>
          <p:nvPr/>
        </p:nvSpPr>
        <p:spPr>
          <a:xfrm>
            <a:off x="261275" y="3927963"/>
            <a:ext cx="1445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Автоматизация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2" name="Google Shape;492;p34"/>
          <p:cNvSpPr txBox="1"/>
          <p:nvPr/>
        </p:nvSpPr>
        <p:spPr>
          <a:xfrm>
            <a:off x="165776" y="4239905"/>
            <a:ext cx="20181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CRM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корпоративные порталы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3" name="Google Shape;493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6700" y="3389838"/>
            <a:ext cx="418525" cy="41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4"/>
          <p:cNvSpPr txBox="1"/>
          <p:nvPr/>
        </p:nvSpPr>
        <p:spPr>
          <a:xfrm>
            <a:off x="2433975" y="3927963"/>
            <a:ext cx="1445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Аналитика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5" name="Google Shape;495;p34"/>
          <p:cNvSpPr txBox="1"/>
          <p:nvPr/>
        </p:nvSpPr>
        <p:spPr>
          <a:xfrm>
            <a:off x="2359526" y="4239905"/>
            <a:ext cx="2018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UX-аналитика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веб-аналитика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исследования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6" name="Google Shape;496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58000" y="3389838"/>
            <a:ext cx="418525" cy="41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4"/>
          <p:cNvSpPr txBox="1"/>
          <p:nvPr/>
        </p:nvSpPr>
        <p:spPr>
          <a:xfrm>
            <a:off x="4606675" y="3927963"/>
            <a:ext cx="1445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SEO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8" name="Google Shape;498;p34"/>
          <p:cNvSpPr txBox="1"/>
          <p:nvPr/>
        </p:nvSpPr>
        <p:spPr>
          <a:xfrm>
            <a:off x="4516401" y="4239905"/>
            <a:ext cx="20181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оптимизация на этапе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разработки сайта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SEO-поддержка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SEO-аудит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9" name="Google Shape;499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9300" y="3389838"/>
            <a:ext cx="418525" cy="4185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4"/>
          <p:cNvSpPr txBox="1"/>
          <p:nvPr/>
        </p:nvSpPr>
        <p:spPr>
          <a:xfrm>
            <a:off x="6779375" y="3927963"/>
            <a:ext cx="1445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SERM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1" name="Google Shape;501;p34"/>
          <p:cNvSpPr txBox="1"/>
          <p:nvPr/>
        </p:nvSpPr>
        <p:spPr>
          <a:xfrm>
            <a:off x="6673276" y="4239880"/>
            <a:ext cx="2018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продвижение в топ поиска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работа с отзывами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аналитика присутствия в интернете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2" name="Google Shape;502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77675" y="3389850"/>
            <a:ext cx="418525" cy="41852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4"/>
          <p:cNvSpPr/>
          <p:nvPr/>
        </p:nvSpPr>
        <p:spPr>
          <a:xfrm>
            <a:off x="266700" y="3080750"/>
            <a:ext cx="86106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5"/>
          <p:cNvSpPr txBox="1"/>
          <p:nvPr/>
        </p:nvSpPr>
        <p:spPr>
          <a:xfrm>
            <a:off x="261268" y="863275"/>
            <a:ext cx="2672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Дизайн и разработка для крупного бизнеса</a:t>
            </a:r>
            <a:endParaRPr sz="3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09" name="Google Shape;509;p35"/>
          <p:cNvSpPr txBox="1"/>
          <p:nvPr/>
        </p:nvSpPr>
        <p:spPr>
          <a:xfrm>
            <a:off x="6779548" y="4132845"/>
            <a:ext cx="1905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36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600+</a:t>
            </a:r>
            <a:endParaRPr sz="5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10" name="Google Shape;510;p35"/>
          <p:cNvSpPr txBox="1"/>
          <p:nvPr/>
        </p:nvSpPr>
        <p:spPr>
          <a:xfrm>
            <a:off x="6783680" y="4618236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реализованных проектов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1" name="Google Shape;511;p35"/>
          <p:cNvSpPr txBox="1"/>
          <p:nvPr/>
        </p:nvSpPr>
        <p:spPr>
          <a:xfrm>
            <a:off x="4618260" y="2874284"/>
            <a:ext cx="1905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36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16</a:t>
            </a:r>
            <a:endParaRPr sz="5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12" name="Google Shape;512;p35"/>
          <p:cNvSpPr txBox="1"/>
          <p:nvPr/>
        </p:nvSpPr>
        <p:spPr>
          <a:xfrm>
            <a:off x="4617630" y="3359675"/>
            <a:ext cx="198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лет на рынке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3" name="Google Shape;513;p35"/>
          <p:cNvSpPr txBox="1"/>
          <p:nvPr/>
        </p:nvSpPr>
        <p:spPr>
          <a:xfrm>
            <a:off x="4618260" y="4132845"/>
            <a:ext cx="1905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36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90+</a:t>
            </a:r>
            <a:endParaRPr sz="5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14" name="Google Shape;514;p35"/>
          <p:cNvSpPr txBox="1"/>
          <p:nvPr/>
        </p:nvSpPr>
        <p:spPr>
          <a:xfrm>
            <a:off x="4617630" y="4618236"/>
            <a:ext cx="1849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сотрудников в штате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5" name="Google Shape;515;p35"/>
          <p:cNvSpPr txBox="1"/>
          <p:nvPr/>
        </p:nvSpPr>
        <p:spPr>
          <a:xfrm>
            <a:off x="6782335" y="2874284"/>
            <a:ext cx="1905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36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100+</a:t>
            </a:r>
            <a:endParaRPr sz="5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16" name="Google Shape;516;p35"/>
          <p:cNvSpPr txBox="1"/>
          <p:nvPr/>
        </p:nvSpPr>
        <p:spPr>
          <a:xfrm>
            <a:off x="6781704" y="3359675"/>
            <a:ext cx="198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наград на digital-конкурсах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Google Shape;517;p35"/>
          <p:cNvSpPr txBox="1"/>
          <p:nvPr/>
        </p:nvSpPr>
        <p:spPr>
          <a:xfrm>
            <a:off x="6780179" y="1615722"/>
            <a:ext cx="1905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36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18</a:t>
            </a:r>
            <a:endParaRPr sz="5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18" name="Google Shape;518;p35"/>
          <p:cNvSpPr txBox="1"/>
          <p:nvPr/>
        </p:nvSpPr>
        <p:spPr>
          <a:xfrm>
            <a:off x="6779548" y="2101113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клиентов из списка Forbes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9" name="Google Shape;519;p35"/>
          <p:cNvSpPr txBox="1"/>
          <p:nvPr/>
        </p:nvSpPr>
        <p:spPr>
          <a:xfrm>
            <a:off x="4614128" y="1615722"/>
            <a:ext cx="1905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36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топ-10</a:t>
            </a:r>
            <a:endParaRPr sz="5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20" name="Google Shape;520;p35"/>
          <p:cNvSpPr txBox="1"/>
          <p:nvPr/>
        </p:nvSpPr>
        <p:spPr>
          <a:xfrm>
            <a:off x="4618260" y="2101113"/>
            <a:ext cx="198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web-разработчиков России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Google Shape;521;p35"/>
          <p:cNvSpPr txBox="1"/>
          <p:nvPr/>
        </p:nvSpPr>
        <p:spPr>
          <a:xfrm>
            <a:off x="8783669" y="233363"/>
            <a:ext cx="97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i="0" lang="en-US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4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2" name="Google Shape;522;p35"/>
          <p:cNvSpPr txBox="1"/>
          <p:nvPr/>
        </p:nvSpPr>
        <p:spPr>
          <a:xfrm>
            <a:off x="266700" y="4128100"/>
            <a:ext cx="3636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Создаем функциональные сайты и цифро-</a:t>
            </a:r>
            <a:endParaRPr i="0" sz="1300" u="none" cap="none" strike="noStrike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вые сервисы, которые позволяют расти, зарабатывать и быть лидерами в отрасли.</a:t>
            </a:r>
            <a:endParaRPr sz="3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 txBox="1"/>
          <p:nvPr>
            <p:ph idx="4294967295" type="sldNum"/>
          </p:nvPr>
        </p:nvSpPr>
        <p:spPr>
          <a:xfrm>
            <a:off x="8779864" y="233363"/>
            <a:ext cx="9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8" name="Google Shape;528;p36"/>
          <p:cNvSpPr txBox="1"/>
          <p:nvPr/>
        </p:nvSpPr>
        <p:spPr>
          <a:xfrm>
            <a:off x="261268" y="863275"/>
            <a:ext cx="3260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Разработка портала с личным кабинетом</a:t>
            </a:r>
            <a:endParaRPr sz="3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29" name="Google Shape;529;p36"/>
          <p:cNvSpPr txBox="1"/>
          <p:nvPr/>
        </p:nvSpPr>
        <p:spPr>
          <a:xfrm>
            <a:off x="273350" y="2143975"/>
            <a:ext cx="36741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Привлечение новых пациентов и удержание текущих. Предоставление пользователям информации о клинике, ее услугах. Обеспечение удобства взаимодействия с</a:t>
            </a:r>
            <a:r>
              <a:rPr lang="en-US" sz="13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клиникой.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0" name="Google Shape;530;p36"/>
          <p:cNvSpPr txBox="1"/>
          <p:nvPr/>
        </p:nvSpPr>
        <p:spPr>
          <a:xfrm>
            <a:off x="4614103" y="2167989"/>
            <a:ext cx="38577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Максимально эффективно раскрыть информацию об</a:t>
            </a: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услугах и направлениях. Удобная и понятная структура продуктов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1" name="Google Shape;531;p36"/>
          <p:cNvSpPr txBox="1"/>
          <p:nvPr/>
        </p:nvSpPr>
        <p:spPr>
          <a:xfrm>
            <a:off x="268579" y="1723512"/>
            <a:ext cx="4260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Цель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2" name="Google Shape;532;p36"/>
          <p:cNvSpPr txBox="1"/>
          <p:nvPr/>
        </p:nvSpPr>
        <p:spPr>
          <a:xfrm>
            <a:off x="4619420" y="1723512"/>
            <a:ext cx="4260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Задачи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Google Shape;533;p36"/>
          <p:cNvSpPr txBox="1"/>
          <p:nvPr/>
        </p:nvSpPr>
        <p:spPr>
          <a:xfrm>
            <a:off x="4347105" y="2194525"/>
            <a:ext cx="216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Google Shape;534;p36"/>
          <p:cNvSpPr txBox="1"/>
          <p:nvPr/>
        </p:nvSpPr>
        <p:spPr>
          <a:xfrm>
            <a:off x="4614103" y="2826369"/>
            <a:ext cx="3857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Показать преимущества клиники, сделав акцент на</a:t>
            </a: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УТП и сильные стороны — опыт и научную </a:t>
            </a: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составляющую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Google Shape;535;p36"/>
          <p:cNvSpPr txBox="1"/>
          <p:nvPr/>
        </p:nvSpPr>
        <p:spPr>
          <a:xfrm>
            <a:off x="4347105" y="2852905"/>
            <a:ext cx="216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Google Shape;536;p36"/>
          <p:cNvSpPr txBox="1"/>
          <p:nvPr/>
        </p:nvSpPr>
        <p:spPr>
          <a:xfrm>
            <a:off x="4614103" y="3308537"/>
            <a:ext cx="38577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Сформировать устойчивую лояльность пациентов и</a:t>
            </a: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профессионального сообщества. Разработать наиболее удобные пользовательские пути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Google Shape;537;p36"/>
          <p:cNvSpPr txBox="1"/>
          <p:nvPr/>
        </p:nvSpPr>
        <p:spPr>
          <a:xfrm>
            <a:off x="4347105" y="3335072"/>
            <a:ext cx="216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7"/>
          <p:cNvSpPr/>
          <p:nvPr/>
        </p:nvSpPr>
        <p:spPr>
          <a:xfrm>
            <a:off x="0" y="-13031"/>
            <a:ext cx="9144000" cy="1680300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3" name="Google Shape;543;p37"/>
          <p:cNvSpPr txBox="1"/>
          <p:nvPr>
            <p:ph idx="12" type="sldNum"/>
          </p:nvPr>
        </p:nvSpPr>
        <p:spPr>
          <a:xfrm>
            <a:off x="8780143" y="233363"/>
            <a:ext cx="97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4" name="Google Shape;544;p37"/>
          <p:cNvSpPr txBox="1"/>
          <p:nvPr/>
        </p:nvSpPr>
        <p:spPr>
          <a:xfrm>
            <a:off x="251751" y="863275"/>
            <a:ext cx="4033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Стоимость реализации проекта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545" name="Google Shape;545;p37"/>
          <p:cNvGraphicFramePr/>
          <p:nvPr/>
        </p:nvGraphicFramePr>
        <p:xfrm>
          <a:off x="282931" y="13234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{CB3D5205-A638-40E8-9367-87A60A20FF23}</a:tableStyleId>
              </a:tblPr>
              <a:tblGrid>
                <a:gridCol w="2888725"/>
                <a:gridCol w="1404950"/>
                <a:gridCol w="1404950"/>
              </a:tblGrid>
              <a:tr h="34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Услуги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Количество часов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Стоимость, ₽</a:t>
                      </a:r>
                      <a:r>
                        <a:rPr lang="en-US" sz="800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*</a:t>
                      </a: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1. Проектирование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47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122 200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2. Аналитика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67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171 600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3. Дизайн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211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548 600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4. Верстка и программирование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63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81 900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5. Тестирование и запуск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42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109 200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5. Тестирование и запуск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56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129 200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НДС*, 5%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188 980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Итог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534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1 493 680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546" name="Google Shape;546;p37"/>
          <p:cNvSpPr txBox="1"/>
          <p:nvPr/>
        </p:nvSpPr>
        <p:spPr>
          <a:xfrm>
            <a:off x="6658750" y="4080450"/>
            <a:ext cx="723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lang="en-US" sz="600">
                <a:solidFill>
                  <a:srgbClr val="999999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*</a:t>
            </a:r>
            <a:endParaRPr sz="6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idx="12" type="sldNum"/>
          </p:nvPr>
        </p:nvSpPr>
        <p:spPr>
          <a:xfrm>
            <a:off x="8778999" y="233363"/>
            <a:ext cx="9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2" name="Google Shape;552;p38"/>
          <p:cNvSpPr txBox="1"/>
          <p:nvPr/>
        </p:nvSpPr>
        <p:spPr>
          <a:xfrm>
            <a:off x="266030" y="863275"/>
            <a:ext cx="3547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Стоимость и сроки </a:t>
            </a:r>
            <a:b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разработки на 1С-Битрикс</a:t>
            </a:r>
            <a:endParaRPr sz="3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53" name="Google Shape;553;p38"/>
          <p:cNvSpPr/>
          <p:nvPr/>
        </p:nvSpPr>
        <p:spPr>
          <a:xfrm>
            <a:off x="266700" y="1724267"/>
            <a:ext cx="42681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4" name="Google Shape;554;p38"/>
          <p:cNvSpPr txBox="1"/>
          <p:nvPr/>
        </p:nvSpPr>
        <p:spPr>
          <a:xfrm>
            <a:off x="267636" y="2250674"/>
            <a:ext cx="2829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1 200 000</a:t>
            </a: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 ₽</a:t>
            </a:r>
            <a:r>
              <a:rPr lang="en-US" sz="2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*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55" name="Google Shape;555;p38"/>
          <p:cNvSpPr/>
          <p:nvPr/>
        </p:nvSpPr>
        <p:spPr>
          <a:xfrm>
            <a:off x="266700" y="3015442"/>
            <a:ext cx="42681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6" name="Google Shape;556;p38"/>
          <p:cNvSpPr txBox="1"/>
          <p:nvPr/>
        </p:nvSpPr>
        <p:spPr>
          <a:xfrm>
            <a:off x="269968" y="1825677"/>
            <a:ext cx="282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</a:t>
            </a: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Landing page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7" name="Google Shape;557;p38"/>
          <p:cNvSpPr/>
          <p:nvPr/>
        </p:nvSpPr>
        <p:spPr>
          <a:xfrm>
            <a:off x="4614657" y="1724267"/>
            <a:ext cx="42576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8" name="Google Shape;558;p38"/>
          <p:cNvSpPr txBox="1"/>
          <p:nvPr/>
        </p:nvSpPr>
        <p:spPr>
          <a:xfrm>
            <a:off x="4615321" y="2250674"/>
            <a:ext cx="2805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3 400 000</a:t>
            </a: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 ₽*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59" name="Google Shape;559;p38"/>
          <p:cNvSpPr/>
          <p:nvPr/>
        </p:nvSpPr>
        <p:spPr>
          <a:xfrm>
            <a:off x="4614657" y="3015442"/>
            <a:ext cx="42576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0" name="Google Shape;560;p38"/>
          <p:cNvSpPr txBox="1"/>
          <p:nvPr/>
        </p:nvSpPr>
        <p:spPr>
          <a:xfrm>
            <a:off x="4613054" y="1825677"/>
            <a:ext cx="28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</a:t>
            </a: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сайта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Google Shape;561;p38"/>
          <p:cNvSpPr txBox="1"/>
          <p:nvPr/>
        </p:nvSpPr>
        <p:spPr>
          <a:xfrm>
            <a:off x="266264" y="3485604"/>
            <a:ext cx="2829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4 мес.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62" name="Google Shape;562;p38"/>
          <p:cNvSpPr txBox="1"/>
          <p:nvPr/>
        </p:nvSpPr>
        <p:spPr>
          <a:xfrm>
            <a:off x="268596" y="3113576"/>
            <a:ext cx="282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разработки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Google Shape;563;p38"/>
          <p:cNvSpPr txBox="1"/>
          <p:nvPr/>
        </p:nvSpPr>
        <p:spPr>
          <a:xfrm>
            <a:off x="4609186" y="3485604"/>
            <a:ext cx="2805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5 мес.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64" name="Google Shape;564;p38"/>
          <p:cNvSpPr txBox="1"/>
          <p:nvPr/>
        </p:nvSpPr>
        <p:spPr>
          <a:xfrm>
            <a:off x="4611681" y="3113576"/>
            <a:ext cx="28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разработки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5" name="Google Shape;565;p38"/>
          <p:cNvSpPr txBox="1"/>
          <p:nvPr/>
        </p:nvSpPr>
        <p:spPr>
          <a:xfrm>
            <a:off x="267412" y="4109748"/>
            <a:ext cx="2111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sng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Референс 1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6" name="Google Shape;566;p38"/>
          <p:cNvSpPr txBox="1"/>
          <p:nvPr/>
        </p:nvSpPr>
        <p:spPr>
          <a:xfrm>
            <a:off x="1113463" y="4107432"/>
            <a:ext cx="2111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sng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Референс 2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7" name="Google Shape;567;p38"/>
          <p:cNvSpPr txBox="1"/>
          <p:nvPr/>
        </p:nvSpPr>
        <p:spPr>
          <a:xfrm>
            <a:off x="4507624" y="4443558"/>
            <a:ext cx="26214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-9525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без личного кабинета и интеграции</a:t>
            </a:r>
            <a:endParaRPr sz="500">
              <a:latin typeface="Inter"/>
              <a:ea typeface="Inter"/>
              <a:cs typeface="Inter"/>
              <a:sym typeface="Inter"/>
            </a:endParaRPr>
          </a:p>
          <a:p>
            <a:pPr indent="-95250" lvl="0" marL="1016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оценка включает две версии </a:t>
            </a:r>
            <a:endParaRPr sz="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8" name="Google Shape;568;p38"/>
          <p:cNvSpPr txBox="1"/>
          <p:nvPr/>
        </p:nvSpPr>
        <p:spPr>
          <a:xfrm>
            <a:off x="4614297" y="4109748"/>
            <a:ext cx="2111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sng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Референс 1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9" name="Google Shape;569;p38"/>
          <p:cNvSpPr txBox="1"/>
          <p:nvPr/>
        </p:nvSpPr>
        <p:spPr>
          <a:xfrm>
            <a:off x="5469873" y="4107432"/>
            <a:ext cx="2111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sng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Референс 2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9"/>
          <p:cNvSpPr txBox="1"/>
          <p:nvPr>
            <p:ph idx="12" type="sldNum"/>
          </p:nvPr>
        </p:nvSpPr>
        <p:spPr>
          <a:xfrm>
            <a:off x="8779306" y="233363"/>
            <a:ext cx="99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5" name="Google Shape;575;p39"/>
          <p:cNvSpPr txBox="1"/>
          <p:nvPr/>
        </p:nvSpPr>
        <p:spPr>
          <a:xfrm>
            <a:off x="266030" y="863275"/>
            <a:ext cx="3547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Стоимость и сроки </a:t>
            </a:r>
            <a:b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разработки на 1С-Битрикс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76" name="Google Shape;576;p39"/>
          <p:cNvSpPr/>
          <p:nvPr/>
        </p:nvSpPr>
        <p:spPr>
          <a:xfrm>
            <a:off x="266700" y="1725828"/>
            <a:ext cx="42681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7" name="Google Shape;577;p39"/>
          <p:cNvSpPr txBox="1"/>
          <p:nvPr/>
        </p:nvSpPr>
        <p:spPr>
          <a:xfrm>
            <a:off x="267636" y="2245911"/>
            <a:ext cx="2829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1 200 000 ₽*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78" name="Google Shape;578;p39"/>
          <p:cNvSpPr/>
          <p:nvPr/>
        </p:nvSpPr>
        <p:spPr>
          <a:xfrm>
            <a:off x="4618179" y="1725828"/>
            <a:ext cx="42513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9" name="Google Shape;579;p39"/>
          <p:cNvSpPr txBox="1"/>
          <p:nvPr/>
        </p:nvSpPr>
        <p:spPr>
          <a:xfrm>
            <a:off x="269968" y="1820915"/>
            <a:ext cx="282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Landing page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0" name="Google Shape;580;p39"/>
          <p:cNvSpPr txBox="1"/>
          <p:nvPr/>
        </p:nvSpPr>
        <p:spPr>
          <a:xfrm>
            <a:off x="4617743" y="2248958"/>
            <a:ext cx="2829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4 мес.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1" name="Google Shape;581;p39"/>
          <p:cNvSpPr txBox="1"/>
          <p:nvPr/>
        </p:nvSpPr>
        <p:spPr>
          <a:xfrm>
            <a:off x="4615312" y="1823962"/>
            <a:ext cx="282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разработки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2" name="Google Shape;582;p39"/>
          <p:cNvSpPr txBox="1"/>
          <p:nvPr/>
        </p:nvSpPr>
        <p:spPr>
          <a:xfrm>
            <a:off x="266700" y="2896334"/>
            <a:ext cx="2111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sng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Референс 1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3" name="Google Shape;583;p39"/>
          <p:cNvSpPr txBox="1"/>
          <p:nvPr/>
        </p:nvSpPr>
        <p:spPr>
          <a:xfrm>
            <a:off x="1122276" y="2894018"/>
            <a:ext cx="2111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sng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Референс 2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0"/>
          <p:cNvSpPr txBox="1"/>
          <p:nvPr>
            <p:ph idx="12" type="sldNum"/>
          </p:nvPr>
        </p:nvSpPr>
        <p:spPr>
          <a:xfrm>
            <a:off x="8700595" y="233375"/>
            <a:ext cx="17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Google Shape;589;p40"/>
          <p:cNvSpPr txBox="1"/>
          <p:nvPr/>
        </p:nvSpPr>
        <p:spPr>
          <a:xfrm>
            <a:off x="266030" y="863275"/>
            <a:ext cx="2830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Стоимость и сроки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90" name="Google Shape;590;p40"/>
          <p:cNvSpPr/>
          <p:nvPr/>
        </p:nvSpPr>
        <p:spPr>
          <a:xfrm>
            <a:off x="266700" y="1724267"/>
            <a:ext cx="28281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1" name="Google Shape;591;p40"/>
          <p:cNvSpPr txBox="1"/>
          <p:nvPr/>
        </p:nvSpPr>
        <p:spPr>
          <a:xfrm>
            <a:off x="267636" y="2250674"/>
            <a:ext cx="2829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350 000 ₽*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92" name="Google Shape;592;p40"/>
          <p:cNvSpPr/>
          <p:nvPr/>
        </p:nvSpPr>
        <p:spPr>
          <a:xfrm>
            <a:off x="266700" y="3015442"/>
            <a:ext cx="28281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3" name="Google Shape;593;p40"/>
          <p:cNvSpPr txBox="1"/>
          <p:nvPr/>
        </p:nvSpPr>
        <p:spPr>
          <a:xfrm>
            <a:off x="269968" y="1825677"/>
            <a:ext cx="282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фирменного стиля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4" name="Google Shape;594;p40"/>
          <p:cNvSpPr/>
          <p:nvPr/>
        </p:nvSpPr>
        <p:spPr>
          <a:xfrm>
            <a:off x="3176382" y="1724267"/>
            <a:ext cx="28044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5" name="Google Shape;595;p40"/>
          <p:cNvSpPr txBox="1"/>
          <p:nvPr/>
        </p:nvSpPr>
        <p:spPr>
          <a:xfrm>
            <a:off x="3172283" y="2250674"/>
            <a:ext cx="2805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650 000 ₽*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96" name="Google Shape;596;p40"/>
          <p:cNvSpPr/>
          <p:nvPr/>
        </p:nvSpPr>
        <p:spPr>
          <a:xfrm>
            <a:off x="3176382" y="3015442"/>
            <a:ext cx="28044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7" name="Google Shape;597;p40"/>
          <p:cNvSpPr txBox="1"/>
          <p:nvPr/>
        </p:nvSpPr>
        <p:spPr>
          <a:xfrm>
            <a:off x="3174779" y="1825677"/>
            <a:ext cx="28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дизайн-концепция сайта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8" name="Google Shape;598;p40"/>
          <p:cNvSpPr/>
          <p:nvPr/>
        </p:nvSpPr>
        <p:spPr>
          <a:xfrm>
            <a:off x="6062203" y="1724267"/>
            <a:ext cx="28044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9" name="Google Shape;599;p40"/>
          <p:cNvSpPr txBox="1"/>
          <p:nvPr/>
        </p:nvSpPr>
        <p:spPr>
          <a:xfrm>
            <a:off x="6058244" y="2250674"/>
            <a:ext cx="2805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от 650 000 ₽*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00" name="Google Shape;600;p40"/>
          <p:cNvSpPr/>
          <p:nvPr/>
        </p:nvSpPr>
        <p:spPr>
          <a:xfrm>
            <a:off x="6062203" y="3015442"/>
            <a:ext cx="28044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1" name="Google Shape;601;p40"/>
          <p:cNvSpPr txBox="1"/>
          <p:nvPr/>
        </p:nvSpPr>
        <p:spPr>
          <a:xfrm>
            <a:off x="6060600" y="1825677"/>
            <a:ext cx="28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дизайн-концепция сайта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2" name="Google Shape;602;p40"/>
          <p:cNvSpPr txBox="1"/>
          <p:nvPr/>
        </p:nvSpPr>
        <p:spPr>
          <a:xfrm>
            <a:off x="266264" y="3538573"/>
            <a:ext cx="2829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1-2 мес.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03" name="Google Shape;603;p40"/>
          <p:cNvSpPr txBox="1"/>
          <p:nvPr/>
        </p:nvSpPr>
        <p:spPr>
          <a:xfrm>
            <a:off x="268596" y="3113576"/>
            <a:ext cx="282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разработки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4" name="Google Shape;604;p40"/>
          <p:cNvSpPr txBox="1"/>
          <p:nvPr/>
        </p:nvSpPr>
        <p:spPr>
          <a:xfrm>
            <a:off x="3175674" y="3538573"/>
            <a:ext cx="2805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1,5-2,5 мес.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05" name="Google Shape;605;p40"/>
          <p:cNvSpPr txBox="1"/>
          <p:nvPr/>
        </p:nvSpPr>
        <p:spPr>
          <a:xfrm>
            <a:off x="3173406" y="3113576"/>
            <a:ext cx="28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разработки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6" name="Google Shape;606;p40"/>
          <p:cNvSpPr txBox="1"/>
          <p:nvPr/>
        </p:nvSpPr>
        <p:spPr>
          <a:xfrm>
            <a:off x="6056872" y="3538573"/>
            <a:ext cx="2805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1,5-2,5 мес.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07" name="Google Shape;607;p40"/>
          <p:cNvSpPr txBox="1"/>
          <p:nvPr/>
        </p:nvSpPr>
        <p:spPr>
          <a:xfrm>
            <a:off x="6059227" y="3113576"/>
            <a:ext cx="28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разработки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1"/>
          <p:cNvSpPr txBox="1"/>
          <p:nvPr>
            <p:ph idx="12" type="sldNum"/>
          </p:nvPr>
        </p:nvSpPr>
        <p:spPr>
          <a:xfrm>
            <a:off x="8665201" y="233375"/>
            <a:ext cx="213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3" name="Google Shape;613;p41"/>
          <p:cNvSpPr txBox="1"/>
          <p:nvPr/>
        </p:nvSpPr>
        <p:spPr>
          <a:xfrm>
            <a:off x="266030" y="863275"/>
            <a:ext cx="2830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Стоимость и сроки</a:t>
            </a:r>
            <a:endParaRPr sz="3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14" name="Google Shape;614;p41"/>
          <p:cNvSpPr/>
          <p:nvPr/>
        </p:nvSpPr>
        <p:spPr>
          <a:xfrm>
            <a:off x="266700" y="1724267"/>
            <a:ext cx="42585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5" name="Google Shape;615;p41"/>
          <p:cNvSpPr txBox="1"/>
          <p:nvPr/>
        </p:nvSpPr>
        <p:spPr>
          <a:xfrm>
            <a:off x="267636" y="2250674"/>
            <a:ext cx="2829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350 000 ₽</a:t>
            </a:r>
            <a:r>
              <a:rPr lang="en-US" sz="2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*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16" name="Google Shape;616;p41"/>
          <p:cNvSpPr/>
          <p:nvPr/>
        </p:nvSpPr>
        <p:spPr>
          <a:xfrm>
            <a:off x="266700" y="3015442"/>
            <a:ext cx="42576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7" name="Google Shape;617;p41"/>
          <p:cNvSpPr txBox="1"/>
          <p:nvPr/>
        </p:nvSpPr>
        <p:spPr>
          <a:xfrm>
            <a:off x="269968" y="1825677"/>
            <a:ext cx="282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фирменного стиля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8" name="Google Shape;618;p41"/>
          <p:cNvSpPr/>
          <p:nvPr/>
        </p:nvSpPr>
        <p:spPr>
          <a:xfrm>
            <a:off x="4633707" y="1724267"/>
            <a:ext cx="42450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9" name="Google Shape;619;p41"/>
          <p:cNvSpPr txBox="1"/>
          <p:nvPr/>
        </p:nvSpPr>
        <p:spPr>
          <a:xfrm>
            <a:off x="4634371" y="2250674"/>
            <a:ext cx="2805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650 000 ₽*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20" name="Google Shape;620;p41"/>
          <p:cNvSpPr/>
          <p:nvPr/>
        </p:nvSpPr>
        <p:spPr>
          <a:xfrm>
            <a:off x="4633707" y="3015442"/>
            <a:ext cx="42450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1" name="Google Shape;621;p41"/>
          <p:cNvSpPr txBox="1"/>
          <p:nvPr/>
        </p:nvSpPr>
        <p:spPr>
          <a:xfrm>
            <a:off x="4636866" y="1825677"/>
            <a:ext cx="28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дизайн-концепция сайта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Google Shape;622;p41"/>
          <p:cNvSpPr txBox="1"/>
          <p:nvPr/>
        </p:nvSpPr>
        <p:spPr>
          <a:xfrm>
            <a:off x="271027" y="3538573"/>
            <a:ext cx="2829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1-2 мес.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23" name="Google Shape;623;p41"/>
          <p:cNvSpPr txBox="1"/>
          <p:nvPr/>
        </p:nvSpPr>
        <p:spPr>
          <a:xfrm>
            <a:off x="273358" y="3113576"/>
            <a:ext cx="282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разработки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4" name="Google Shape;624;p41"/>
          <p:cNvSpPr txBox="1"/>
          <p:nvPr/>
        </p:nvSpPr>
        <p:spPr>
          <a:xfrm>
            <a:off x="4637761" y="3538573"/>
            <a:ext cx="2805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1,5-2,5 мес.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25" name="Google Shape;625;p41"/>
          <p:cNvSpPr txBox="1"/>
          <p:nvPr/>
        </p:nvSpPr>
        <p:spPr>
          <a:xfrm>
            <a:off x="4640256" y="3113576"/>
            <a:ext cx="28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разработки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2"/>
          <p:cNvSpPr/>
          <p:nvPr/>
        </p:nvSpPr>
        <p:spPr>
          <a:xfrm>
            <a:off x="0" y="0"/>
            <a:ext cx="9144000" cy="1800600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1" name="Google Shape;631;p42"/>
          <p:cNvSpPr txBox="1"/>
          <p:nvPr/>
        </p:nvSpPr>
        <p:spPr>
          <a:xfrm>
            <a:off x="251743" y="863275"/>
            <a:ext cx="3558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Тарифные планы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632" name="Google Shape;632;p42"/>
          <p:cNvGraphicFramePr/>
          <p:nvPr/>
        </p:nvGraphicFramePr>
        <p:xfrm>
          <a:off x="266700" y="13535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{CB3D5205-A638-40E8-9367-87A60A20FF23}</a:tableStyleId>
              </a:tblPr>
              <a:tblGrid>
                <a:gridCol w="1835900"/>
                <a:gridCol w="1331025"/>
                <a:gridCol w="1331025"/>
                <a:gridCol w="1331025"/>
                <a:gridCol w="1331025"/>
              </a:tblGrid>
              <a:tr h="44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Услуги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Стоимость, ₽*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Стоимость часа  в тарифе, ₽*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Количество часов**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Стоимость часа  сверх тарифа, ₽*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</a:tr>
              <a:tr h="44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Тарифный план 1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25 000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2 500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2 600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Тарифный план 2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36 000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2 400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2 600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Тарифный план 3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57 500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2 300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2 600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Тарифный план 4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105 000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2 100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51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2 600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Тарифный план 5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140 000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2 000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2 600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3" name="Google Shape;633;p42"/>
          <p:cNvSpPr txBox="1"/>
          <p:nvPr/>
        </p:nvSpPr>
        <p:spPr>
          <a:xfrm>
            <a:off x="8724721" y="233375"/>
            <a:ext cx="151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i="0" lang="en-US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3"/>
          <p:cNvSpPr txBox="1"/>
          <p:nvPr>
            <p:ph idx="12" type="sldNum"/>
          </p:nvPr>
        </p:nvSpPr>
        <p:spPr>
          <a:xfrm>
            <a:off x="8654900" y="233375"/>
            <a:ext cx="234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9" name="Google Shape;639;p43"/>
          <p:cNvSpPr/>
          <p:nvPr/>
        </p:nvSpPr>
        <p:spPr>
          <a:xfrm>
            <a:off x="266700" y="1724267"/>
            <a:ext cx="28248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0" name="Google Shape;640;p43"/>
          <p:cNvSpPr txBox="1"/>
          <p:nvPr/>
        </p:nvSpPr>
        <p:spPr>
          <a:xfrm>
            <a:off x="267636" y="2250674"/>
            <a:ext cx="2829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10+ млн</a:t>
            </a:r>
            <a:r>
              <a:rPr lang="en-US" sz="2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*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41" name="Google Shape;641;p43"/>
          <p:cNvSpPr/>
          <p:nvPr/>
        </p:nvSpPr>
        <p:spPr>
          <a:xfrm>
            <a:off x="266700" y="3013086"/>
            <a:ext cx="28248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2" name="Google Shape;642;p43"/>
          <p:cNvSpPr txBox="1"/>
          <p:nvPr/>
        </p:nvSpPr>
        <p:spPr>
          <a:xfrm>
            <a:off x="269968" y="1825677"/>
            <a:ext cx="282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Landing page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Google Shape;643;p43"/>
          <p:cNvSpPr/>
          <p:nvPr/>
        </p:nvSpPr>
        <p:spPr>
          <a:xfrm>
            <a:off x="3171620" y="1724267"/>
            <a:ext cx="28083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4" name="Google Shape;644;p43"/>
          <p:cNvSpPr txBox="1"/>
          <p:nvPr/>
        </p:nvSpPr>
        <p:spPr>
          <a:xfrm>
            <a:off x="3172283" y="2250674"/>
            <a:ext cx="2805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≈10 млн</a:t>
            </a:r>
            <a:r>
              <a:rPr lang="en-US" sz="2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*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45" name="Google Shape;645;p43"/>
          <p:cNvSpPr/>
          <p:nvPr/>
        </p:nvSpPr>
        <p:spPr>
          <a:xfrm>
            <a:off x="3171620" y="3015442"/>
            <a:ext cx="2806500" cy="72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6" name="Google Shape;646;p43"/>
          <p:cNvSpPr txBox="1"/>
          <p:nvPr/>
        </p:nvSpPr>
        <p:spPr>
          <a:xfrm>
            <a:off x="3174779" y="1825677"/>
            <a:ext cx="28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корпоративного сайта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43"/>
          <p:cNvSpPr txBox="1"/>
          <p:nvPr/>
        </p:nvSpPr>
        <p:spPr>
          <a:xfrm>
            <a:off x="271027" y="3538573"/>
            <a:ext cx="28290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4 мес.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48" name="Google Shape;648;p43"/>
          <p:cNvSpPr txBox="1"/>
          <p:nvPr/>
        </p:nvSpPr>
        <p:spPr>
          <a:xfrm>
            <a:off x="269968" y="3113576"/>
            <a:ext cx="282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разработки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9" name="Google Shape;649;p43"/>
          <p:cNvSpPr txBox="1"/>
          <p:nvPr/>
        </p:nvSpPr>
        <p:spPr>
          <a:xfrm>
            <a:off x="3175674" y="3538573"/>
            <a:ext cx="2805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5 мес.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50" name="Google Shape;650;p43"/>
          <p:cNvSpPr txBox="1"/>
          <p:nvPr/>
        </p:nvSpPr>
        <p:spPr>
          <a:xfrm>
            <a:off x="3178169" y="3113576"/>
            <a:ext cx="28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разработки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1" name="Google Shape;651;p43"/>
          <p:cNvSpPr/>
          <p:nvPr/>
        </p:nvSpPr>
        <p:spPr>
          <a:xfrm>
            <a:off x="6058064" y="1724267"/>
            <a:ext cx="28083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2" name="Google Shape;652;p43"/>
          <p:cNvSpPr txBox="1"/>
          <p:nvPr/>
        </p:nvSpPr>
        <p:spPr>
          <a:xfrm>
            <a:off x="6058728" y="2250674"/>
            <a:ext cx="2805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от 10 млн</a:t>
            </a:r>
            <a:r>
              <a:rPr lang="en-US" sz="2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*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53" name="Google Shape;653;p43"/>
          <p:cNvSpPr/>
          <p:nvPr/>
        </p:nvSpPr>
        <p:spPr>
          <a:xfrm>
            <a:off x="6058064" y="3015442"/>
            <a:ext cx="2806500" cy="72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4" name="Google Shape;654;p43"/>
          <p:cNvSpPr txBox="1"/>
          <p:nvPr/>
        </p:nvSpPr>
        <p:spPr>
          <a:xfrm>
            <a:off x="6061224" y="1825677"/>
            <a:ext cx="28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карьерного сайта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Google Shape;655;p43"/>
          <p:cNvSpPr txBox="1"/>
          <p:nvPr/>
        </p:nvSpPr>
        <p:spPr>
          <a:xfrm>
            <a:off x="6062119" y="3538573"/>
            <a:ext cx="2805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5 мес.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56" name="Google Shape;656;p43"/>
          <p:cNvSpPr txBox="1"/>
          <p:nvPr/>
        </p:nvSpPr>
        <p:spPr>
          <a:xfrm>
            <a:off x="6064614" y="3113576"/>
            <a:ext cx="2805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разработки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7" name="Google Shape;657;p43"/>
          <p:cNvSpPr txBox="1"/>
          <p:nvPr/>
        </p:nvSpPr>
        <p:spPr>
          <a:xfrm>
            <a:off x="266030" y="863275"/>
            <a:ext cx="2830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Стоимость и сроки</a:t>
            </a:r>
            <a:endParaRPr sz="300"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4"/>
          <p:cNvSpPr/>
          <p:nvPr/>
        </p:nvSpPr>
        <p:spPr>
          <a:xfrm>
            <a:off x="0" y="-13031"/>
            <a:ext cx="9144000" cy="1680300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i="0" sz="12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3" name="Google Shape;663;p44"/>
          <p:cNvSpPr txBox="1"/>
          <p:nvPr>
            <p:ph idx="4294967295" type="sldNum"/>
          </p:nvPr>
        </p:nvSpPr>
        <p:spPr>
          <a:xfrm>
            <a:off x="8704051" y="233375"/>
            <a:ext cx="17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4" name="Google Shape;664;p44"/>
          <p:cNvSpPr txBox="1"/>
          <p:nvPr/>
        </p:nvSpPr>
        <p:spPr>
          <a:xfrm>
            <a:off x="251743" y="863275"/>
            <a:ext cx="3558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Смета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665" name="Google Shape;665;p44"/>
          <p:cNvGraphicFramePr/>
          <p:nvPr/>
        </p:nvGraphicFramePr>
        <p:xfrm>
          <a:off x="266700" y="1353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{CB3D5205-A638-40E8-9367-87A60A20FF23}</a:tableStyleId>
              </a:tblPr>
              <a:tblGrid>
                <a:gridCol w="2890850"/>
                <a:gridCol w="1404950"/>
                <a:gridCol w="1404950"/>
                <a:gridCol w="1452575"/>
              </a:tblGrid>
              <a:tr h="30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Услуги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Количество часов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Стоимость, ₽* 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Срок исполнения, недели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</a:tr>
              <a:tr h="30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1. Проектирование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47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122 200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2. Аналитика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67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171 600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3. Дизайн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211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548 600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4. Верстка и программирование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63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81 900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5. Тестирование и запуск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42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109 200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5. Тестирование и запуск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56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129 200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НДС*, 5%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188 980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Итого</a:t>
                      </a:r>
                      <a:endParaRPr sz="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534</a:t>
                      </a:r>
                      <a:endParaRPr sz="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1 493 680</a:t>
                      </a:r>
                      <a:endParaRPr sz="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</a:t>
                      </a:r>
                      <a:endParaRPr sz="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5"/>
          <p:cNvSpPr/>
          <p:nvPr/>
        </p:nvSpPr>
        <p:spPr>
          <a:xfrm>
            <a:off x="0" y="-13031"/>
            <a:ext cx="9144000" cy="1680300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1" name="Google Shape;671;p45"/>
          <p:cNvSpPr txBox="1"/>
          <p:nvPr>
            <p:ph idx="4294967295" type="sldNum"/>
          </p:nvPr>
        </p:nvSpPr>
        <p:spPr>
          <a:xfrm>
            <a:off x="8725101" y="233375"/>
            <a:ext cx="15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2" name="Google Shape;672;p45"/>
          <p:cNvSpPr txBox="1"/>
          <p:nvPr/>
        </p:nvSpPr>
        <p:spPr>
          <a:xfrm>
            <a:off x="251748" y="863278"/>
            <a:ext cx="4330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График реализации проекта</a:t>
            </a:r>
            <a:endParaRPr sz="3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673" name="Google Shape;673;p45"/>
          <p:cNvGraphicFramePr/>
          <p:nvPr/>
        </p:nvGraphicFramePr>
        <p:xfrm>
          <a:off x="266700" y="13234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{CB3D5205-A638-40E8-9367-87A60A20FF23}</a:tableStyleId>
              </a:tblPr>
              <a:tblGrid>
                <a:gridCol w="2546925"/>
                <a:gridCol w="757250"/>
                <a:gridCol w="757250"/>
                <a:gridCol w="757250"/>
                <a:gridCol w="757250"/>
                <a:gridCol w="757250"/>
                <a:gridCol w="757250"/>
                <a:gridCol w="757250"/>
                <a:gridCol w="757250"/>
              </a:tblGrid>
              <a:tr h="33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Задача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8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</a:tr>
              <a:tr h="33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1. </a:t>
                      </a:r>
                      <a:r>
                        <a:rPr lang="en-US" sz="11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Проектирование</a:t>
                      </a:r>
                      <a:endParaRPr sz="1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2. </a:t>
                      </a:r>
                      <a:r>
                        <a:rPr lang="en-US" sz="11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Аналитика</a:t>
                      </a:r>
                      <a:endParaRPr sz="1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3. Дизайн</a:t>
                      </a:r>
                      <a:endParaRPr sz="1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4. Верстка и программирование</a:t>
                      </a:r>
                      <a:endParaRPr sz="1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5. Тестирование</a:t>
                      </a:r>
                      <a:endParaRPr sz="1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6. Наполнение контентом</a:t>
                      </a:r>
                      <a:endParaRPr sz="1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7. Запуск</a:t>
                      </a:r>
                      <a:endParaRPr sz="1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7. Постпроектная аналитика</a:t>
                      </a:r>
                      <a:endParaRPr sz="1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6"/>
          <p:cNvSpPr/>
          <p:nvPr/>
        </p:nvSpPr>
        <p:spPr>
          <a:xfrm>
            <a:off x="0" y="-13031"/>
            <a:ext cx="9144000" cy="1680300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9" name="Google Shape;679;p46"/>
          <p:cNvSpPr txBox="1"/>
          <p:nvPr>
            <p:ph idx="4294967295" type="sldNum"/>
          </p:nvPr>
        </p:nvSpPr>
        <p:spPr>
          <a:xfrm>
            <a:off x="8725101" y="233375"/>
            <a:ext cx="15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0" name="Google Shape;680;p46"/>
          <p:cNvSpPr txBox="1"/>
          <p:nvPr/>
        </p:nvSpPr>
        <p:spPr>
          <a:xfrm>
            <a:off x="251748" y="863278"/>
            <a:ext cx="4330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График реализации проекта</a:t>
            </a:r>
            <a:endParaRPr sz="3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681" name="Google Shape;681;p46"/>
          <p:cNvGraphicFramePr/>
          <p:nvPr/>
        </p:nvGraphicFramePr>
        <p:xfrm>
          <a:off x="266700" y="13234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{CB3D5205-A638-40E8-9367-87A60A20FF23}</a:tableStyleId>
              </a:tblPr>
              <a:tblGrid>
                <a:gridCol w="2546925"/>
                <a:gridCol w="757250"/>
                <a:gridCol w="757250"/>
                <a:gridCol w="757250"/>
                <a:gridCol w="757250"/>
                <a:gridCol w="757250"/>
                <a:gridCol w="757250"/>
                <a:gridCol w="757250"/>
                <a:gridCol w="757250"/>
              </a:tblGrid>
              <a:tr h="33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Задача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8 месяц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</a:tr>
              <a:tr h="33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1. Проектирование и аналитика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</a:t>
                      </a:r>
                      <a:r>
                        <a:rPr lang="en-US" sz="1000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 Дизайн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</a:t>
                      </a:r>
                      <a:r>
                        <a:rPr lang="en-US" sz="1000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</a:t>
                      </a: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000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Разработка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Этап </a:t>
                      </a:r>
                      <a:r>
                        <a:rPr lang="en-US" sz="1000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 Тестирование, внедрение, от</a:t>
                      </a:r>
                      <a:r>
                        <a:rPr lang="en-US" sz="1000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ладка, наполнение контентом, запуск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7"/>
          <p:cNvSpPr txBox="1"/>
          <p:nvPr/>
        </p:nvSpPr>
        <p:spPr>
          <a:xfrm>
            <a:off x="266030" y="863275"/>
            <a:ext cx="2830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Разработка релизами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87" name="Google Shape;687;p47"/>
          <p:cNvSpPr txBox="1"/>
          <p:nvPr/>
        </p:nvSpPr>
        <p:spPr>
          <a:xfrm>
            <a:off x="246250" y="15711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основных страниц </a:t>
            </a:r>
            <a:b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 информационных разделов </a:t>
            </a:r>
            <a:b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сайта.</a:t>
            </a:r>
            <a:endParaRPr sz="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Google Shape;688;p47"/>
          <p:cNvSpPr txBox="1"/>
          <p:nvPr/>
        </p:nvSpPr>
        <p:spPr>
          <a:xfrm>
            <a:off x="135318" y="2299650"/>
            <a:ext cx="30000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1143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Осн. разделы: Главная, Контакты, Каталог, </a:t>
            </a:r>
            <a:b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Корзина, Оформление заказа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Внедрение осн. фич  в каталог и карточки 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уникального дизайна главных </a:t>
            </a:r>
            <a:b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разделов сайта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Основное тестирование</a:t>
            </a:r>
            <a:endParaRPr/>
          </a:p>
        </p:txBody>
      </p:sp>
      <p:sp>
        <p:nvSpPr>
          <p:cNvPr id="689" name="Google Shape;689;p47"/>
          <p:cNvSpPr txBox="1"/>
          <p:nvPr/>
        </p:nvSpPr>
        <p:spPr>
          <a:xfrm>
            <a:off x="207607" y="3684238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900 тыс. ₽*</a:t>
            </a:r>
            <a:endParaRPr/>
          </a:p>
        </p:txBody>
      </p:sp>
      <p:sp>
        <p:nvSpPr>
          <p:cNvPr id="690" name="Google Shape;690;p47"/>
          <p:cNvSpPr txBox="1"/>
          <p:nvPr/>
        </p:nvSpPr>
        <p:spPr>
          <a:xfrm>
            <a:off x="207602" y="41343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реализации: 3 месяца</a:t>
            </a:r>
            <a:endParaRPr sz="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Google Shape;691;p47"/>
          <p:cNvSpPr txBox="1"/>
          <p:nvPr/>
        </p:nvSpPr>
        <p:spPr>
          <a:xfrm>
            <a:off x="2943305" y="154704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Внедрение дополнительных продающих страниц и информационных разделов, </a:t>
            </a:r>
            <a:b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доп. тестирования.</a:t>
            </a:r>
            <a:endParaRPr sz="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2" name="Google Shape;692;p47"/>
          <p:cNvSpPr txBox="1"/>
          <p:nvPr/>
        </p:nvSpPr>
        <p:spPr>
          <a:xfrm>
            <a:off x="2829950" y="2259600"/>
            <a:ext cx="30000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1143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Доп. разделы: Бренды, Акции, Журнал, Сотрудничество, Программа лояльности, Избранное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Подписка на рассылку, шаблоны писем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Внедрение доп. фич  в каталог и карточки 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Определение города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уникального дизайна заказа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Настройка сквозной авторизации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Интеграция с CRM 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Дополнительное тестирование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3" name="Google Shape;693;p47"/>
          <p:cNvSpPr txBox="1"/>
          <p:nvPr/>
        </p:nvSpPr>
        <p:spPr>
          <a:xfrm>
            <a:off x="2914007" y="371637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2,2 млн. ₽*</a:t>
            </a:r>
            <a:endParaRPr sz="19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94" name="Google Shape;694;p47"/>
          <p:cNvSpPr txBox="1"/>
          <p:nvPr/>
        </p:nvSpPr>
        <p:spPr>
          <a:xfrm>
            <a:off x="2908946" y="41343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реализации: 3 месяца</a:t>
            </a:r>
            <a:endParaRPr sz="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5" name="Google Shape;695;p47"/>
          <p:cNvSpPr txBox="1"/>
          <p:nvPr/>
        </p:nvSpPr>
        <p:spPr>
          <a:xfrm>
            <a:off x="5925750" y="15470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Внедрение сложной анимации </a:t>
            </a:r>
            <a:b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 имиджевых страниц сайта.</a:t>
            </a:r>
            <a:endParaRPr sz="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6" name="Google Shape;696;p47"/>
          <p:cNvSpPr txBox="1"/>
          <p:nvPr/>
        </p:nvSpPr>
        <p:spPr>
          <a:xfrm>
            <a:off x="5829950" y="2063750"/>
            <a:ext cx="30000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1143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Имиджевые страницы: Детальная страница </a:t>
            </a:r>
            <a:b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бренда, 3D-тур, Конфигуратор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Внедрение доп. фич  в каталог и карточки 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Интеграция с CRM 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rtl="0" algn="l"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Дополнительное тестирование</a:t>
            </a:r>
            <a:endParaRPr/>
          </a:p>
        </p:txBody>
      </p:sp>
      <p:sp>
        <p:nvSpPr>
          <p:cNvPr id="697" name="Google Shape;697;p47"/>
          <p:cNvSpPr txBox="1"/>
          <p:nvPr/>
        </p:nvSpPr>
        <p:spPr>
          <a:xfrm>
            <a:off x="6005450" y="371637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500 тыс. ₽*</a:t>
            </a:r>
            <a:endParaRPr sz="3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98" name="Google Shape;698;p47"/>
          <p:cNvSpPr txBox="1"/>
          <p:nvPr/>
        </p:nvSpPr>
        <p:spPr>
          <a:xfrm>
            <a:off x="6005450" y="41343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реализации: 3 месяца</a:t>
            </a:r>
            <a:endParaRPr sz="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9" name="Google Shape;699;p47"/>
          <p:cNvSpPr txBox="1"/>
          <p:nvPr/>
        </p:nvSpPr>
        <p:spPr>
          <a:xfrm>
            <a:off x="8707480" y="233375"/>
            <a:ext cx="174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i="0" lang="en-US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4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8"/>
          <p:cNvSpPr txBox="1"/>
          <p:nvPr/>
        </p:nvSpPr>
        <p:spPr>
          <a:xfrm>
            <a:off x="261268" y="863275"/>
            <a:ext cx="3558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2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Состав второго релиза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705" name="Google Shape;705;p48"/>
          <p:cNvGraphicFramePr/>
          <p:nvPr/>
        </p:nvGraphicFramePr>
        <p:xfrm>
          <a:off x="266700" y="13106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{CB3D5205-A638-40E8-9367-87A60A20FF23}</a:tableStyleId>
              </a:tblPr>
              <a:tblGrid>
                <a:gridCol w="727925"/>
                <a:gridCol w="3611250"/>
                <a:gridCol w="1363700"/>
                <a:gridCol w="1447050"/>
                <a:gridCol w="1460700"/>
              </a:tblGrid>
              <a:tr h="24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Схема аэропорта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Как добраться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Прокат авто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Личный транспорт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Общественный транспорт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Услуги (сервисы аэропорта)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VIP-залы</a:t>
                      </a:r>
                      <a:endParaRPr sz="600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Магазины</a:t>
                      </a:r>
                      <a:endParaRPr sz="600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Банковские услуги</a:t>
                      </a:r>
                      <a:endParaRPr sz="600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Медпункты</a:t>
                      </a:r>
                      <a:endParaRPr sz="600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Тайный пассажир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Камеры хранения</a:t>
                      </a:r>
                      <a:endParaRPr sz="600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Конференц-залы Коворкинг/переговорные</a:t>
                      </a:r>
                      <a:endParaRPr sz="600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Кафе и рестораны</a:t>
                      </a:r>
                      <a:endParaRPr sz="600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Гостиница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Об аэропорте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Руководство</a:t>
                      </a:r>
                      <a:endParaRPr sz="600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Арт-объекты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История аэропорта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Экскурсии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Часто задаваемые вопросы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Медиагалерея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07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Карьера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Корпоративная культура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Студентам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Вакансии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08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География полетов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09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Поиск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Новости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Общая страница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Детальная страница новости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Контактная информация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Английская версия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Раздела 1-2 релизов</a:t>
                      </a:r>
                      <a:endParaRPr sz="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rgbClr val="21212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6" name="Google Shape;706;p48"/>
          <p:cNvSpPr txBox="1"/>
          <p:nvPr/>
        </p:nvSpPr>
        <p:spPr>
          <a:xfrm>
            <a:off x="8665419" y="233375"/>
            <a:ext cx="21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i="0" lang="en-US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9"/>
          <p:cNvSpPr/>
          <p:nvPr/>
        </p:nvSpPr>
        <p:spPr>
          <a:xfrm>
            <a:off x="0" y="-13031"/>
            <a:ext cx="9144000" cy="1680300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2" name="Google Shape;712;p49"/>
          <p:cNvSpPr txBox="1"/>
          <p:nvPr>
            <p:ph idx="12" type="sldNum"/>
          </p:nvPr>
        </p:nvSpPr>
        <p:spPr>
          <a:xfrm>
            <a:off x="8694477" y="232925"/>
            <a:ext cx="187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3" name="Google Shape;713;p49"/>
          <p:cNvSpPr txBox="1"/>
          <p:nvPr/>
        </p:nvSpPr>
        <p:spPr>
          <a:xfrm>
            <a:off x="251743" y="863275"/>
            <a:ext cx="3558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Состав релизов</a:t>
            </a:r>
            <a:endParaRPr sz="3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cxnSp>
        <p:nvCxnSpPr>
          <p:cNvPr id="714" name="Google Shape;714;p49"/>
          <p:cNvCxnSpPr/>
          <p:nvPr/>
        </p:nvCxnSpPr>
        <p:spPr>
          <a:xfrm>
            <a:off x="274459" y="1663230"/>
            <a:ext cx="2088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400000"/>
            <a:headEnd len="med" w="med" type="oval"/>
            <a:tailEnd len="med" w="med" type="triangle"/>
          </a:ln>
        </p:spPr>
      </p:cxnSp>
      <p:sp>
        <p:nvSpPr>
          <p:cNvPr id="715" name="Google Shape;715;p49"/>
          <p:cNvSpPr txBox="1"/>
          <p:nvPr/>
        </p:nvSpPr>
        <p:spPr>
          <a:xfrm>
            <a:off x="263732" y="1380651"/>
            <a:ext cx="1359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Релиз 1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6" name="Google Shape;716;p49"/>
          <p:cNvSpPr txBox="1"/>
          <p:nvPr/>
        </p:nvSpPr>
        <p:spPr>
          <a:xfrm>
            <a:off x="263732" y="1830385"/>
            <a:ext cx="1359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MVP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7" name="Google Shape;717;p49"/>
          <p:cNvSpPr txBox="1"/>
          <p:nvPr/>
        </p:nvSpPr>
        <p:spPr>
          <a:xfrm>
            <a:off x="168474" y="2250725"/>
            <a:ext cx="1872600" cy="14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-6350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сбор требований и разработка прототипов</a:t>
            </a:r>
            <a:endParaRPr sz="800">
              <a:latin typeface="Inter"/>
              <a:ea typeface="Inter"/>
              <a:cs typeface="Inter"/>
              <a:sym typeface="Inter"/>
            </a:endParaRPr>
          </a:p>
          <a:p>
            <a:pPr indent="-63500" lvl="0" marL="76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инструмент для создания конфигураций и</a:t>
            </a: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наполнения данными партнеров без вывода информации на сайт и</a:t>
            </a: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проверок корректности заполнения</a:t>
            </a:r>
            <a:endParaRPr sz="800">
              <a:latin typeface="Inter"/>
              <a:ea typeface="Inter"/>
              <a:cs typeface="Inter"/>
              <a:sym typeface="Inter"/>
            </a:endParaRPr>
          </a:p>
          <a:p>
            <a:pPr indent="-63500" lvl="0" marL="76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аудит визуального контента и</a:t>
            </a: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подготовка его для разме- щения на сайте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8" name="Google Shape;718;p49"/>
          <p:cNvSpPr txBox="1"/>
          <p:nvPr/>
        </p:nvSpPr>
        <p:spPr>
          <a:xfrm>
            <a:off x="267890" y="4613030"/>
            <a:ext cx="135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релиза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9" name="Google Shape;719;p49"/>
          <p:cNvSpPr txBox="1"/>
          <p:nvPr/>
        </p:nvSpPr>
        <p:spPr>
          <a:xfrm>
            <a:off x="267890" y="4330620"/>
            <a:ext cx="1369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4 месяца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20" name="Google Shape;720;p49"/>
          <p:cNvCxnSpPr/>
          <p:nvPr/>
        </p:nvCxnSpPr>
        <p:spPr>
          <a:xfrm>
            <a:off x="2467892" y="1663230"/>
            <a:ext cx="205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400000"/>
            <a:headEnd len="med" w="med" type="oval"/>
            <a:tailEnd len="med" w="med" type="triangle"/>
          </a:ln>
        </p:spPr>
      </p:cxnSp>
      <p:sp>
        <p:nvSpPr>
          <p:cNvPr id="721" name="Google Shape;721;p49"/>
          <p:cNvSpPr txBox="1"/>
          <p:nvPr/>
        </p:nvSpPr>
        <p:spPr>
          <a:xfrm>
            <a:off x="2452403" y="1380651"/>
            <a:ext cx="1359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Релиз 2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2" name="Google Shape;722;p49"/>
          <p:cNvSpPr txBox="1"/>
          <p:nvPr/>
        </p:nvSpPr>
        <p:spPr>
          <a:xfrm>
            <a:off x="2452403" y="1830385"/>
            <a:ext cx="2510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Интеграция и дизайн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3" name="Google Shape;723;p49"/>
          <p:cNvSpPr txBox="1"/>
          <p:nvPr/>
        </p:nvSpPr>
        <p:spPr>
          <a:xfrm>
            <a:off x="2452811" y="4613030"/>
            <a:ext cx="135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релиза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4" name="Google Shape;724;p49"/>
          <p:cNvSpPr txBox="1"/>
          <p:nvPr/>
        </p:nvSpPr>
        <p:spPr>
          <a:xfrm>
            <a:off x="2452811" y="4330620"/>
            <a:ext cx="1369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5 месяцев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25" name="Google Shape;725;p49"/>
          <p:cNvCxnSpPr/>
          <p:nvPr/>
        </p:nvCxnSpPr>
        <p:spPr>
          <a:xfrm>
            <a:off x="4635254" y="1663230"/>
            <a:ext cx="205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400000"/>
            <a:headEnd len="med" w="med" type="oval"/>
            <a:tailEnd len="med" w="med" type="triangle"/>
          </a:ln>
        </p:spPr>
      </p:cxnSp>
      <p:sp>
        <p:nvSpPr>
          <p:cNvPr id="726" name="Google Shape;726;p49"/>
          <p:cNvSpPr txBox="1"/>
          <p:nvPr/>
        </p:nvSpPr>
        <p:spPr>
          <a:xfrm>
            <a:off x="4619766" y="1380651"/>
            <a:ext cx="1359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Релиз 3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7" name="Google Shape;727;p49"/>
          <p:cNvSpPr txBox="1"/>
          <p:nvPr/>
        </p:nvSpPr>
        <p:spPr>
          <a:xfrm>
            <a:off x="4619766" y="1830385"/>
            <a:ext cx="2074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Расширение функционала </a:t>
            </a:r>
            <a:b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 API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8" name="Google Shape;728;p49"/>
          <p:cNvSpPr txBox="1"/>
          <p:nvPr/>
        </p:nvSpPr>
        <p:spPr>
          <a:xfrm>
            <a:off x="4618682" y="4613030"/>
            <a:ext cx="135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релиза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9" name="Google Shape;729;p49"/>
          <p:cNvSpPr txBox="1"/>
          <p:nvPr/>
        </p:nvSpPr>
        <p:spPr>
          <a:xfrm>
            <a:off x="4618682" y="4330620"/>
            <a:ext cx="1369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4 месяца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0" name="Google Shape;730;p49"/>
          <p:cNvSpPr txBox="1"/>
          <p:nvPr/>
        </p:nvSpPr>
        <p:spPr>
          <a:xfrm>
            <a:off x="2353650" y="2250725"/>
            <a:ext cx="19272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-6350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REST API и интеграция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 конфигуратором для вывода всех вариантов на сайте</a:t>
            </a:r>
            <a:endParaRPr sz="800">
              <a:latin typeface="Inter"/>
              <a:ea typeface="Inter"/>
              <a:cs typeface="Inter"/>
              <a:sym typeface="Inter"/>
            </a:endParaRPr>
          </a:p>
          <a:p>
            <a:pPr indent="-63500" lvl="0" marL="76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инструмент ручной проверки заполненных доработками данных перед публикацией информации на сайте </a:t>
            </a:r>
            <a:endParaRPr sz="800">
              <a:latin typeface="Inter"/>
              <a:ea typeface="Inter"/>
              <a:cs typeface="Inter"/>
              <a:sym typeface="Inter"/>
            </a:endParaRPr>
          </a:p>
          <a:p>
            <a:pPr indent="-63500" lvl="0" marL="76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дизайна и внедрение его в интерфейс инструментов для</a:t>
            </a: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создания и</a:t>
            </a: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проверки конфигураций </a:t>
            </a:r>
            <a:endParaRPr sz="800">
              <a:latin typeface="Inter"/>
              <a:ea typeface="Inter"/>
              <a:cs typeface="Inter"/>
              <a:sym typeface="Inter"/>
            </a:endParaRPr>
          </a:p>
          <a:p>
            <a:pPr indent="-63500" lvl="0" marL="76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решений по ИБ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1" name="Google Shape;731;p49"/>
          <p:cNvSpPr txBox="1"/>
          <p:nvPr/>
        </p:nvSpPr>
        <p:spPr>
          <a:xfrm>
            <a:off x="4524550" y="2250725"/>
            <a:ext cx="20580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-63500" lvl="0" marL="7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инструмент для внесения изменений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конфигуратор (добавление и</a:t>
            </a: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изме-</a:t>
            </a: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нение параметров конфигуратора) </a:t>
            </a:r>
            <a:endParaRPr sz="800">
              <a:latin typeface="Inter"/>
              <a:ea typeface="Inter"/>
              <a:cs typeface="Inter"/>
              <a:sym typeface="Inter"/>
            </a:endParaRPr>
          </a:p>
          <a:p>
            <a:pPr indent="-63500" lvl="0" marL="76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автоматическая валидация корректности заполненных данных </a:t>
            </a:r>
            <a:endParaRPr sz="800">
              <a:latin typeface="Inter"/>
              <a:ea typeface="Inter"/>
              <a:cs typeface="Inter"/>
              <a:sym typeface="Inter"/>
            </a:endParaRPr>
          </a:p>
          <a:p>
            <a:pPr indent="-63500" lvl="0" marL="76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разработка и</a:t>
            </a: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документирование публичного API для</a:t>
            </a: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масштабиро- вания на другие платформы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32" name="Google Shape;732;p49"/>
          <p:cNvCxnSpPr/>
          <p:nvPr/>
        </p:nvCxnSpPr>
        <p:spPr>
          <a:xfrm>
            <a:off x="6799055" y="1663230"/>
            <a:ext cx="205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400000"/>
            <a:headEnd len="med" w="med" type="oval"/>
            <a:tailEnd len="med" w="med" type="triangle"/>
          </a:ln>
        </p:spPr>
      </p:cxnSp>
      <p:sp>
        <p:nvSpPr>
          <p:cNvPr id="733" name="Google Shape;733;p49"/>
          <p:cNvSpPr txBox="1"/>
          <p:nvPr/>
        </p:nvSpPr>
        <p:spPr>
          <a:xfrm>
            <a:off x="6783567" y="1830385"/>
            <a:ext cx="207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Поддержка и развитие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0"/>
          <p:cNvSpPr/>
          <p:nvPr/>
        </p:nvSpPr>
        <p:spPr>
          <a:xfrm>
            <a:off x="0" y="-13031"/>
            <a:ext cx="9144000" cy="1680300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9" name="Google Shape;739;p50"/>
          <p:cNvSpPr txBox="1"/>
          <p:nvPr>
            <p:ph idx="12" type="sldNum"/>
          </p:nvPr>
        </p:nvSpPr>
        <p:spPr>
          <a:xfrm>
            <a:off x="8682849" y="232925"/>
            <a:ext cx="198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0" name="Google Shape;740;p50"/>
          <p:cNvSpPr txBox="1"/>
          <p:nvPr/>
        </p:nvSpPr>
        <p:spPr>
          <a:xfrm>
            <a:off x="251743" y="863275"/>
            <a:ext cx="3558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Состав релизов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cxnSp>
        <p:nvCxnSpPr>
          <p:cNvPr id="741" name="Google Shape;741;p50"/>
          <p:cNvCxnSpPr/>
          <p:nvPr/>
        </p:nvCxnSpPr>
        <p:spPr>
          <a:xfrm>
            <a:off x="274459" y="1663230"/>
            <a:ext cx="281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400000"/>
            <a:headEnd len="med" w="med" type="oval"/>
            <a:tailEnd len="med" w="med" type="triangle"/>
          </a:ln>
        </p:spPr>
      </p:cxnSp>
      <p:sp>
        <p:nvSpPr>
          <p:cNvPr id="742" name="Google Shape;742;p50"/>
          <p:cNvSpPr txBox="1"/>
          <p:nvPr/>
        </p:nvSpPr>
        <p:spPr>
          <a:xfrm>
            <a:off x="268495" y="1949448"/>
            <a:ext cx="1359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SLA 1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43" name="Google Shape;743;p50"/>
          <p:cNvSpPr txBox="1"/>
          <p:nvPr/>
        </p:nvSpPr>
        <p:spPr>
          <a:xfrm>
            <a:off x="268495" y="2312635"/>
            <a:ext cx="28332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Сбой функционала, имеющего критическое </a:t>
            </a:r>
            <a:b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значение для ключевых показателей бизнеса. </a:t>
            </a:r>
            <a:b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Независимо от причины сбоя, Исполнитель </a:t>
            </a:r>
            <a:b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устраняет проблему в кратчайшие сроки </a:t>
            </a:r>
            <a:b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или предоставляет варианты ее решения.</a:t>
            </a:r>
            <a:endParaRPr sz="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4" name="Google Shape;744;p50"/>
          <p:cNvSpPr txBox="1"/>
          <p:nvPr/>
        </p:nvSpPr>
        <p:spPr>
          <a:xfrm>
            <a:off x="267412" y="3580248"/>
            <a:ext cx="135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реагирования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 задачу 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5" name="Google Shape;745;p50"/>
          <p:cNvSpPr txBox="1"/>
          <p:nvPr/>
        </p:nvSpPr>
        <p:spPr>
          <a:xfrm>
            <a:off x="267412" y="3297839"/>
            <a:ext cx="1369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до 2 часов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6" name="Google Shape;746;p50"/>
          <p:cNvSpPr txBox="1"/>
          <p:nvPr/>
        </p:nvSpPr>
        <p:spPr>
          <a:xfrm>
            <a:off x="267890" y="4451105"/>
            <a:ext cx="135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время выполнения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после реагирования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7" name="Google Shape;747;p50"/>
          <p:cNvSpPr txBox="1"/>
          <p:nvPr/>
        </p:nvSpPr>
        <p:spPr>
          <a:xfrm>
            <a:off x="267890" y="4168695"/>
            <a:ext cx="1369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до 3 часов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48" name="Google Shape;748;p50"/>
          <p:cNvCxnSpPr/>
          <p:nvPr/>
        </p:nvCxnSpPr>
        <p:spPr>
          <a:xfrm>
            <a:off x="3195290" y="1663230"/>
            <a:ext cx="2771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400000"/>
            <a:headEnd len="med" w="med" type="oval"/>
            <a:tailEnd len="med" w="med" type="triangle"/>
          </a:ln>
        </p:spPr>
      </p:cxnSp>
      <p:sp>
        <p:nvSpPr>
          <p:cNvPr id="749" name="Google Shape;749;p50"/>
          <p:cNvSpPr txBox="1"/>
          <p:nvPr/>
        </p:nvSpPr>
        <p:spPr>
          <a:xfrm>
            <a:off x="3175039" y="1949448"/>
            <a:ext cx="1359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SLA 2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50" name="Google Shape;750;p50"/>
          <p:cNvSpPr txBox="1"/>
          <p:nvPr/>
        </p:nvSpPr>
        <p:spPr>
          <a:xfrm>
            <a:off x="3175039" y="2312635"/>
            <a:ext cx="2833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Сбой функционала, имеющего не критическое </a:t>
            </a:r>
            <a:b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значение для ключевых показателей бизнеса. </a:t>
            </a:r>
            <a:endParaRPr sz="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1" name="Google Shape;751;p50"/>
          <p:cNvSpPr txBox="1"/>
          <p:nvPr/>
        </p:nvSpPr>
        <p:spPr>
          <a:xfrm>
            <a:off x="3173956" y="3578489"/>
            <a:ext cx="135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реагирования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 задачу 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2" name="Google Shape;752;p50"/>
          <p:cNvSpPr txBox="1"/>
          <p:nvPr/>
        </p:nvSpPr>
        <p:spPr>
          <a:xfrm>
            <a:off x="3173956" y="3296080"/>
            <a:ext cx="1369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4 часа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3" name="Google Shape;753;p50"/>
          <p:cNvSpPr txBox="1"/>
          <p:nvPr/>
        </p:nvSpPr>
        <p:spPr>
          <a:xfrm>
            <a:off x="3175448" y="4451105"/>
            <a:ext cx="135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время выполнения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после реагирования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4" name="Google Shape;754;p50"/>
          <p:cNvSpPr txBox="1"/>
          <p:nvPr/>
        </p:nvSpPr>
        <p:spPr>
          <a:xfrm>
            <a:off x="3175448" y="4168695"/>
            <a:ext cx="1369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10 раб. часов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55" name="Google Shape;755;p50"/>
          <p:cNvCxnSpPr/>
          <p:nvPr/>
        </p:nvCxnSpPr>
        <p:spPr>
          <a:xfrm>
            <a:off x="6071002" y="1663230"/>
            <a:ext cx="2771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400000"/>
            <a:headEnd len="med" w="med" type="oval"/>
            <a:tailEnd len="med" w="med" type="triangle"/>
          </a:ln>
        </p:spPr>
      </p:cxnSp>
      <p:sp>
        <p:nvSpPr>
          <p:cNvPr id="756" name="Google Shape;756;p50"/>
          <p:cNvSpPr txBox="1"/>
          <p:nvPr/>
        </p:nvSpPr>
        <p:spPr>
          <a:xfrm>
            <a:off x="6055514" y="1949448"/>
            <a:ext cx="1359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SLA 3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57" name="Google Shape;757;p50"/>
          <p:cNvSpPr txBox="1"/>
          <p:nvPr/>
        </p:nvSpPr>
        <p:spPr>
          <a:xfrm>
            <a:off x="6055514" y="2312635"/>
            <a:ext cx="25101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Доработка имеющегося функционала/страниц, наполнение информацией реализованных страниц и разделов. Разработка нового функционала/страниц, наполнение информацией реализованных страниц и разделов. Разработка ТЗ, согласование дизайна. </a:t>
            </a:r>
            <a:endParaRPr sz="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Google Shape;758;p50"/>
          <p:cNvSpPr txBox="1"/>
          <p:nvPr/>
        </p:nvSpPr>
        <p:spPr>
          <a:xfrm>
            <a:off x="6059193" y="3574439"/>
            <a:ext cx="135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срок реагирования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 задачу 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9" name="Google Shape;759;p50"/>
          <p:cNvSpPr txBox="1"/>
          <p:nvPr/>
        </p:nvSpPr>
        <p:spPr>
          <a:xfrm>
            <a:off x="6059193" y="3292029"/>
            <a:ext cx="1369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8 часов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0" name="Google Shape;760;p50"/>
          <p:cNvSpPr txBox="1"/>
          <p:nvPr/>
        </p:nvSpPr>
        <p:spPr>
          <a:xfrm>
            <a:off x="6059200" y="4451100"/>
            <a:ext cx="1446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выполнение в зависимости от объема и очереди работ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1" name="Google Shape;761;p50"/>
          <p:cNvSpPr txBox="1"/>
          <p:nvPr/>
        </p:nvSpPr>
        <p:spPr>
          <a:xfrm>
            <a:off x="6059193" y="4168695"/>
            <a:ext cx="1369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до 3 часов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1"/>
          <p:cNvSpPr txBox="1"/>
          <p:nvPr/>
        </p:nvSpPr>
        <p:spPr>
          <a:xfrm>
            <a:off x="266025" y="863275"/>
            <a:ext cx="23088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b="0"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Этапы реализации проекта</a:t>
            </a:r>
            <a:endParaRPr b="0" i="0" sz="3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67" name="Google Shape;767;p51"/>
          <p:cNvSpPr txBox="1"/>
          <p:nvPr/>
        </p:nvSpPr>
        <p:spPr>
          <a:xfrm>
            <a:off x="3181116" y="991477"/>
            <a:ext cx="207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Аналитика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8" name="Google Shape;768;p51"/>
          <p:cNvSpPr txBox="1"/>
          <p:nvPr/>
        </p:nvSpPr>
        <p:spPr>
          <a:xfrm>
            <a:off x="2923796" y="991477"/>
            <a:ext cx="17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000" u="none" cap="none" strike="noStrike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9" name="Google Shape;769;p51"/>
          <p:cNvSpPr txBox="1"/>
          <p:nvPr/>
        </p:nvSpPr>
        <p:spPr>
          <a:xfrm>
            <a:off x="6066493" y="991477"/>
            <a:ext cx="207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Тестирование, оптимизация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0" name="Google Shape;770;p51"/>
          <p:cNvSpPr txBox="1"/>
          <p:nvPr/>
        </p:nvSpPr>
        <p:spPr>
          <a:xfrm>
            <a:off x="5809173" y="991477"/>
            <a:ext cx="17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000" u="none" cap="none" strike="noStrike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1" name="Google Shape;771;p51"/>
          <p:cNvSpPr txBox="1"/>
          <p:nvPr/>
        </p:nvSpPr>
        <p:spPr>
          <a:xfrm>
            <a:off x="3181116" y="2345809"/>
            <a:ext cx="207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Дизайн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2" name="Google Shape;772;p51"/>
          <p:cNvSpPr txBox="1"/>
          <p:nvPr/>
        </p:nvSpPr>
        <p:spPr>
          <a:xfrm>
            <a:off x="2923796" y="2345809"/>
            <a:ext cx="17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000" u="none" cap="none" strike="noStrike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3" name="Google Shape;773;p51"/>
          <p:cNvSpPr txBox="1"/>
          <p:nvPr/>
        </p:nvSpPr>
        <p:spPr>
          <a:xfrm>
            <a:off x="6066500" y="2345800"/>
            <a:ext cx="2186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Запуск, аналитика после проекта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4" name="Google Shape;774;p51"/>
          <p:cNvSpPr txBox="1"/>
          <p:nvPr/>
        </p:nvSpPr>
        <p:spPr>
          <a:xfrm>
            <a:off x="5809173" y="2345809"/>
            <a:ext cx="17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000" u="none" cap="none" strike="noStrike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5" name="Google Shape;775;p51"/>
          <p:cNvSpPr txBox="1"/>
          <p:nvPr/>
        </p:nvSpPr>
        <p:spPr>
          <a:xfrm>
            <a:off x="3181116" y="3462059"/>
            <a:ext cx="207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Верстка и интеграция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6" name="Google Shape;776;p51"/>
          <p:cNvSpPr txBox="1"/>
          <p:nvPr/>
        </p:nvSpPr>
        <p:spPr>
          <a:xfrm>
            <a:off x="2923796" y="3462059"/>
            <a:ext cx="173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000" u="none" cap="none" strike="noStrike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7" name="Google Shape;777;p51"/>
          <p:cNvSpPr txBox="1"/>
          <p:nvPr/>
        </p:nvSpPr>
        <p:spPr>
          <a:xfrm>
            <a:off x="3061385" y="3726375"/>
            <a:ext cx="3000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16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верстка макетов сайта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интеграция верстки и программирование функциональных модулей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8" name="Google Shape;778;p51"/>
          <p:cNvSpPr txBox="1"/>
          <p:nvPr/>
        </p:nvSpPr>
        <p:spPr>
          <a:xfrm>
            <a:off x="3065651" y="1238467"/>
            <a:ext cx="2018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16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аналитика, поиск лучших решений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структура проекта и информационное наполнение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техническое задание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9" name="Google Shape;779;p51"/>
          <p:cNvSpPr txBox="1"/>
          <p:nvPr/>
        </p:nvSpPr>
        <p:spPr>
          <a:xfrm>
            <a:off x="5945892" y="1238475"/>
            <a:ext cx="3000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16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check-list тестирования сайта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тестирование на соответствие ФЗ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наполнение информацией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оптимизация поиска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настройка систем аналитики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0" name="Google Shape;780;p51"/>
          <p:cNvSpPr txBox="1"/>
          <p:nvPr/>
        </p:nvSpPr>
        <p:spPr>
          <a:xfrm>
            <a:off x="3065650" y="2626968"/>
            <a:ext cx="20748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1600" lvl="0" marL="1143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концепция дизайна</a:t>
            </a:r>
            <a:endParaRPr b="0" i="0" sz="800" u="none" cap="none" strike="noStrike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дизайн внутренних страниц и форм</a:t>
            </a:r>
            <a:endParaRPr b="0" i="0" sz="800" u="none" cap="none" strike="noStrike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адаптация под мобильные устройства</a:t>
            </a:r>
            <a:endParaRPr b="0" i="0" sz="800" u="none" cap="none" strike="noStrike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1" name="Google Shape;781;p51"/>
          <p:cNvSpPr txBox="1"/>
          <p:nvPr/>
        </p:nvSpPr>
        <p:spPr>
          <a:xfrm>
            <a:off x="5945899" y="2626968"/>
            <a:ext cx="2702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1600" lvl="0" marL="1143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настройка веб-окружения, перенос на хостинговую площадку</a:t>
            </a:r>
            <a:endParaRPr b="0" i="0" sz="800" u="none" cap="none" strike="noStrike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01600" lvl="0" marL="1143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b="0"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анализ поведения пользователей сайта</a:t>
            </a:r>
            <a:endParaRPr b="0" i="0" sz="800" u="none" cap="none" strike="noStrike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2" name="Google Shape;782;p51"/>
          <p:cNvSpPr txBox="1"/>
          <p:nvPr/>
        </p:nvSpPr>
        <p:spPr>
          <a:xfrm>
            <a:off x="8707480" y="233375"/>
            <a:ext cx="174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i="0" lang="en-US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4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2"/>
          <p:cNvSpPr txBox="1"/>
          <p:nvPr>
            <p:ph idx="12" type="sldNum"/>
          </p:nvPr>
        </p:nvSpPr>
        <p:spPr>
          <a:xfrm>
            <a:off x="8630581" y="233375"/>
            <a:ext cx="255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8" name="Google Shape;788;p52"/>
          <p:cNvSpPr txBox="1"/>
          <p:nvPr/>
        </p:nvSpPr>
        <p:spPr>
          <a:xfrm>
            <a:off x="261268" y="863275"/>
            <a:ext cx="4257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Все фактоиды о компании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89" name="Google Shape;789;p52"/>
          <p:cNvSpPr txBox="1"/>
          <p:nvPr/>
        </p:nvSpPr>
        <p:spPr>
          <a:xfrm>
            <a:off x="2449805" y="1585399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600+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90" name="Google Shape;790;p52"/>
          <p:cNvSpPr txBox="1"/>
          <p:nvPr/>
        </p:nvSpPr>
        <p:spPr>
          <a:xfrm>
            <a:off x="2449174" y="2101113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реализованных проектов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52"/>
          <p:cNvSpPr txBox="1"/>
          <p:nvPr/>
        </p:nvSpPr>
        <p:spPr>
          <a:xfrm>
            <a:off x="2445673" y="2830159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100+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92" name="Google Shape;792;p52"/>
          <p:cNvSpPr txBox="1"/>
          <p:nvPr/>
        </p:nvSpPr>
        <p:spPr>
          <a:xfrm>
            <a:off x="2449805" y="3325075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наград на digital-конкурсах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3" name="Google Shape;793;p52"/>
          <p:cNvSpPr txBox="1"/>
          <p:nvPr/>
        </p:nvSpPr>
        <p:spPr>
          <a:xfrm>
            <a:off x="6781704" y="3989970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топ-5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94" name="Google Shape;794;p52"/>
          <p:cNvSpPr txBox="1"/>
          <p:nvPr/>
        </p:nvSpPr>
        <p:spPr>
          <a:xfrm>
            <a:off x="6781074" y="4475361"/>
            <a:ext cx="1905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рейтинге разработчиков для крупного бизнеса (B2B)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52"/>
          <p:cNvSpPr txBox="1"/>
          <p:nvPr/>
        </p:nvSpPr>
        <p:spPr>
          <a:xfrm>
            <a:off x="6779548" y="1615722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топ-4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96" name="Google Shape;796;p52"/>
          <p:cNvSpPr txBox="1"/>
          <p:nvPr/>
        </p:nvSpPr>
        <p:spPr>
          <a:xfrm>
            <a:off x="6783675" y="2101125"/>
            <a:ext cx="2015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рейтинге разработчиков для отрасли Транспорт, авиация, космос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7" name="Google Shape;797;p52"/>
          <p:cNvSpPr txBox="1"/>
          <p:nvPr/>
        </p:nvSpPr>
        <p:spPr>
          <a:xfrm>
            <a:off x="267235" y="2808397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16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98" name="Google Shape;798;p52"/>
          <p:cNvSpPr txBox="1"/>
          <p:nvPr/>
        </p:nvSpPr>
        <p:spPr>
          <a:xfrm>
            <a:off x="266604" y="3324110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лет на рынке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52"/>
          <p:cNvSpPr txBox="1"/>
          <p:nvPr/>
        </p:nvSpPr>
        <p:spPr>
          <a:xfrm>
            <a:off x="2448460" y="3981719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18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00" name="Google Shape;800;p52"/>
          <p:cNvSpPr txBox="1"/>
          <p:nvPr/>
        </p:nvSpPr>
        <p:spPr>
          <a:xfrm>
            <a:off x="2447829" y="4476635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клиентов из списка Forbes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1" name="Google Shape;801;p52"/>
          <p:cNvSpPr txBox="1"/>
          <p:nvPr/>
        </p:nvSpPr>
        <p:spPr>
          <a:xfrm>
            <a:off x="4615397" y="2838719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топ-6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02" name="Google Shape;802;p52"/>
          <p:cNvSpPr txBox="1"/>
          <p:nvPr/>
        </p:nvSpPr>
        <p:spPr>
          <a:xfrm>
            <a:off x="4614767" y="3324110"/>
            <a:ext cx="1849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рейтинге разработчиков для B2G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52"/>
          <p:cNvSpPr txBox="1"/>
          <p:nvPr/>
        </p:nvSpPr>
        <p:spPr>
          <a:xfrm>
            <a:off x="6782335" y="2838719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топ-4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04" name="Google Shape;804;p52"/>
          <p:cNvSpPr txBox="1"/>
          <p:nvPr/>
        </p:nvSpPr>
        <p:spPr>
          <a:xfrm>
            <a:off x="6781700" y="3324100"/>
            <a:ext cx="2046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рейтинге разработчиков для отрасли НКО и общественные организации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5" name="Google Shape;805;p52"/>
          <p:cNvSpPr txBox="1"/>
          <p:nvPr/>
        </p:nvSpPr>
        <p:spPr>
          <a:xfrm>
            <a:off x="267235" y="3959648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85+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06" name="Google Shape;806;p52"/>
          <p:cNvSpPr txBox="1"/>
          <p:nvPr/>
        </p:nvSpPr>
        <p:spPr>
          <a:xfrm>
            <a:off x="266604" y="4475361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сотрудников в штате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52"/>
          <p:cNvSpPr txBox="1"/>
          <p:nvPr/>
        </p:nvSpPr>
        <p:spPr>
          <a:xfrm>
            <a:off x="267235" y="1610959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топ-10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08" name="Google Shape;808;p52"/>
          <p:cNvSpPr txBox="1"/>
          <p:nvPr/>
        </p:nvSpPr>
        <p:spPr>
          <a:xfrm>
            <a:off x="271367" y="2101113"/>
            <a:ext cx="19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web-разработчиков России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9" name="Google Shape;809;p52"/>
          <p:cNvSpPr txBox="1"/>
          <p:nvPr/>
        </p:nvSpPr>
        <p:spPr>
          <a:xfrm>
            <a:off x="4615397" y="3985208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топ-2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10" name="Google Shape;810;p52"/>
          <p:cNvSpPr txBox="1"/>
          <p:nvPr/>
        </p:nvSpPr>
        <p:spPr>
          <a:xfrm>
            <a:off x="4614775" y="4475350"/>
            <a:ext cx="2015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рейтинге разработчиков для отрас-</a:t>
            </a:r>
            <a:endParaRPr i="0" sz="800" u="none" cap="none" strike="noStrike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ли Промышленность и</a:t>
            </a: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оборудование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Google Shape;811;p52"/>
          <p:cNvSpPr txBox="1"/>
          <p:nvPr/>
        </p:nvSpPr>
        <p:spPr>
          <a:xfrm>
            <a:off x="4615397" y="1615722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топ-15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12" name="Google Shape;812;p52"/>
          <p:cNvSpPr txBox="1"/>
          <p:nvPr/>
        </p:nvSpPr>
        <p:spPr>
          <a:xfrm>
            <a:off x="4614767" y="2101113"/>
            <a:ext cx="198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рейтинге лучших дизайн-студий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3"/>
          <p:cNvSpPr txBox="1"/>
          <p:nvPr/>
        </p:nvSpPr>
        <p:spPr>
          <a:xfrm>
            <a:off x="257651" y="2528596"/>
            <a:ext cx="4386600" cy="2339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Текст заголовка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4"/>
          <p:cNvSpPr txBox="1"/>
          <p:nvPr>
            <p:ph idx="12" type="sldNum"/>
          </p:nvPr>
        </p:nvSpPr>
        <p:spPr>
          <a:xfrm>
            <a:off x="8659630" y="233375"/>
            <a:ext cx="23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3" name="Google Shape;823;p54"/>
          <p:cNvSpPr txBox="1"/>
          <p:nvPr/>
        </p:nvSpPr>
        <p:spPr>
          <a:xfrm>
            <a:off x="266025" y="863275"/>
            <a:ext cx="4862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Платформа 1С-Битрикс позволяет реализовать проекты любой сложности</a:t>
            </a:r>
            <a:endParaRPr sz="3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24" name="Google Shape;824;p54"/>
          <p:cNvSpPr txBox="1"/>
          <p:nvPr/>
        </p:nvSpPr>
        <p:spPr>
          <a:xfrm>
            <a:off x="266025" y="2000975"/>
            <a:ext cx="238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Простое управление сайтом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5" name="Google Shape;825;p54"/>
          <p:cNvSpPr txBox="1"/>
          <p:nvPr/>
        </p:nvSpPr>
        <p:spPr>
          <a:xfrm>
            <a:off x="266030" y="2326053"/>
            <a:ext cx="32436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Управление сайтом также просто, как работать с обычным текстовым редактором </a:t>
            </a: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 техническую часть работы за вас выполняет система.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6" name="Google Shape;826;p54"/>
          <p:cNvSpPr txBox="1"/>
          <p:nvPr/>
        </p:nvSpPr>
        <p:spPr>
          <a:xfrm>
            <a:off x="4619224" y="2000975"/>
            <a:ext cx="2074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Готовый функционал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7" name="Google Shape;827;p54"/>
          <p:cNvSpPr txBox="1"/>
          <p:nvPr/>
        </p:nvSpPr>
        <p:spPr>
          <a:xfrm>
            <a:off x="271676" y="3231550"/>
            <a:ext cx="259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Высокая производительность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8" name="Google Shape;828;p54"/>
          <p:cNvSpPr txBox="1"/>
          <p:nvPr/>
        </p:nvSpPr>
        <p:spPr>
          <a:xfrm>
            <a:off x="4614128" y="2326053"/>
            <a:ext cx="33333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состав программного продукта входит более 30 модулей для управления информационным наполнением и структурой.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Google Shape;829;p54"/>
          <p:cNvSpPr txBox="1"/>
          <p:nvPr/>
        </p:nvSpPr>
        <p:spPr>
          <a:xfrm>
            <a:off x="266030" y="3556648"/>
            <a:ext cx="32436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Производительность сайта всегда под контролем. Система автоматически производит диагностику работы и выдает рекомендации по улучшению.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54"/>
          <p:cNvSpPr txBox="1"/>
          <p:nvPr/>
        </p:nvSpPr>
        <p:spPr>
          <a:xfrm>
            <a:off x="4614128" y="3231561"/>
            <a:ext cx="2074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WEB-безопасность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1" name="Google Shape;831;p54"/>
          <p:cNvSpPr txBox="1"/>
          <p:nvPr/>
        </p:nvSpPr>
        <p:spPr>
          <a:xfrm>
            <a:off x="4614128" y="3556648"/>
            <a:ext cx="33333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Продукт обеспечивает высокий уровень защищенности сайтов от взломов, что подтверждает независимый аудит компании Positive Technologies.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2" name="Google Shape;832;p54"/>
          <p:cNvSpPr txBox="1"/>
          <p:nvPr/>
        </p:nvSpPr>
        <p:spPr>
          <a:xfrm>
            <a:off x="266700" y="4632092"/>
            <a:ext cx="2939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Платформа входит в Реестр российского программного обеспечения.</a:t>
            </a:r>
            <a:endParaRPr sz="6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bitrix.png" id="833" name="Google Shape;83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0088" y="800314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55"/>
          <p:cNvSpPr txBox="1"/>
          <p:nvPr>
            <p:ph idx="12" type="sldNum"/>
          </p:nvPr>
        </p:nvSpPr>
        <p:spPr>
          <a:xfrm>
            <a:off x="8665405" y="233375"/>
            <a:ext cx="20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Google Shape;839;p55"/>
          <p:cNvSpPr txBox="1"/>
          <p:nvPr/>
        </p:nvSpPr>
        <p:spPr>
          <a:xfrm>
            <a:off x="266030" y="863275"/>
            <a:ext cx="3558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Tilda Publishing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40" name="Google Shape;840;p55"/>
          <p:cNvSpPr txBox="1"/>
          <p:nvPr/>
        </p:nvSpPr>
        <p:spPr>
          <a:xfrm>
            <a:off x="273342" y="1848700"/>
            <a:ext cx="38100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Внутри Tilda есть удобная микро-CRM для небольшого бизнеса. При желании можно подключить внешнюю CRM: популярные системы, «Битрикс24», уже интегрированы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55"/>
          <p:cNvSpPr txBox="1"/>
          <p:nvPr/>
        </p:nvSpPr>
        <p:spPr>
          <a:xfrm>
            <a:off x="268579" y="1528249"/>
            <a:ext cx="3810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Встроенная CRM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2" name="Google Shape;842;p55"/>
          <p:cNvSpPr txBox="1"/>
          <p:nvPr/>
        </p:nvSpPr>
        <p:spPr>
          <a:xfrm>
            <a:off x="4616742" y="1848700"/>
            <a:ext cx="40488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Вы можете ограничить доступ к разделам/страницам для неавторизованных пользователей. Самостоятельная регистрация клиентов на сайте или с помощью администратора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3" name="Google Shape;843;p55"/>
          <p:cNvSpPr txBox="1"/>
          <p:nvPr/>
        </p:nvSpPr>
        <p:spPr>
          <a:xfrm>
            <a:off x="4616742" y="1528249"/>
            <a:ext cx="3810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Личный кабинет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Google Shape;844;p55"/>
          <p:cNvSpPr txBox="1"/>
          <p:nvPr/>
        </p:nvSpPr>
        <p:spPr>
          <a:xfrm>
            <a:off x="274672" y="3044088"/>
            <a:ext cx="38100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Сайты на Tilda хорошо ранжируются в поисковых системах. Написание метатегов, установка favicon и счетчиков аналитики входят в стоимость разработки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Google Shape;845;p55"/>
          <p:cNvSpPr txBox="1"/>
          <p:nvPr/>
        </p:nvSpPr>
        <p:spPr>
          <a:xfrm>
            <a:off x="269910" y="2723637"/>
            <a:ext cx="3810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SEO-friendly 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55"/>
          <p:cNvSpPr txBox="1"/>
          <p:nvPr/>
        </p:nvSpPr>
        <p:spPr>
          <a:xfrm>
            <a:off x="4616742" y="3044088"/>
            <a:ext cx="4048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Продумываем уникальную дизайн-концепцию. Минимизируем стандартные решения конструктора. Адаптив по умолчанию заложен в стоимость сайта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7" name="Google Shape;847;p55"/>
          <p:cNvSpPr txBox="1"/>
          <p:nvPr/>
        </p:nvSpPr>
        <p:spPr>
          <a:xfrm>
            <a:off x="4616742" y="2723637"/>
            <a:ext cx="3810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Уникальный и адаптивный дизайн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8" name="Google Shape;848;p55"/>
          <p:cNvSpPr txBox="1"/>
          <p:nvPr/>
        </p:nvSpPr>
        <p:spPr>
          <a:xfrm>
            <a:off x="274672" y="4239475"/>
            <a:ext cx="38100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 сайте можно реализовать онлайн-оплату,  сбор пожертвований, изменение контента в зависимости от геолокации пользователя и многое другое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9" name="Google Shape;849;p55"/>
          <p:cNvSpPr txBox="1"/>
          <p:nvPr/>
        </p:nvSpPr>
        <p:spPr>
          <a:xfrm>
            <a:off x="269910" y="3919024"/>
            <a:ext cx="3810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Интеграция с сервисами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0" name="Google Shape;850;p55"/>
          <p:cNvSpPr txBox="1"/>
          <p:nvPr/>
        </p:nvSpPr>
        <p:spPr>
          <a:xfrm>
            <a:off x="4616742" y="4239475"/>
            <a:ext cx="4048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Вы можете самостоятельно администрировать сайт — интерфейс удаления и добавления контента интуитивно понятный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1" name="Google Shape;851;p55"/>
          <p:cNvSpPr txBox="1"/>
          <p:nvPr/>
        </p:nvSpPr>
        <p:spPr>
          <a:xfrm>
            <a:off x="4616742" y="3919024"/>
            <a:ext cx="3810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Простое управление контентом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tilda.png" id="852" name="Google Shape;85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883" y="798160"/>
            <a:ext cx="614363" cy="614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56"/>
          <p:cNvSpPr txBox="1"/>
          <p:nvPr/>
        </p:nvSpPr>
        <p:spPr>
          <a:xfrm>
            <a:off x="266253" y="2107176"/>
            <a:ext cx="18219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875" lIns="33750" spcFirstLastPara="1" rIns="33750" wrap="square" tIns="168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Создаем уникальные сайты —  с анимацией и нестандартными дизайн-решениями.</a:t>
            </a:r>
            <a:endParaRPr sz="1000" u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8" name="Google Shape;858;p56"/>
          <p:cNvSpPr txBox="1"/>
          <p:nvPr/>
        </p:nvSpPr>
        <p:spPr>
          <a:xfrm>
            <a:off x="266257" y="1586738"/>
            <a:ext cx="19392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875" lIns="33750" spcFirstLastPara="1" rIns="33750" wrap="square" tIns="168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Широкие возможности дизайна</a:t>
            </a:r>
            <a:endParaRPr sz="1300" u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9" name="Google Shape;859;p56"/>
          <p:cNvSpPr txBox="1"/>
          <p:nvPr/>
        </p:nvSpPr>
        <p:spPr>
          <a:xfrm>
            <a:off x="2501352" y="2107176"/>
            <a:ext cx="17694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875" lIns="33750" spcFirstLastPara="1" rIns="33750" wrap="square" tIns="168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Конструктор писем для email-рассылки, мульти- </a:t>
            </a:r>
            <a:endParaRPr sz="1000" u="none" strike="noStrike">
              <a:solidFill>
                <a:srgbClr val="20202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и геолендинг, встроенный сервис аналитики, личный кабинет и др.</a:t>
            </a:r>
            <a:endParaRPr sz="1000" u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0" name="Google Shape;860;p56"/>
          <p:cNvSpPr txBox="1"/>
          <p:nvPr/>
        </p:nvSpPr>
        <p:spPr>
          <a:xfrm>
            <a:off x="2501352" y="1586738"/>
            <a:ext cx="19392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875" lIns="33750" spcFirstLastPara="1" rIns="33750" wrap="square" tIns="168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Специальные решения для бизнеса</a:t>
            </a:r>
            <a:endParaRPr sz="1300" u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1" name="Google Shape;861;p56"/>
          <p:cNvSpPr txBox="1"/>
          <p:nvPr/>
        </p:nvSpPr>
        <p:spPr>
          <a:xfrm>
            <a:off x="4735775" y="2107180"/>
            <a:ext cx="21381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875" lIns="33750" spcFirstLastPara="1" rIns="33750" wrap="square" tIns="168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Страницы, созданные в Tilda, можно разместить на сайте, который работает на 1С-Битрикс, WordPress или любой другой CMS.</a:t>
            </a:r>
            <a:endParaRPr sz="1000" u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2" name="Google Shape;862;p56"/>
          <p:cNvSpPr txBox="1"/>
          <p:nvPr/>
        </p:nvSpPr>
        <p:spPr>
          <a:xfrm>
            <a:off x="4735778" y="1586735"/>
            <a:ext cx="14289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875" lIns="33750" spcFirstLastPara="1" rIns="33750" wrap="square" tIns="168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Интеграция </a:t>
            </a:r>
            <a:endParaRPr sz="1300" u="none" strike="noStrike">
              <a:solidFill>
                <a:srgbClr val="20202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с любым сайтом</a:t>
            </a:r>
            <a:endParaRPr sz="1300" u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3" name="Google Shape;863;p56"/>
          <p:cNvSpPr txBox="1"/>
          <p:nvPr/>
        </p:nvSpPr>
        <p:spPr>
          <a:xfrm>
            <a:off x="256668" y="3564501"/>
            <a:ext cx="1788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875" lIns="33750" spcFirstLastPara="1" rIns="33750" wrap="square" tIns="168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На сайте можно реализовать онлайн-оплату, выгрузку товаров из 1С, отправку email-рассылок и пр. </a:t>
            </a:r>
            <a:endParaRPr sz="1000" u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4" name="Google Shape;864;p56"/>
          <p:cNvSpPr txBox="1"/>
          <p:nvPr/>
        </p:nvSpPr>
        <p:spPr>
          <a:xfrm>
            <a:off x="256666" y="3231974"/>
            <a:ext cx="21381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875" lIns="33750" spcFirstLastPara="1" rIns="33750" wrap="square" tIns="168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Интеграция с сервисами</a:t>
            </a:r>
            <a:endParaRPr sz="1300" u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56"/>
          <p:cNvSpPr txBox="1"/>
          <p:nvPr/>
        </p:nvSpPr>
        <p:spPr>
          <a:xfrm>
            <a:off x="2501352" y="3564501"/>
            <a:ext cx="17694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875" lIns="33750" spcFirstLastPara="1" rIns="33750" wrap="square" tIns="168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Внутри Tilda есть удобная микро-CRM. При желании можно легко подключить внешнюю CRM.</a:t>
            </a:r>
            <a:endParaRPr sz="1000" u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6" name="Google Shape;866;p56"/>
          <p:cNvSpPr txBox="1"/>
          <p:nvPr/>
        </p:nvSpPr>
        <p:spPr>
          <a:xfrm>
            <a:off x="2501352" y="3231977"/>
            <a:ext cx="1769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875" lIns="33750" spcFirstLastPara="1" rIns="33750" wrap="square" tIns="168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Встроенная CRM</a:t>
            </a:r>
            <a:endParaRPr sz="1300" u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7" name="Google Shape;867;p56"/>
          <p:cNvSpPr txBox="1"/>
          <p:nvPr/>
        </p:nvSpPr>
        <p:spPr>
          <a:xfrm>
            <a:off x="4735774" y="3564505"/>
            <a:ext cx="22524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875" lIns="33750" spcFirstLastPara="1" rIns="33750" wrap="square" tIns="168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Размещение метатегов, настройка редиректов, установка favicon и счетчиков аналитики по умолчанию входят в стоимость разработки сайта.</a:t>
            </a:r>
            <a:endParaRPr sz="1000" u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8" name="Google Shape;868;p56"/>
          <p:cNvSpPr txBox="1"/>
          <p:nvPr/>
        </p:nvSpPr>
        <p:spPr>
          <a:xfrm>
            <a:off x="4735774" y="3231974"/>
            <a:ext cx="2189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875" lIns="33750" spcFirstLastPara="1" rIns="33750" wrap="square" tIns="168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SEO-friendly разработка</a:t>
            </a:r>
            <a:endParaRPr sz="1300" u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9" name="Google Shape;869;p56"/>
          <p:cNvSpPr txBox="1"/>
          <p:nvPr/>
        </p:nvSpPr>
        <p:spPr>
          <a:xfrm>
            <a:off x="258832" y="767344"/>
            <a:ext cx="62643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875" lIns="33750" spcFirstLastPara="1" rIns="33750" wrap="square" tIns="168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u="none" strike="noStrike">
                <a:solidFill>
                  <a:srgbClr val="202020"/>
                </a:solidFill>
                <a:latin typeface="Inter"/>
                <a:ea typeface="Inter"/>
                <a:cs typeface="Inter"/>
                <a:sym typeface="Inter"/>
              </a:rPr>
              <a:t>Преимущества разработки на Tilda</a:t>
            </a:r>
            <a:endParaRPr sz="1900" u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0" name="Google Shape;870;p56"/>
          <p:cNvSpPr txBox="1"/>
          <p:nvPr/>
        </p:nvSpPr>
        <p:spPr>
          <a:xfrm>
            <a:off x="8707480" y="233375"/>
            <a:ext cx="174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i="0" lang="en-US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4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7"/>
          <p:cNvSpPr/>
          <p:nvPr/>
        </p:nvSpPr>
        <p:spPr>
          <a:xfrm>
            <a:off x="0" y="-13031"/>
            <a:ext cx="9144000" cy="1680300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6" name="Google Shape;876;p57"/>
          <p:cNvSpPr txBox="1"/>
          <p:nvPr>
            <p:ph idx="12" type="sldNum"/>
          </p:nvPr>
        </p:nvSpPr>
        <p:spPr>
          <a:xfrm>
            <a:off x="8601550" y="233375"/>
            <a:ext cx="28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Google Shape;877;p57"/>
          <p:cNvSpPr txBox="1"/>
          <p:nvPr/>
        </p:nvSpPr>
        <p:spPr>
          <a:xfrm>
            <a:off x="266025" y="863275"/>
            <a:ext cx="3880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Выбор CMS. 1C-Битрикс и Tilda 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878" name="Google Shape;878;p57"/>
          <p:cNvGraphicFramePr/>
          <p:nvPr/>
        </p:nvGraphicFramePr>
        <p:xfrm>
          <a:off x="266700" y="12413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{CB3D5205-A638-40E8-9367-87A60A20FF23}</a:tableStyleId>
              </a:tblPr>
              <a:tblGrid>
                <a:gridCol w="4689800"/>
                <a:gridCol w="1306950"/>
                <a:gridCol w="1306950"/>
                <a:gridCol w="1306950"/>
              </a:tblGrid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Описание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1С-Битрикс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Tilda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Комментарии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solidFill>
                      <a:srgbClr val="CCFFFF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Уникальный дизайн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500"/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500"/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Более </a:t>
                      </a:r>
                      <a:r>
                        <a:rPr lang="en-US" sz="1000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1000</a:t>
                      </a: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страниц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500"/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500"/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Поддержка интеграции 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</a:t>
                      </a:r>
                      <a:endParaRPr sz="500"/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500"/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SEO-friendly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</a:t>
                      </a:r>
                      <a:endParaRPr sz="500"/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500"/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Имиджевая анимация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500"/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 sz="500"/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Сроки реализации, месяц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3+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1+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Стоимость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1,5 млн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1212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0,2 млн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121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rgbClr val="21212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19050" marL="19050" anchor="ctr"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8"/>
          <p:cNvSpPr txBox="1"/>
          <p:nvPr>
            <p:ph idx="12" type="sldNum"/>
          </p:nvPr>
        </p:nvSpPr>
        <p:spPr>
          <a:xfrm>
            <a:off x="8659630" y="233375"/>
            <a:ext cx="23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4" name="Google Shape;884;p58"/>
          <p:cNvSpPr txBox="1"/>
          <p:nvPr/>
        </p:nvSpPr>
        <p:spPr>
          <a:xfrm>
            <a:off x="266025" y="863275"/>
            <a:ext cx="4862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lang="en-US" sz="1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Битрикс24 — платформа </a:t>
            </a:r>
            <a:br>
              <a:rPr lang="en-US" sz="1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-US" sz="1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для управления организацией</a:t>
            </a:r>
            <a:endParaRPr sz="3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85" name="Google Shape;885;p58"/>
          <p:cNvSpPr txBox="1"/>
          <p:nvPr/>
        </p:nvSpPr>
        <p:spPr>
          <a:xfrm>
            <a:off x="266025" y="1772375"/>
            <a:ext cx="238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lang="en-US" sz="13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Корпоративный портал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6" name="Google Shape;886;p58"/>
          <p:cNvSpPr txBox="1"/>
          <p:nvPr/>
        </p:nvSpPr>
        <p:spPr>
          <a:xfrm>
            <a:off x="266030" y="2097453"/>
            <a:ext cx="3243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Портал объединяет сотрудников в едином информационном пространстве: автоматизирует кадровые процессы, упрощает коммуникацию, помогает быстро находить информацию и принимать решения, доносить важные сведения.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Google Shape;887;p58"/>
          <p:cNvSpPr txBox="1"/>
          <p:nvPr/>
        </p:nvSpPr>
        <p:spPr>
          <a:xfrm>
            <a:off x="4619224" y="1772375"/>
            <a:ext cx="2074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lang="en-US" sz="13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CRM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Google Shape;888;p58"/>
          <p:cNvSpPr txBox="1"/>
          <p:nvPr/>
        </p:nvSpPr>
        <p:spPr>
          <a:xfrm>
            <a:off x="271676" y="3231550"/>
            <a:ext cx="259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lang="en-US" sz="13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HRM 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Google Shape;889;p58"/>
          <p:cNvSpPr txBox="1"/>
          <p:nvPr/>
        </p:nvSpPr>
        <p:spPr>
          <a:xfrm>
            <a:off x="4614128" y="2097453"/>
            <a:ext cx="33333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Система хранит данные клиентов в единой базе, помогает отслеживать историю общения с клиентами и вести их по собственному алгоритму взаимодействия. Позволяет унифицировать продажи и сервис, сократив цикл сделки и повысив скорость обслуживания.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Google Shape;890;p58"/>
          <p:cNvSpPr txBox="1"/>
          <p:nvPr/>
        </p:nvSpPr>
        <p:spPr>
          <a:xfrm>
            <a:off x="266030" y="3556648"/>
            <a:ext cx="3243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Современные HR-сервисы для эффективного управления человеческими ресурсами — корпоративный университет, оценка 360, онбординг новых сотрудников, карта офиса и многое другое.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Google Shape;891;p58"/>
          <p:cNvSpPr txBox="1"/>
          <p:nvPr/>
        </p:nvSpPr>
        <p:spPr>
          <a:xfrm>
            <a:off x="4614128" y="3231561"/>
            <a:ext cx="2074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lang="en-US" sz="13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КЭДО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Google Shape;892;p58"/>
          <p:cNvSpPr txBox="1"/>
          <p:nvPr/>
        </p:nvSpPr>
        <p:spPr>
          <a:xfrm>
            <a:off x="4614128" y="3556648"/>
            <a:ext cx="33333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10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Встроенная система управления кадровыми документами в электронном формате. Позволяет автоматизировать процессы создания, согласования, подписания и хранения документов по управлению персоналом - все внутри вашего Битрикс24.</a:t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t/>
            </a:r>
            <a:endParaRPr sz="10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Google Shape;893;p58"/>
          <p:cNvSpPr txBox="1"/>
          <p:nvPr/>
        </p:nvSpPr>
        <p:spPr>
          <a:xfrm>
            <a:off x="266700" y="4632092"/>
            <a:ext cx="2939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Платформа входит в </a:t>
            </a:r>
            <a:r>
              <a:rPr lang="en-US" sz="6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р</a:t>
            </a:r>
            <a:r>
              <a:rPr i="0" lang="en-US" sz="6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еестр российского программного обеспечения.</a:t>
            </a:r>
            <a:endParaRPr sz="6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94" name="Google Shape;89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9750" y="804497"/>
            <a:ext cx="1246800" cy="6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9"/>
          <p:cNvSpPr txBox="1"/>
          <p:nvPr/>
        </p:nvSpPr>
        <p:spPr>
          <a:xfrm>
            <a:off x="266030" y="863275"/>
            <a:ext cx="3558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Консистентность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00" name="Google Shape;900;p59"/>
          <p:cNvSpPr txBox="1"/>
          <p:nvPr/>
        </p:nvSpPr>
        <p:spPr>
          <a:xfrm>
            <a:off x="266025" y="1296000"/>
            <a:ext cx="2947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Атомарный дизайн обеспечит последователь-</a:t>
            </a:r>
            <a:endParaRPr i="0" sz="1000" u="none" cap="none" strike="noStrike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ность и согласованность пользовательского опыта на всем этапе жизни продукта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1" name="Google Shape;901;p59"/>
          <p:cNvSpPr txBox="1"/>
          <p:nvPr/>
        </p:nvSpPr>
        <p:spPr>
          <a:xfrm>
            <a:off x="4613472" y="863275"/>
            <a:ext cx="3558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Удобство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02" name="Google Shape;902;p59"/>
          <p:cNvSpPr txBox="1"/>
          <p:nvPr/>
        </p:nvSpPr>
        <p:spPr>
          <a:xfrm>
            <a:off x="4614103" y="1295997"/>
            <a:ext cx="3025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Стандартизированный и консистентный дизайн позволяет комфортно управлять контентом и облегчает дальнейшее обслуживание сайта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3" name="Google Shape;903;p59"/>
          <p:cNvSpPr txBox="1"/>
          <p:nvPr/>
        </p:nvSpPr>
        <p:spPr>
          <a:xfrm>
            <a:off x="4618865" y="3842495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1.5-2 раза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04" name="Google Shape;904;p59"/>
          <p:cNvSpPr txBox="1"/>
          <p:nvPr/>
        </p:nvSpPr>
        <p:spPr>
          <a:xfrm>
            <a:off x="4622997" y="4415358"/>
            <a:ext cx="1905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сокращение time to market новых продуктов и страниц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5" name="Google Shape;905;p59"/>
          <p:cNvSpPr txBox="1"/>
          <p:nvPr/>
        </p:nvSpPr>
        <p:spPr>
          <a:xfrm>
            <a:off x="6782503" y="3842495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30-50%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06" name="Google Shape;906;p59"/>
          <p:cNvSpPr txBox="1"/>
          <p:nvPr/>
        </p:nvSpPr>
        <p:spPr>
          <a:xfrm>
            <a:off x="6781873" y="4415358"/>
            <a:ext cx="1905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cost savings в процессе разработки новых продуктов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7" name="Google Shape;907;p59"/>
          <p:cNvSpPr txBox="1"/>
          <p:nvPr/>
        </p:nvSpPr>
        <p:spPr>
          <a:xfrm>
            <a:off x="261268" y="2994154"/>
            <a:ext cx="437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Атомы</a:t>
            </a:r>
            <a:endParaRPr sz="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8" name="Google Shape;908;p59"/>
          <p:cNvSpPr txBox="1"/>
          <p:nvPr/>
        </p:nvSpPr>
        <p:spPr>
          <a:xfrm>
            <a:off x="2303986" y="2994154"/>
            <a:ext cx="67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Молекулы</a:t>
            </a:r>
            <a:endParaRPr sz="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Google Shape;909;p59"/>
          <p:cNvSpPr txBox="1"/>
          <p:nvPr/>
        </p:nvSpPr>
        <p:spPr>
          <a:xfrm>
            <a:off x="4350598" y="3002727"/>
            <a:ext cx="742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Организмы</a:t>
            </a:r>
            <a:endParaRPr sz="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Google Shape;910;p59"/>
          <p:cNvSpPr txBox="1"/>
          <p:nvPr/>
        </p:nvSpPr>
        <p:spPr>
          <a:xfrm>
            <a:off x="6393492" y="2994154"/>
            <a:ext cx="632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Шаблоны</a:t>
            </a:r>
            <a:endParaRPr sz="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59"/>
          <p:cNvSpPr txBox="1"/>
          <p:nvPr/>
        </p:nvSpPr>
        <p:spPr>
          <a:xfrm>
            <a:off x="8426658" y="2994154"/>
            <a:ext cx="668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Страницы</a:t>
            </a:r>
            <a:endParaRPr sz="6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12" name="Google Shape;912;p59"/>
          <p:cNvCxnSpPr/>
          <p:nvPr/>
        </p:nvCxnSpPr>
        <p:spPr>
          <a:xfrm>
            <a:off x="877503" y="2695187"/>
            <a:ext cx="124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miter lim="400000"/>
            <a:headEnd len="sm" w="sm" type="none"/>
            <a:tailEnd len="med" w="med" type="triangle"/>
          </a:ln>
        </p:spPr>
      </p:cxnSp>
      <p:sp>
        <p:nvSpPr>
          <p:cNvPr id="913" name="Google Shape;913;p59"/>
          <p:cNvSpPr txBox="1"/>
          <p:nvPr/>
        </p:nvSpPr>
        <p:spPr>
          <a:xfrm>
            <a:off x="8608844" y="233375"/>
            <a:ext cx="267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i="0" lang="en-US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914" name="Google Shape;914;p59"/>
          <p:cNvPicPr preferRelativeResize="0"/>
          <p:nvPr/>
        </p:nvPicPr>
        <p:blipFill rotWithShape="1">
          <a:blip r:embed="rId3">
            <a:alphaModFix/>
          </a:blip>
          <a:srcRect b="0" l="0" r="12" t="0"/>
          <a:stretch/>
        </p:blipFill>
        <p:spPr>
          <a:xfrm>
            <a:off x="6404296" y="2462777"/>
            <a:ext cx="419100" cy="419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вставленный-фильм.png" id="915" name="Google Shape;915;p59"/>
          <p:cNvPicPr preferRelativeResize="0"/>
          <p:nvPr/>
        </p:nvPicPr>
        <p:blipFill rotWithShape="1">
          <a:blip r:embed="rId4">
            <a:alphaModFix/>
          </a:blip>
          <a:srcRect b="0" l="0" r="12" t="0"/>
          <a:stretch/>
        </p:blipFill>
        <p:spPr>
          <a:xfrm>
            <a:off x="8450471" y="2462777"/>
            <a:ext cx="419100" cy="419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toms.png" id="916" name="Google Shape;916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5774" y="246277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lecules.png" id="917" name="Google Shape;917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11948" y="246277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ganisms.png" id="918" name="Google Shape;918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58122" y="2462777"/>
            <a:ext cx="4191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9" name="Google Shape;919;p59"/>
          <p:cNvCxnSpPr/>
          <p:nvPr/>
        </p:nvCxnSpPr>
        <p:spPr>
          <a:xfrm>
            <a:off x="2920643" y="2695187"/>
            <a:ext cx="124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miter lim="400000"/>
            <a:headEnd len="sm" w="sm" type="none"/>
            <a:tailEnd len="med" w="med" type="triangle"/>
          </a:ln>
        </p:spPr>
      </p:cxnSp>
      <p:cxnSp>
        <p:nvCxnSpPr>
          <p:cNvPr id="920" name="Google Shape;920;p59"/>
          <p:cNvCxnSpPr/>
          <p:nvPr/>
        </p:nvCxnSpPr>
        <p:spPr>
          <a:xfrm>
            <a:off x="4966818" y="2695187"/>
            <a:ext cx="124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miter lim="400000"/>
            <a:headEnd len="sm" w="sm" type="none"/>
            <a:tailEnd len="med" w="med" type="triangle"/>
          </a:ln>
        </p:spPr>
      </p:cxnSp>
      <p:cxnSp>
        <p:nvCxnSpPr>
          <p:cNvPr id="921" name="Google Shape;921;p59"/>
          <p:cNvCxnSpPr/>
          <p:nvPr/>
        </p:nvCxnSpPr>
        <p:spPr>
          <a:xfrm>
            <a:off x="7016022" y="2695187"/>
            <a:ext cx="124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miter lim="4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60"/>
          <p:cNvSpPr txBox="1"/>
          <p:nvPr>
            <p:ph idx="12" type="sldNum"/>
          </p:nvPr>
        </p:nvSpPr>
        <p:spPr>
          <a:xfrm>
            <a:off x="8654200" y="242450"/>
            <a:ext cx="21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Google Shape;927;p60"/>
          <p:cNvSpPr txBox="1"/>
          <p:nvPr/>
        </p:nvSpPr>
        <p:spPr>
          <a:xfrm>
            <a:off x="267421" y="865521"/>
            <a:ext cx="458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2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Дизайн, который становится бенчмарком для отрасли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28" name="Google Shape;928;p60"/>
          <p:cNvSpPr txBox="1"/>
          <p:nvPr/>
        </p:nvSpPr>
        <p:spPr>
          <a:xfrm>
            <a:off x="267500" y="1946625"/>
            <a:ext cx="852600" cy="1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Финансы  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Изображение" id="929" name="Google Shape;929;p60"/>
          <p:cNvPicPr preferRelativeResize="0"/>
          <p:nvPr/>
        </p:nvPicPr>
        <p:blipFill rotWithShape="1">
          <a:blip r:embed="rId3">
            <a:alphaModFix/>
          </a:blip>
          <a:srcRect b="743" l="0" r="1" t="748"/>
          <a:stretch/>
        </p:blipFill>
        <p:spPr>
          <a:xfrm>
            <a:off x="267835" y="2336335"/>
            <a:ext cx="2329905" cy="1316385"/>
          </a:xfrm>
          <a:custGeom>
            <a:rect b="b" l="l" r="r" t="t"/>
            <a:pathLst>
              <a:path extrusionOk="0" h="21599" w="21599">
                <a:moveTo>
                  <a:pt x="376" y="0"/>
                </a:moveTo>
                <a:cubicBezTo>
                  <a:pt x="266" y="0"/>
                  <a:pt x="199" y="-1"/>
                  <a:pt x="155" y="32"/>
                </a:cubicBezTo>
                <a:cubicBezTo>
                  <a:pt x="91" y="72"/>
                  <a:pt x="41" y="161"/>
                  <a:pt x="18" y="273"/>
                </a:cubicBezTo>
                <a:cubicBezTo>
                  <a:pt x="0" y="351"/>
                  <a:pt x="0" y="469"/>
                  <a:pt x="0" y="664"/>
                </a:cubicBezTo>
                <a:lnTo>
                  <a:pt x="0" y="20935"/>
                </a:lnTo>
                <a:cubicBezTo>
                  <a:pt x="0" y="21130"/>
                  <a:pt x="0" y="21245"/>
                  <a:pt x="18" y="21323"/>
                </a:cubicBezTo>
                <a:cubicBezTo>
                  <a:pt x="41" y="21435"/>
                  <a:pt x="91" y="21524"/>
                  <a:pt x="155" y="21565"/>
                </a:cubicBezTo>
                <a:cubicBezTo>
                  <a:pt x="199" y="21597"/>
                  <a:pt x="266" y="21599"/>
                  <a:pt x="376" y="21599"/>
                </a:cubicBezTo>
                <a:lnTo>
                  <a:pt x="21224" y="21599"/>
                </a:lnTo>
                <a:cubicBezTo>
                  <a:pt x="21334" y="21599"/>
                  <a:pt x="21401" y="21597"/>
                  <a:pt x="21445" y="21565"/>
                </a:cubicBezTo>
                <a:cubicBezTo>
                  <a:pt x="21509" y="21524"/>
                  <a:pt x="21559" y="21435"/>
                  <a:pt x="21582" y="21323"/>
                </a:cubicBezTo>
                <a:cubicBezTo>
                  <a:pt x="21600" y="21245"/>
                  <a:pt x="21600" y="21130"/>
                  <a:pt x="21600" y="20935"/>
                </a:cubicBezTo>
                <a:lnTo>
                  <a:pt x="21600" y="664"/>
                </a:lnTo>
                <a:cubicBezTo>
                  <a:pt x="21600" y="469"/>
                  <a:pt x="21600" y="351"/>
                  <a:pt x="21582" y="273"/>
                </a:cubicBezTo>
                <a:cubicBezTo>
                  <a:pt x="21559" y="161"/>
                  <a:pt x="21509" y="72"/>
                  <a:pt x="21445" y="32"/>
                </a:cubicBezTo>
                <a:cubicBezTo>
                  <a:pt x="21401" y="-1"/>
                  <a:pt x="21334" y="0"/>
                  <a:pt x="21224" y="0"/>
                </a:cubicBezTo>
                <a:lnTo>
                  <a:pt x="376" y="0"/>
                </a:lnTo>
                <a:close/>
              </a:path>
            </a:pathLst>
          </a:custGeom>
          <a:noFill/>
          <a:ln>
            <a:noFill/>
          </a:ln>
          <a:effectLst>
            <a:outerShdw blurRad="635000" rotWithShape="0" dir="5400000" dist="254000">
              <a:srgbClr val="000000">
                <a:alpha val="14901"/>
              </a:srgbClr>
            </a:outerShdw>
          </a:effectLst>
        </p:spPr>
      </p:pic>
      <p:pic>
        <p:nvPicPr>
          <p:cNvPr descr="Изображение" id="930" name="Google Shape;930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125" y="3877735"/>
            <a:ext cx="210288" cy="210289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60"/>
          <p:cNvSpPr txBox="1"/>
          <p:nvPr/>
        </p:nvSpPr>
        <p:spPr>
          <a:xfrm>
            <a:off x="514475" y="3905725"/>
            <a:ext cx="967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Золотой сайт — 3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Изображение" id="932" name="Google Shape;932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6390" y="4153961"/>
            <a:ext cx="210288" cy="210289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60"/>
          <p:cNvSpPr txBox="1"/>
          <p:nvPr/>
        </p:nvSpPr>
        <p:spPr>
          <a:xfrm>
            <a:off x="512244" y="4181946"/>
            <a:ext cx="59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Tagline — 1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4" name="Google Shape;934;p60"/>
          <p:cNvSpPr txBox="1"/>
          <p:nvPr/>
        </p:nvSpPr>
        <p:spPr>
          <a:xfrm>
            <a:off x="3402250" y="1954200"/>
            <a:ext cx="1062000" cy="1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Университет 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ndex_1440.png" id="935" name="Google Shape;935;p60"/>
          <p:cNvPicPr preferRelativeResize="0"/>
          <p:nvPr/>
        </p:nvPicPr>
        <p:blipFill rotWithShape="1">
          <a:blip r:embed="rId6">
            <a:alphaModFix/>
          </a:blip>
          <a:srcRect b="85629" l="0" r="0" t="22"/>
          <a:stretch/>
        </p:blipFill>
        <p:spPr>
          <a:xfrm>
            <a:off x="3402254" y="2336335"/>
            <a:ext cx="2330047" cy="1316385"/>
          </a:xfrm>
          <a:custGeom>
            <a:rect b="b" l="l" r="r" t="t"/>
            <a:pathLst>
              <a:path extrusionOk="0" h="21598" w="21599">
                <a:moveTo>
                  <a:pt x="376" y="0"/>
                </a:moveTo>
                <a:cubicBezTo>
                  <a:pt x="266" y="0"/>
                  <a:pt x="199" y="-1"/>
                  <a:pt x="155" y="32"/>
                </a:cubicBezTo>
                <a:cubicBezTo>
                  <a:pt x="91" y="72"/>
                  <a:pt x="41" y="161"/>
                  <a:pt x="18" y="273"/>
                </a:cubicBezTo>
                <a:cubicBezTo>
                  <a:pt x="0" y="351"/>
                  <a:pt x="0" y="469"/>
                  <a:pt x="0" y="664"/>
                </a:cubicBezTo>
                <a:lnTo>
                  <a:pt x="0" y="20934"/>
                </a:lnTo>
                <a:cubicBezTo>
                  <a:pt x="0" y="21129"/>
                  <a:pt x="0" y="21247"/>
                  <a:pt x="18" y="21325"/>
                </a:cubicBezTo>
                <a:cubicBezTo>
                  <a:pt x="41" y="21437"/>
                  <a:pt x="91" y="21526"/>
                  <a:pt x="155" y="21566"/>
                </a:cubicBezTo>
                <a:cubicBezTo>
                  <a:pt x="199" y="21599"/>
                  <a:pt x="266" y="21598"/>
                  <a:pt x="376" y="21598"/>
                </a:cubicBezTo>
                <a:lnTo>
                  <a:pt x="21224" y="21598"/>
                </a:lnTo>
                <a:cubicBezTo>
                  <a:pt x="21334" y="21598"/>
                  <a:pt x="21401" y="21599"/>
                  <a:pt x="21445" y="21566"/>
                </a:cubicBezTo>
                <a:cubicBezTo>
                  <a:pt x="21509" y="21526"/>
                  <a:pt x="21559" y="21437"/>
                  <a:pt x="21582" y="21325"/>
                </a:cubicBezTo>
                <a:cubicBezTo>
                  <a:pt x="21600" y="21247"/>
                  <a:pt x="21600" y="21129"/>
                  <a:pt x="21600" y="20934"/>
                </a:cubicBezTo>
                <a:lnTo>
                  <a:pt x="21600" y="664"/>
                </a:lnTo>
                <a:cubicBezTo>
                  <a:pt x="21600" y="469"/>
                  <a:pt x="21600" y="351"/>
                  <a:pt x="21582" y="273"/>
                </a:cubicBezTo>
                <a:cubicBezTo>
                  <a:pt x="21559" y="161"/>
                  <a:pt x="21509" y="72"/>
                  <a:pt x="21445" y="32"/>
                </a:cubicBezTo>
                <a:cubicBezTo>
                  <a:pt x="21401" y="-1"/>
                  <a:pt x="21334" y="0"/>
                  <a:pt x="21224" y="0"/>
                </a:cubicBezTo>
                <a:lnTo>
                  <a:pt x="376" y="0"/>
                </a:lnTo>
                <a:close/>
              </a:path>
            </a:pathLst>
          </a:custGeom>
          <a:noFill/>
          <a:ln>
            <a:noFill/>
          </a:ln>
          <a:effectLst>
            <a:outerShdw blurRad="635000" rotWithShape="0" dir="5400000" dist="254000">
              <a:srgbClr val="000000">
                <a:alpha val="14901"/>
              </a:srgbClr>
            </a:outerShdw>
          </a:effectLst>
        </p:spPr>
      </p:pic>
      <p:pic>
        <p:nvPicPr>
          <p:cNvPr descr="Изображение" id="936" name="Google Shape;936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2254" y="3877736"/>
            <a:ext cx="210288" cy="210289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60"/>
          <p:cNvSpPr txBox="1"/>
          <p:nvPr/>
        </p:nvSpPr>
        <p:spPr>
          <a:xfrm>
            <a:off x="3651599" y="3905725"/>
            <a:ext cx="95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Золотой сайт — 1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Изображение" id="938" name="Google Shape;938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3518" y="4153961"/>
            <a:ext cx="210288" cy="210289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60"/>
          <p:cNvSpPr txBox="1"/>
          <p:nvPr/>
        </p:nvSpPr>
        <p:spPr>
          <a:xfrm>
            <a:off x="3649375" y="4181950"/>
            <a:ext cx="669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Tagline — 3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0" name="Google Shape;940;p60"/>
          <p:cNvSpPr txBox="1"/>
          <p:nvPr/>
        </p:nvSpPr>
        <p:spPr>
          <a:xfrm>
            <a:off x="6538074" y="1948350"/>
            <a:ext cx="967500" cy="1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Аэропорты 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svx_1440.jpg" id="941" name="Google Shape;941;p60"/>
          <p:cNvPicPr preferRelativeResize="0"/>
          <p:nvPr/>
        </p:nvPicPr>
        <p:blipFill rotWithShape="1">
          <a:blip r:embed="rId7">
            <a:alphaModFix/>
          </a:blip>
          <a:srcRect b="64643" l="1104" r="1103" t="91"/>
          <a:stretch/>
        </p:blipFill>
        <p:spPr>
          <a:xfrm>
            <a:off x="6538087" y="2336335"/>
            <a:ext cx="2330053" cy="1316385"/>
          </a:xfrm>
          <a:custGeom>
            <a:rect b="b" l="l" r="r" t="t"/>
            <a:pathLst>
              <a:path extrusionOk="0" h="21598" w="21599">
                <a:moveTo>
                  <a:pt x="376" y="0"/>
                </a:moveTo>
                <a:cubicBezTo>
                  <a:pt x="266" y="0"/>
                  <a:pt x="199" y="-1"/>
                  <a:pt x="155" y="32"/>
                </a:cubicBezTo>
                <a:cubicBezTo>
                  <a:pt x="91" y="72"/>
                  <a:pt x="41" y="161"/>
                  <a:pt x="18" y="273"/>
                </a:cubicBezTo>
                <a:cubicBezTo>
                  <a:pt x="0" y="351"/>
                  <a:pt x="0" y="469"/>
                  <a:pt x="0" y="664"/>
                </a:cubicBezTo>
                <a:lnTo>
                  <a:pt x="0" y="20934"/>
                </a:lnTo>
                <a:cubicBezTo>
                  <a:pt x="0" y="21129"/>
                  <a:pt x="0" y="21247"/>
                  <a:pt x="18" y="21325"/>
                </a:cubicBezTo>
                <a:cubicBezTo>
                  <a:pt x="41" y="21437"/>
                  <a:pt x="91" y="21526"/>
                  <a:pt x="155" y="21566"/>
                </a:cubicBezTo>
                <a:cubicBezTo>
                  <a:pt x="199" y="21599"/>
                  <a:pt x="266" y="21598"/>
                  <a:pt x="376" y="21598"/>
                </a:cubicBezTo>
                <a:lnTo>
                  <a:pt x="21224" y="21598"/>
                </a:lnTo>
                <a:cubicBezTo>
                  <a:pt x="21334" y="21598"/>
                  <a:pt x="21401" y="21599"/>
                  <a:pt x="21445" y="21566"/>
                </a:cubicBezTo>
                <a:cubicBezTo>
                  <a:pt x="21509" y="21526"/>
                  <a:pt x="21559" y="21437"/>
                  <a:pt x="21582" y="21325"/>
                </a:cubicBezTo>
                <a:cubicBezTo>
                  <a:pt x="21600" y="21247"/>
                  <a:pt x="21600" y="21129"/>
                  <a:pt x="21600" y="20934"/>
                </a:cubicBezTo>
                <a:lnTo>
                  <a:pt x="21600" y="664"/>
                </a:lnTo>
                <a:cubicBezTo>
                  <a:pt x="21600" y="469"/>
                  <a:pt x="21600" y="351"/>
                  <a:pt x="21582" y="273"/>
                </a:cubicBezTo>
                <a:cubicBezTo>
                  <a:pt x="21559" y="161"/>
                  <a:pt x="21509" y="72"/>
                  <a:pt x="21445" y="32"/>
                </a:cubicBezTo>
                <a:cubicBezTo>
                  <a:pt x="21401" y="-1"/>
                  <a:pt x="21334" y="0"/>
                  <a:pt x="21224" y="0"/>
                </a:cubicBezTo>
                <a:lnTo>
                  <a:pt x="376" y="0"/>
                </a:lnTo>
                <a:close/>
              </a:path>
            </a:pathLst>
          </a:custGeom>
          <a:noFill/>
          <a:ln>
            <a:noFill/>
          </a:ln>
          <a:effectLst>
            <a:outerShdw blurRad="635000" rotWithShape="0" dir="5400000" dist="254000">
              <a:srgbClr val="000000">
                <a:alpha val="14901"/>
              </a:srgbClr>
            </a:outerShdw>
          </a:effectLst>
        </p:spPr>
      </p:pic>
      <p:pic>
        <p:nvPicPr>
          <p:cNvPr descr="Изображение" id="942" name="Google Shape;942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8086" y="3877736"/>
            <a:ext cx="210288" cy="21028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60"/>
          <p:cNvSpPr txBox="1"/>
          <p:nvPr/>
        </p:nvSpPr>
        <p:spPr>
          <a:xfrm>
            <a:off x="6787451" y="3905725"/>
            <a:ext cx="967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Золотой сайт — 2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Изображение" id="944" name="Google Shape;944;p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8086" y="4153961"/>
            <a:ext cx="210288" cy="210289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60"/>
          <p:cNvSpPr txBox="1"/>
          <p:nvPr/>
        </p:nvSpPr>
        <p:spPr>
          <a:xfrm>
            <a:off x="6785205" y="4181946"/>
            <a:ext cx="111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Рейтинг Рунета — 2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Изображение" id="946" name="Google Shape;946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8086" y="4426162"/>
            <a:ext cx="210288" cy="210289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60"/>
          <p:cNvSpPr txBox="1"/>
          <p:nvPr/>
        </p:nvSpPr>
        <p:spPr>
          <a:xfrm>
            <a:off x="6783953" y="4454150"/>
            <a:ext cx="721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Tagline — 2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1"/>
          <p:cNvSpPr txBox="1"/>
          <p:nvPr/>
        </p:nvSpPr>
        <p:spPr>
          <a:xfrm>
            <a:off x="266030" y="863275"/>
            <a:ext cx="3558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b="0"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Консистентность</a:t>
            </a:r>
            <a:endParaRPr b="0" i="0" sz="19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53" name="Google Shape;953;p61"/>
          <p:cNvSpPr txBox="1"/>
          <p:nvPr/>
        </p:nvSpPr>
        <p:spPr>
          <a:xfrm>
            <a:off x="266025" y="1296000"/>
            <a:ext cx="2947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Атомарный дизайн обеспечит последователь-</a:t>
            </a:r>
            <a:endParaRPr b="0" i="0" sz="1000" u="none" cap="none" strike="noStrike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ность и согласованность пользовательского опыта на всем этапе жизни продукта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4" name="Google Shape;954;p61"/>
          <p:cNvSpPr txBox="1"/>
          <p:nvPr/>
        </p:nvSpPr>
        <p:spPr>
          <a:xfrm>
            <a:off x="4613472" y="863275"/>
            <a:ext cx="3558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b="0"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Удобство</a:t>
            </a:r>
            <a:endParaRPr b="0" i="0" sz="19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55" name="Google Shape;955;p61"/>
          <p:cNvSpPr txBox="1"/>
          <p:nvPr/>
        </p:nvSpPr>
        <p:spPr>
          <a:xfrm>
            <a:off x="4614103" y="1295997"/>
            <a:ext cx="3025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Стандартизированный и консистентный дизайн позволяет комфортно управлять контентом и облегчает дальнейшее обслуживание сайта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6" name="Google Shape;956;p61"/>
          <p:cNvSpPr txBox="1"/>
          <p:nvPr/>
        </p:nvSpPr>
        <p:spPr>
          <a:xfrm>
            <a:off x="4618865" y="3842495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b="0"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1.5-2 раза</a:t>
            </a:r>
            <a:endParaRPr b="0" i="0" sz="29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57" name="Google Shape;957;p61"/>
          <p:cNvSpPr txBox="1"/>
          <p:nvPr/>
        </p:nvSpPr>
        <p:spPr>
          <a:xfrm>
            <a:off x="4622997" y="4415358"/>
            <a:ext cx="1905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сокращение time to market новых продуктов и страниц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8" name="Google Shape;958;p61"/>
          <p:cNvSpPr txBox="1"/>
          <p:nvPr/>
        </p:nvSpPr>
        <p:spPr>
          <a:xfrm>
            <a:off x="6782503" y="3842495"/>
            <a:ext cx="1905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b="0"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30-50%</a:t>
            </a:r>
            <a:endParaRPr b="0" i="0" sz="29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59" name="Google Shape;959;p61"/>
          <p:cNvSpPr txBox="1"/>
          <p:nvPr/>
        </p:nvSpPr>
        <p:spPr>
          <a:xfrm>
            <a:off x="6781873" y="4415358"/>
            <a:ext cx="1905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cost savings в процессе разработки новых продуктов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0" name="Google Shape;960;p61"/>
          <p:cNvSpPr txBox="1"/>
          <p:nvPr/>
        </p:nvSpPr>
        <p:spPr>
          <a:xfrm>
            <a:off x="261268" y="2994154"/>
            <a:ext cx="437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Атомы</a:t>
            </a:r>
            <a:endParaRPr b="0" i="0" sz="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Google Shape;961;p61"/>
          <p:cNvSpPr txBox="1"/>
          <p:nvPr/>
        </p:nvSpPr>
        <p:spPr>
          <a:xfrm>
            <a:off x="2303986" y="2994154"/>
            <a:ext cx="670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Молекулы</a:t>
            </a:r>
            <a:endParaRPr b="0" i="0" sz="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Google Shape;962;p61"/>
          <p:cNvSpPr txBox="1"/>
          <p:nvPr/>
        </p:nvSpPr>
        <p:spPr>
          <a:xfrm>
            <a:off x="4350598" y="3002727"/>
            <a:ext cx="742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Организмы</a:t>
            </a:r>
            <a:endParaRPr b="0" i="0" sz="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61"/>
          <p:cNvSpPr txBox="1"/>
          <p:nvPr/>
        </p:nvSpPr>
        <p:spPr>
          <a:xfrm>
            <a:off x="6393492" y="2994154"/>
            <a:ext cx="6321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Шаблоны</a:t>
            </a:r>
            <a:endParaRPr b="0" i="0" sz="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4" name="Google Shape;964;p61"/>
          <p:cNvSpPr txBox="1"/>
          <p:nvPr/>
        </p:nvSpPr>
        <p:spPr>
          <a:xfrm>
            <a:off x="8426658" y="2994154"/>
            <a:ext cx="668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Страницы</a:t>
            </a:r>
            <a:endParaRPr b="0" i="0" sz="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65" name="Google Shape;965;p61"/>
          <p:cNvCxnSpPr/>
          <p:nvPr/>
        </p:nvCxnSpPr>
        <p:spPr>
          <a:xfrm>
            <a:off x="877503" y="2695187"/>
            <a:ext cx="124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miter lim="400000"/>
            <a:headEnd len="sm" w="sm" type="none"/>
            <a:tailEnd len="med" w="med" type="triangle"/>
          </a:ln>
        </p:spPr>
      </p:cxnSp>
      <p:sp>
        <p:nvSpPr>
          <p:cNvPr id="966" name="Google Shape;966;p61"/>
          <p:cNvSpPr txBox="1"/>
          <p:nvPr/>
        </p:nvSpPr>
        <p:spPr>
          <a:xfrm>
            <a:off x="8608844" y="233375"/>
            <a:ext cx="267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800" u="none" cap="none" strike="noStrike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967" name="Google Shape;967;p61"/>
          <p:cNvPicPr preferRelativeResize="0"/>
          <p:nvPr/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6404296" y="2462777"/>
            <a:ext cx="419100" cy="419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вставленный-фильм.png" id="968" name="Google Shape;968;p61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8450471" y="2462777"/>
            <a:ext cx="419100" cy="419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toms.png" id="969" name="Google Shape;969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5774" y="246277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lecules.png" id="970" name="Google Shape;970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11948" y="246277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ganisms.png" id="971" name="Google Shape;971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58122" y="2462777"/>
            <a:ext cx="4191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2" name="Google Shape;972;p61"/>
          <p:cNvCxnSpPr/>
          <p:nvPr/>
        </p:nvCxnSpPr>
        <p:spPr>
          <a:xfrm>
            <a:off x="2920643" y="2695187"/>
            <a:ext cx="124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miter lim="400000"/>
            <a:headEnd len="sm" w="sm" type="none"/>
            <a:tailEnd len="med" w="med" type="triangle"/>
          </a:ln>
        </p:spPr>
      </p:cxnSp>
      <p:cxnSp>
        <p:nvCxnSpPr>
          <p:cNvPr id="973" name="Google Shape;973;p61"/>
          <p:cNvCxnSpPr/>
          <p:nvPr/>
        </p:nvCxnSpPr>
        <p:spPr>
          <a:xfrm>
            <a:off x="4966818" y="2695187"/>
            <a:ext cx="124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miter lim="400000"/>
            <a:headEnd len="sm" w="sm" type="none"/>
            <a:tailEnd len="med" w="med" type="triangle"/>
          </a:ln>
        </p:spPr>
      </p:cxnSp>
      <p:cxnSp>
        <p:nvCxnSpPr>
          <p:cNvPr id="974" name="Google Shape;974;p61"/>
          <p:cNvCxnSpPr/>
          <p:nvPr/>
        </p:nvCxnSpPr>
        <p:spPr>
          <a:xfrm>
            <a:off x="7016022" y="2695187"/>
            <a:ext cx="124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miter lim="400000"/>
            <a:headEnd len="sm" w="sm" type="none"/>
            <a:tailEnd len="med" w="med" type="triangle"/>
          </a:ln>
        </p:spPr>
      </p:cxnSp>
      <p:sp>
        <p:nvSpPr>
          <p:cNvPr id="975" name="Google Shape;975;p61"/>
          <p:cNvSpPr txBox="1"/>
          <p:nvPr/>
        </p:nvSpPr>
        <p:spPr>
          <a:xfrm>
            <a:off x="261268" y="4599198"/>
            <a:ext cx="13818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0" i="0" lang="en-US" sz="600" u="sng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Подробнее об атомарном дизайне</a:t>
            </a:r>
            <a:endParaRPr b="0" i="0" sz="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2"/>
          <p:cNvSpPr txBox="1"/>
          <p:nvPr>
            <p:ph idx="12" type="sldNum"/>
          </p:nvPr>
        </p:nvSpPr>
        <p:spPr>
          <a:xfrm>
            <a:off x="8652472" y="233375"/>
            <a:ext cx="239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1" name="Google Shape;981;p62"/>
          <p:cNvSpPr txBox="1"/>
          <p:nvPr/>
        </p:nvSpPr>
        <p:spPr>
          <a:xfrm>
            <a:off x="246975" y="868050"/>
            <a:ext cx="375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Работаем с высоконагруженными проектами,  отказоустойчивыми</a:t>
            </a:r>
            <a:r>
              <a:rPr lang="en-US" sz="13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кластерами и Docker. Являемся партнерами вендоров облачных сервисов VK Cloud, Yandex Cloud</a:t>
            </a:r>
            <a:endParaRPr sz="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2" name="Google Shape;982;p62"/>
          <p:cNvSpPr txBox="1"/>
          <p:nvPr/>
        </p:nvSpPr>
        <p:spPr>
          <a:xfrm>
            <a:off x="4474735" y="907244"/>
            <a:ext cx="2857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-1016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Золотой партнер 1С-Битрикс и Битрикс24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3" name="Google Shape;983;p62"/>
          <p:cNvSpPr txBox="1"/>
          <p:nvPr/>
        </p:nvSpPr>
        <p:spPr>
          <a:xfrm>
            <a:off x="218660" y="2159768"/>
            <a:ext cx="35586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5600"/>
              <a:buFont typeface="Arial"/>
              <a:buNone/>
            </a:pPr>
            <a:r>
              <a:rPr i="0" lang="en-US" sz="42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Разработка</a:t>
            </a:r>
            <a:endParaRPr sz="42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84" name="Google Shape;984;p62"/>
          <p:cNvSpPr txBox="1"/>
          <p:nvPr/>
        </p:nvSpPr>
        <p:spPr>
          <a:xfrm>
            <a:off x="4474735" y="1109174"/>
            <a:ext cx="2857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-1016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Компетенция 1С-Битрикс «Системное администрирование и эксплуатация»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5" name="Google Shape;985;p62"/>
          <p:cNvSpPr txBox="1"/>
          <p:nvPr/>
        </p:nvSpPr>
        <p:spPr>
          <a:xfrm>
            <a:off x="4474735" y="1444454"/>
            <a:ext cx="2857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-1016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Компетенция 1С-Битрикс «Крупные корпоративные внедрения» расширенного уровня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6" name="Google Shape;986;p62"/>
          <p:cNvSpPr txBox="1"/>
          <p:nvPr/>
        </p:nvSpPr>
        <p:spPr>
          <a:xfrm>
            <a:off x="244726" y="3297007"/>
            <a:ext cx="3558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7" name="Google Shape;987;p62"/>
          <p:cNvSpPr txBox="1"/>
          <p:nvPr/>
        </p:nvSpPr>
        <p:spPr>
          <a:xfrm>
            <a:off x="254251" y="3588923"/>
            <a:ext cx="3176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HTML/CSS (SCSS), Twog, JavaScript (Vue.js, Nuxt.js), Webpack/Vite, GSAP/Three.js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Google Shape;988;p62"/>
          <p:cNvSpPr/>
          <p:nvPr/>
        </p:nvSpPr>
        <p:spPr>
          <a:xfrm>
            <a:off x="273301" y="3922928"/>
            <a:ext cx="4277100" cy="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9" name="Google Shape;989;p62"/>
          <p:cNvSpPr txBox="1"/>
          <p:nvPr/>
        </p:nvSpPr>
        <p:spPr>
          <a:xfrm>
            <a:off x="4594369" y="3297007"/>
            <a:ext cx="3558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0" name="Google Shape;990;p62"/>
          <p:cNvSpPr txBox="1"/>
          <p:nvPr/>
        </p:nvSpPr>
        <p:spPr>
          <a:xfrm>
            <a:off x="4608650" y="3588925"/>
            <a:ext cx="3476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PHP, NodeJs, Bitrix, Laravel, MySQ, PostgreSQL, Rest, SOAP, Swagger, Git, Redis, Apache, Superset, Jasper, Docker, КриптоПроJCP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Google Shape;991;p62"/>
          <p:cNvSpPr/>
          <p:nvPr/>
        </p:nvSpPr>
        <p:spPr>
          <a:xfrm>
            <a:off x="4622944" y="3922928"/>
            <a:ext cx="4254000" cy="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2" name="Google Shape;992;p62"/>
          <p:cNvSpPr txBox="1"/>
          <p:nvPr/>
        </p:nvSpPr>
        <p:spPr>
          <a:xfrm>
            <a:off x="244319" y="4195746"/>
            <a:ext cx="3558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Интеграция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3" name="Google Shape;993;p62"/>
          <p:cNvSpPr txBox="1"/>
          <p:nvPr/>
        </p:nvSpPr>
        <p:spPr>
          <a:xfrm>
            <a:off x="253850" y="4487650"/>
            <a:ext cx="3897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ЕСИА, СМЭВ, Эквайринг, ERP-системы, IAM-системы, Active directory и др.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4" name="Google Shape;994;p62"/>
          <p:cNvSpPr/>
          <p:nvPr/>
        </p:nvSpPr>
        <p:spPr>
          <a:xfrm>
            <a:off x="272894" y="4702605"/>
            <a:ext cx="4277100" cy="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5" name="Google Shape;995;p62"/>
          <p:cNvSpPr txBox="1"/>
          <p:nvPr/>
        </p:nvSpPr>
        <p:spPr>
          <a:xfrm>
            <a:off x="4594369" y="4195746"/>
            <a:ext cx="3558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Инфраструктура и devops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6" name="Google Shape;996;p62"/>
          <p:cNvSpPr txBox="1"/>
          <p:nvPr/>
        </p:nvSpPr>
        <p:spPr>
          <a:xfrm>
            <a:off x="4608657" y="4487662"/>
            <a:ext cx="428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Zabbix, NewRelic, Ansible, Jenkins, Bash, Python, Gitlab, CI/CD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7" name="Google Shape;997;p62"/>
          <p:cNvSpPr/>
          <p:nvPr/>
        </p:nvSpPr>
        <p:spPr>
          <a:xfrm>
            <a:off x="4622944" y="4702605"/>
            <a:ext cx="4254000" cy="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3"/>
          <p:cNvSpPr txBox="1"/>
          <p:nvPr>
            <p:ph idx="12" type="sldNum"/>
          </p:nvPr>
        </p:nvSpPr>
        <p:spPr>
          <a:xfrm>
            <a:off x="8674300" y="233375"/>
            <a:ext cx="222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3" name="Google Shape;1003;p63"/>
          <p:cNvSpPr txBox="1"/>
          <p:nvPr/>
        </p:nvSpPr>
        <p:spPr>
          <a:xfrm>
            <a:off x="246980" y="868038"/>
            <a:ext cx="38100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Делаем привлекательный сервисный дизайн на основе аналитики, метрик и пользователь-</a:t>
            </a:r>
            <a:endParaRPr i="0" sz="1300" u="none" cap="none" strike="noStrike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ского опыта. Используем продуктовый подход для создания эффективных решений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63"/>
          <p:cNvSpPr txBox="1"/>
          <p:nvPr/>
        </p:nvSpPr>
        <p:spPr>
          <a:xfrm>
            <a:off x="4484018" y="868221"/>
            <a:ext cx="3145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-1016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Исследования и глубокое погружение в бизнес заказчика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5" name="Google Shape;1005;p63"/>
          <p:cNvSpPr txBox="1"/>
          <p:nvPr/>
        </p:nvSpPr>
        <p:spPr>
          <a:xfrm>
            <a:off x="270793" y="2157413"/>
            <a:ext cx="7760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5600"/>
              <a:buFont typeface="Arial"/>
              <a:buNone/>
            </a:pPr>
            <a:r>
              <a:rPr i="0" lang="en-US" sz="42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Аналитика и дизайн</a:t>
            </a:r>
            <a:endParaRPr sz="42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06" name="Google Shape;1006;p63"/>
          <p:cNvSpPr txBox="1"/>
          <p:nvPr/>
        </p:nvSpPr>
        <p:spPr>
          <a:xfrm>
            <a:off x="4484028" y="1079438"/>
            <a:ext cx="2857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-1016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Product Owner отвечает за то, чтобы сайт решал поставленные пользовательские и бизнес-задачи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7" name="Google Shape;1007;p63"/>
          <p:cNvSpPr txBox="1"/>
          <p:nvPr/>
        </p:nvSpPr>
        <p:spPr>
          <a:xfrm>
            <a:off x="4484017" y="1396128"/>
            <a:ext cx="3030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-1016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Inter"/>
              <a:buChar char="•"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Атомарность, последовательность и согласованность пользовательского опыта на всем этапе разработки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Google Shape;1008;p63"/>
          <p:cNvSpPr txBox="1"/>
          <p:nvPr/>
        </p:nvSpPr>
        <p:spPr>
          <a:xfrm>
            <a:off x="237455" y="3776459"/>
            <a:ext cx="2209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10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09" name="Google Shape;1009;p63"/>
          <p:cNvSpPr txBox="1"/>
          <p:nvPr/>
        </p:nvSpPr>
        <p:spPr>
          <a:xfrm>
            <a:off x="251743" y="4271759"/>
            <a:ext cx="17760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место в рейтинге креативных агентств Рейтинга Рунета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0" name="Google Shape;1010;p63"/>
          <p:cNvSpPr txBox="1"/>
          <p:nvPr/>
        </p:nvSpPr>
        <p:spPr>
          <a:xfrm>
            <a:off x="4590380" y="3776459"/>
            <a:ext cx="2209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12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11" name="Google Shape;1011;p63"/>
          <p:cNvSpPr txBox="1"/>
          <p:nvPr/>
        </p:nvSpPr>
        <p:spPr>
          <a:xfrm>
            <a:off x="4604668" y="4271759"/>
            <a:ext cx="1474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место в ТОП-100 веб продакшенов России по версии Ruward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Google Shape;1012;p63"/>
          <p:cNvSpPr txBox="1"/>
          <p:nvPr/>
        </p:nvSpPr>
        <p:spPr>
          <a:xfrm>
            <a:off x="6709693" y="3776459"/>
            <a:ext cx="2209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15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13" name="Google Shape;1013;p63"/>
          <p:cNvSpPr txBox="1"/>
          <p:nvPr/>
        </p:nvSpPr>
        <p:spPr>
          <a:xfrm>
            <a:off x="6709693" y="4271759"/>
            <a:ext cx="14763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место в рейтинге лучших дизайн-студий по версии Tagline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64"/>
          <p:cNvSpPr txBox="1"/>
          <p:nvPr>
            <p:ph idx="12" type="sldNum"/>
          </p:nvPr>
        </p:nvSpPr>
        <p:spPr>
          <a:xfrm>
            <a:off x="8681571" y="233375"/>
            <a:ext cx="211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9" name="Google Shape;1019;p64"/>
          <p:cNvSpPr txBox="1"/>
          <p:nvPr/>
        </p:nvSpPr>
        <p:spPr>
          <a:xfrm>
            <a:off x="246975" y="868050"/>
            <a:ext cx="41085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Реализуем проекты в независимых бизнес-</a:t>
            </a:r>
            <a:endParaRPr i="0" sz="1300" u="none" cap="none" strike="noStrike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юнитах — в каждом юните есть полный комплект сотрудников, необходимый для создания и развития цифровых сервисов и</a:t>
            </a:r>
            <a:r>
              <a:rPr lang="en-US" sz="13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продуктов</a:t>
            </a:r>
            <a:endParaRPr sz="1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0" name="Google Shape;1020;p64"/>
          <p:cNvSpPr txBox="1"/>
          <p:nvPr/>
        </p:nvSpPr>
        <p:spPr>
          <a:xfrm>
            <a:off x="270793" y="2162175"/>
            <a:ext cx="77601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5600"/>
              <a:buFont typeface="Arial"/>
              <a:buNone/>
            </a:pPr>
            <a:r>
              <a:rPr i="0" lang="en-US" sz="42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Управление проектами</a:t>
            </a:r>
            <a:endParaRPr sz="42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descr="вставленный-фильм.png" id="1021" name="Google Shape;1021;p64"/>
          <p:cNvPicPr preferRelativeResize="0"/>
          <p:nvPr/>
        </p:nvPicPr>
        <p:blipFill rotWithShape="1">
          <a:blip r:embed="rId3">
            <a:alphaModFix/>
          </a:blip>
          <a:srcRect b="0" l="0" r="12" t="0"/>
          <a:stretch/>
        </p:blipFill>
        <p:spPr>
          <a:xfrm>
            <a:off x="2449071" y="3242529"/>
            <a:ext cx="419100" cy="419154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64"/>
          <p:cNvSpPr txBox="1"/>
          <p:nvPr/>
        </p:nvSpPr>
        <p:spPr>
          <a:xfrm>
            <a:off x="2420766" y="3837267"/>
            <a:ext cx="2083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Прозрачность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Google Shape;1023;p64"/>
          <p:cNvSpPr txBox="1"/>
          <p:nvPr/>
        </p:nvSpPr>
        <p:spPr>
          <a:xfrm>
            <a:off x="2425529" y="4166926"/>
            <a:ext cx="18915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Подробно и понятно рассказываем, что клиент получает по итогам каждого этапа — держим фокус и не отклоняемся от стратегической цели проекта.</a:t>
            </a:r>
            <a:endParaRPr sz="6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1024" name="Google Shape;1024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4128" y="3242556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64"/>
          <p:cNvSpPr txBox="1"/>
          <p:nvPr/>
        </p:nvSpPr>
        <p:spPr>
          <a:xfrm>
            <a:off x="4595321" y="3837267"/>
            <a:ext cx="2083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Синергия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6" name="Google Shape;1026;p64"/>
          <p:cNvSpPr txBox="1"/>
          <p:nvPr/>
        </p:nvSpPr>
        <p:spPr>
          <a:xfrm>
            <a:off x="4590551" y="4159645"/>
            <a:ext cx="17748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Подскажем, когда потребуется участие</a:t>
            </a:r>
            <a:r>
              <a:rPr lang="en-US" sz="6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вашей команды, а также выберем удобный</a:t>
            </a:r>
            <a:r>
              <a:rPr lang="en-US" sz="6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темп</a:t>
            </a:r>
            <a:r>
              <a:rPr lang="en-US" sz="6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совместной работы и комфортный формат взаимодействия.</a:t>
            </a:r>
            <a:endParaRPr sz="6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1027" name="Google Shape;1027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7091" y="3242556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64"/>
          <p:cNvSpPr txBox="1"/>
          <p:nvPr/>
        </p:nvSpPr>
        <p:spPr>
          <a:xfrm>
            <a:off x="6763046" y="3837267"/>
            <a:ext cx="2083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Экспертиза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9" name="Google Shape;1029;p64"/>
          <p:cNvSpPr txBox="1"/>
          <p:nvPr/>
        </p:nvSpPr>
        <p:spPr>
          <a:xfrm>
            <a:off x="6758284" y="4159634"/>
            <a:ext cx="21333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Проактивность — ключ к достойному результату.  В</a:t>
            </a:r>
            <a:r>
              <a:rPr lang="en-US" sz="6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ходе проекта мы постоянно предлагаем улучшения и</a:t>
            </a:r>
            <a:r>
              <a:rPr lang="en-US" sz="6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идеи, опираясь на глубокую экспертизу и много-</a:t>
            </a:r>
            <a:endParaRPr i="0" sz="600" u="none" cap="none" strike="noStrike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летний опыт.</a:t>
            </a:r>
            <a:endParaRPr sz="6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1030" name="Google Shape;1030;p64"/>
          <p:cNvPicPr preferRelativeResize="0"/>
          <p:nvPr/>
        </p:nvPicPr>
        <p:blipFill rotWithShape="1">
          <a:blip r:embed="rId6">
            <a:alphaModFix/>
          </a:blip>
          <a:srcRect b="0" l="0" r="12" t="0"/>
          <a:stretch/>
        </p:blipFill>
        <p:spPr>
          <a:xfrm>
            <a:off x="238456" y="3242529"/>
            <a:ext cx="419100" cy="419154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64"/>
          <p:cNvSpPr txBox="1"/>
          <p:nvPr/>
        </p:nvSpPr>
        <p:spPr>
          <a:xfrm>
            <a:off x="243489" y="3837267"/>
            <a:ext cx="2083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Индивидуальный подход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2" name="Google Shape;1032;p64"/>
          <p:cNvSpPr txBox="1"/>
          <p:nvPr/>
        </p:nvSpPr>
        <p:spPr>
          <a:xfrm>
            <a:off x="243489" y="4166926"/>
            <a:ext cx="19086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Всесторонне изучаем рынок и бизнес клиента, предлагаем уникальные решения, гибко подбирая команду, условия работы и оплаты на основе интересов клиента.</a:t>
            </a:r>
            <a:endParaRPr sz="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3" name="Google Shape;1033;p64"/>
          <p:cNvSpPr txBox="1"/>
          <p:nvPr/>
        </p:nvSpPr>
        <p:spPr>
          <a:xfrm>
            <a:off x="6763046" y="1059130"/>
            <a:ext cx="2209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34" name="Google Shape;1034;p64"/>
          <p:cNvSpPr txBox="1"/>
          <p:nvPr/>
        </p:nvSpPr>
        <p:spPr>
          <a:xfrm>
            <a:off x="6777334" y="1525346"/>
            <a:ext cx="147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юнита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5" name="Google Shape;1035;p64"/>
          <p:cNvSpPr txBox="1"/>
          <p:nvPr/>
        </p:nvSpPr>
        <p:spPr>
          <a:xfrm>
            <a:off x="4614128" y="1059130"/>
            <a:ext cx="2209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i="0" lang="en-US" sz="2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14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36" name="Google Shape;1036;p64"/>
          <p:cNvSpPr txBox="1"/>
          <p:nvPr/>
        </p:nvSpPr>
        <p:spPr>
          <a:xfrm>
            <a:off x="4614128" y="1525346"/>
            <a:ext cx="160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руководителей проектов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Google Shape;1037;p64"/>
          <p:cNvSpPr txBox="1"/>
          <p:nvPr/>
        </p:nvSpPr>
        <p:spPr>
          <a:xfrm>
            <a:off x="3618350" y="5012250"/>
            <a:ext cx="302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65"/>
          <p:cNvSpPr txBox="1"/>
          <p:nvPr>
            <p:ph idx="12" type="sldNum"/>
          </p:nvPr>
        </p:nvSpPr>
        <p:spPr>
          <a:xfrm>
            <a:off x="8636381" y="233375"/>
            <a:ext cx="264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3" name="Google Shape;1043;p65"/>
          <p:cNvSpPr txBox="1"/>
          <p:nvPr/>
        </p:nvSpPr>
        <p:spPr>
          <a:xfrm>
            <a:off x="266030" y="863275"/>
            <a:ext cx="3549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Применение современных технологий разработки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descr="вставленный-фильм.png" id="1044" name="Google Shape;1044;p65"/>
          <p:cNvPicPr preferRelativeResize="0"/>
          <p:nvPr/>
        </p:nvPicPr>
        <p:blipFill rotWithShape="1">
          <a:blip r:embed="rId3">
            <a:alphaModFix/>
          </a:blip>
          <a:srcRect b="0" l="0" r="12" t="0"/>
          <a:stretch/>
        </p:blipFill>
        <p:spPr>
          <a:xfrm>
            <a:off x="2449044" y="2294764"/>
            <a:ext cx="419100" cy="419154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65"/>
          <p:cNvSpPr/>
          <p:nvPr/>
        </p:nvSpPr>
        <p:spPr>
          <a:xfrm>
            <a:off x="2454076" y="2889502"/>
            <a:ext cx="2083325" cy="0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Twig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1046" name="Google Shape;104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4128" y="2294818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65"/>
          <p:cNvSpPr/>
          <p:nvPr/>
        </p:nvSpPr>
        <p:spPr>
          <a:xfrm>
            <a:off x="4619133" y="2889529"/>
            <a:ext cx="2083325" cy="0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DevOPS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1048" name="Google Shape;1048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7091" y="2294818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65"/>
          <p:cNvSpPr/>
          <p:nvPr/>
        </p:nvSpPr>
        <p:spPr>
          <a:xfrm>
            <a:off x="6782096" y="2889529"/>
            <a:ext cx="2083324" cy="0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Авто-тесты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1050" name="Google Shape;1050;p65"/>
          <p:cNvPicPr preferRelativeResize="0"/>
          <p:nvPr/>
        </p:nvPicPr>
        <p:blipFill rotWithShape="1">
          <a:blip r:embed="rId6">
            <a:alphaModFix/>
          </a:blip>
          <a:srcRect b="0" l="0" r="12" t="0"/>
          <a:stretch/>
        </p:blipFill>
        <p:spPr>
          <a:xfrm>
            <a:off x="238429" y="2294764"/>
            <a:ext cx="419100" cy="419154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65"/>
          <p:cNvSpPr/>
          <p:nvPr/>
        </p:nvSpPr>
        <p:spPr>
          <a:xfrm>
            <a:off x="243462" y="2889502"/>
            <a:ext cx="2083325" cy="0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Компонентный подход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Google Shape;1052;p65"/>
          <p:cNvSpPr txBox="1"/>
          <p:nvPr/>
        </p:nvSpPr>
        <p:spPr>
          <a:xfrm>
            <a:off x="243489" y="4619364"/>
            <a:ext cx="2083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sng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Подробнее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Google Shape;1053;p65"/>
          <p:cNvSpPr txBox="1"/>
          <p:nvPr/>
        </p:nvSpPr>
        <p:spPr>
          <a:xfrm>
            <a:off x="278700" y="3347525"/>
            <a:ext cx="210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Сбор требований по проекту. </a:t>
            </a:r>
            <a:b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Проведение интервью для сбора</a:t>
            </a:r>
            <a:b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бизнес- и функциональных требований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4" name="Google Shape;1054;p65"/>
          <p:cNvSpPr txBox="1"/>
          <p:nvPr/>
        </p:nvSpPr>
        <p:spPr>
          <a:xfrm>
            <a:off x="2457725" y="3347525"/>
            <a:ext cx="210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Язык шаблонов для ускоренной </a:t>
            </a:r>
            <a:b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сборки HTML и интеграции новых </a:t>
            </a:r>
            <a:b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промо-страниц 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5" name="Google Shape;1055;p65"/>
          <p:cNvSpPr txBox="1"/>
          <p:nvPr/>
        </p:nvSpPr>
        <p:spPr>
          <a:xfrm>
            <a:off x="4625588" y="3347525"/>
            <a:ext cx="210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Командная работа между сотрудни-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ками разработки, тестирования 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 операционной деятельности 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для обеспечения качества продукта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6" name="Google Shape;1056;p65"/>
          <p:cNvSpPr txBox="1"/>
          <p:nvPr/>
        </p:nvSpPr>
        <p:spPr>
          <a:xfrm>
            <a:off x="6784170" y="3347525"/>
            <a:ext cx="210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Автотестирование конфигуратора 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 предмет корректности цен, наличия изображения и других параметров 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6"/>
          <p:cNvSpPr txBox="1"/>
          <p:nvPr>
            <p:ph idx="12" type="sldNum"/>
          </p:nvPr>
        </p:nvSpPr>
        <p:spPr>
          <a:xfrm>
            <a:off x="8602875" y="233375"/>
            <a:ext cx="30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062" name="Google Shape;1062;p66"/>
          <p:cNvCxnSpPr/>
          <p:nvPr/>
        </p:nvCxnSpPr>
        <p:spPr>
          <a:xfrm rot="10800000">
            <a:off x="8606832" y="1355560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063" name="Google Shape;1063;p66"/>
          <p:cNvCxnSpPr/>
          <p:nvPr/>
        </p:nvCxnSpPr>
        <p:spPr>
          <a:xfrm rot="10800000">
            <a:off x="6589416" y="1355736"/>
            <a:ext cx="0" cy="5424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064" name="Google Shape;1064;p66"/>
          <p:cNvCxnSpPr/>
          <p:nvPr/>
        </p:nvCxnSpPr>
        <p:spPr>
          <a:xfrm rot="10800000">
            <a:off x="2613050" y="1355736"/>
            <a:ext cx="0" cy="5424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065" name="Google Shape;1065;p66"/>
          <p:cNvCxnSpPr/>
          <p:nvPr/>
        </p:nvCxnSpPr>
        <p:spPr>
          <a:xfrm rot="10800000">
            <a:off x="655982" y="1355736"/>
            <a:ext cx="0" cy="5424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miter lim="400000"/>
            <a:headEnd len="sm" w="sm" type="none"/>
            <a:tailEnd len="sm" w="sm" type="none"/>
          </a:ln>
        </p:spPr>
      </p:cxnSp>
      <p:cxnSp>
        <p:nvCxnSpPr>
          <p:cNvPr id="1066" name="Google Shape;1066;p66"/>
          <p:cNvCxnSpPr/>
          <p:nvPr/>
        </p:nvCxnSpPr>
        <p:spPr>
          <a:xfrm rot="10800000">
            <a:off x="4572000" y="1162372"/>
            <a:ext cx="0" cy="7068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067" name="Google Shape;1067;p66"/>
          <p:cNvSpPr/>
          <p:nvPr/>
        </p:nvSpPr>
        <p:spPr>
          <a:xfrm>
            <a:off x="4238625" y="940067"/>
            <a:ext cx="6669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главная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8" name="Google Shape;1068;p66"/>
          <p:cNvSpPr/>
          <p:nvPr/>
        </p:nvSpPr>
        <p:spPr>
          <a:xfrm>
            <a:off x="4333875" y="1494959"/>
            <a:ext cx="4764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отдых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9" name="Google Shape;1069;p66"/>
          <p:cNvSpPr/>
          <p:nvPr/>
        </p:nvSpPr>
        <p:spPr>
          <a:xfrm>
            <a:off x="344538" y="1494959"/>
            <a:ext cx="6192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 городе 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0" name="Google Shape;1070;p66"/>
          <p:cNvSpPr/>
          <p:nvPr/>
        </p:nvSpPr>
        <p:spPr>
          <a:xfrm>
            <a:off x="2184425" y="1494959"/>
            <a:ext cx="8574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недвижимость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1" name="Google Shape;1071;p66"/>
          <p:cNvSpPr/>
          <p:nvPr/>
        </p:nvSpPr>
        <p:spPr>
          <a:xfrm>
            <a:off x="6303666" y="1494959"/>
            <a:ext cx="57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бизнес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2" name="Google Shape;1072;p66"/>
          <p:cNvSpPr/>
          <p:nvPr/>
        </p:nvSpPr>
        <p:spPr>
          <a:xfrm>
            <a:off x="8273458" y="1494959"/>
            <a:ext cx="6669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контакты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73" name="Google Shape;1073;p66"/>
          <p:cNvCxnSpPr/>
          <p:nvPr/>
        </p:nvCxnSpPr>
        <p:spPr>
          <a:xfrm>
            <a:off x="653766" y="1354022"/>
            <a:ext cx="7949100" cy="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074" name="Google Shape;1074;p66"/>
          <p:cNvSpPr/>
          <p:nvPr/>
        </p:nvSpPr>
        <p:spPr>
          <a:xfrm>
            <a:off x="225475" y="1859033"/>
            <a:ext cx="8574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безопасность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5" name="Google Shape;1075;p66"/>
          <p:cNvSpPr/>
          <p:nvPr/>
        </p:nvSpPr>
        <p:spPr>
          <a:xfrm>
            <a:off x="225475" y="2132115"/>
            <a:ext cx="8574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образование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6" name="Google Shape;1076;p66"/>
          <p:cNvSpPr/>
          <p:nvPr/>
        </p:nvSpPr>
        <p:spPr>
          <a:xfrm>
            <a:off x="320725" y="2405198"/>
            <a:ext cx="6669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медицина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7" name="Google Shape;1077;p66"/>
          <p:cNvSpPr/>
          <p:nvPr/>
        </p:nvSpPr>
        <p:spPr>
          <a:xfrm>
            <a:off x="320725" y="2678280"/>
            <a:ext cx="6669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экология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8" name="Google Shape;1078;p66"/>
          <p:cNvSpPr/>
          <p:nvPr/>
        </p:nvSpPr>
        <p:spPr>
          <a:xfrm>
            <a:off x="273100" y="2951362"/>
            <a:ext cx="7620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сообщество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9" name="Google Shape;1079;p66"/>
          <p:cNvSpPr/>
          <p:nvPr/>
        </p:nvSpPr>
        <p:spPr>
          <a:xfrm>
            <a:off x="225475" y="3224445"/>
            <a:ext cx="8574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всё об отдыхе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0" name="Google Shape;1080;p66"/>
          <p:cNvSpPr/>
          <p:nvPr/>
        </p:nvSpPr>
        <p:spPr>
          <a:xfrm>
            <a:off x="225475" y="3497527"/>
            <a:ext cx="8574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сервисная ук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1" name="Google Shape;1081;p66"/>
          <p:cNvSpPr/>
          <p:nvPr/>
        </p:nvSpPr>
        <p:spPr>
          <a:xfrm>
            <a:off x="320725" y="3770610"/>
            <a:ext cx="6669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аэропорт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2" name="Google Shape;1082;p66"/>
          <p:cNvSpPr/>
          <p:nvPr/>
        </p:nvSpPr>
        <p:spPr>
          <a:xfrm>
            <a:off x="320725" y="4043692"/>
            <a:ext cx="6669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вакансии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3" name="Google Shape;1083;p66"/>
          <p:cNvSpPr/>
          <p:nvPr/>
        </p:nvSpPr>
        <p:spPr>
          <a:xfrm>
            <a:off x="4333875" y="1859033"/>
            <a:ext cx="4764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акции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4" name="Google Shape;1084;p66"/>
          <p:cNvSpPr/>
          <p:nvPr/>
        </p:nvSpPr>
        <p:spPr>
          <a:xfrm>
            <a:off x="4214813" y="2132115"/>
            <a:ext cx="7143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парк-отель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5" name="Google Shape;1085;p66"/>
          <p:cNvSpPr/>
          <p:nvPr/>
        </p:nvSpPr>
        <p:spPr>
          <a:xfrm>
            <a:off x="4286250" y="2405198"/>
            <a:ext cx="57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афиша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6" name="Google Shape;1086;p66"/>
          <p:cNvSpPr/>
          <p:nvPr/>
        </p:nvSpPr>
        <p:spPr>
          <a:xfrm>
            <a:off x="4333875" y="2678280"/>
            <a:ext cx="4764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гольф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7" name="Google Shape;1087;p66"/>
          <p:cNvSpPr/>
          <p:nvPr/>
        </p:nvSpPr>
        <p:spPr>
          <a:xfrm>
            <a:off x="4381500" y="2951362"/>
            <a:ext cx="3810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spa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8" name="Google Shape;1088;p66"/>
          <p:cNvSpPr/>
          <p:nvPr/>
        </p:nvSpPr>
        <p:spPr>
          <a:xfrm>
            <a:off x="3952875" y="3224445"/>
            <a:ext cx="12384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парк семейного отдыха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9" name="Google Shape;1089;p66"/>
          <p:cNvSpPr/>
          <p:nvPr/>
        </p:nvSpPr>
        <p:spPr>
          <a:xfrm>
            <a:off x="4191000" y="3497527"/>
            <a:ext cx="7620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рестораны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0" name="Google Shape;1090;p66"/>
          <p:cNvSpPr/>
          <p:nvPr/>
        </p:nvSpPr>
        <p:spPr>
          <a:xfrm>
            <a:off x="4286250" y="3770610"/>
            <a:ext cx="571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свадьбы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Google Shape;1091;p66"/>
          <p:cNvSpPr/>
          <p:nvPr/>
        </p:nvSpPr>
        <p:spPr>
          <a:xfrm>
            <a:off x="4310063" y="4043692"/>
            <a:ext cx="5238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спорт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2" name="Google Shape;1092;p66"/>
          <p:cNvSpPr/>
          <p:nvPr/>
        </p:nvSpPr>
        <p:spPr>
          <a:xfrm>
            <a:off x="4381500" y="4316774"/>
            <a:ext cx="3810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kids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3" name="Google Shape;1093;p66"/>
          <p:cNvSpPr/>
          <p:nvPr/>
        </p:nvSpPr>
        <p:spPr>
          <a:xfrm>
            <a:off x="2303487" y="1859033"/>
            <a:ext cx="6192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квартиры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4" name="Google Shape;1094;p66"/>
          <p:cNvSpPr/>
          <p:nvPr/>
        </p:nvSpPr>
        <p:spPr>
          <a:xfrm>
            <a:off x="2279675" y="2132115"/>
            <a:ext cx="6669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таунхаусы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5" name="Google Shape;1095;p66"/>
          <p:cNvSpPr/>
          <p:nvPr/>
        </p:nvSpPr>
        <p:spPr>
          <a:xfrm>
            <a:off x="2065362" y="2405198"/>
            <a:ext cx="10953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земельные участки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6" name="Google Shape;1096;p66"/>
          <p:cNvSpPr/>
          <p:nvPr/>
        </p:nvSpPr>
        <p:spPr>
          <a:xfrm>
            <a:off x="1898675" y="2678280"/>
            <a:ext cx="14289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специальные предложения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7" name="Google Shape;1097;p66"/>
          <p:cNvSpPr/>
          <p:nvPr/>
        </p:nvSpPr>
        <p:spPr>
          <a:xfrm>
            <a:off x="2184425" y="2951362"/>
            <a:ext cx="8574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документация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8" name="Google Shape;1098;p66"/>
          <p:cNvSpPr/>
          <p:nvPr/>
        </p:nvSpPr>
        <p:spPr>
          <a:xfrm>
            <a:off x="5827416" y="1859033"/>
            <a:ext cx="15240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особая экономическая зона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9" name="Google Shape;1099;p66"/>
          <p:cNvSpPr/>
          <p:nvPr/>
        </p:nvSpPr>
        <p:spPr>
          <a:xfrm>
            <a:off x="6184604" y="2132115"/>
            <a:ext cx="8097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мастер-план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0" name="Google Shape;1100;p66"/>
          <p:cNvSpPr/>
          <p:nvPr/>
        </p:nvSpPr>
        <p:spPr>
          <a:xfrm>
            <a:off x="5875041" y="2405198"/>
            <a:ext cx="14289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преимущества территории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1" name="Google Shape;1101;p66"/>
          <p:cNvSpPr/>
          <p:nvPr/>
        </p:nvSpPr>
        <p:spPr>
          <a:xfrm>
            <a:off x="5922666" y="2678280"/>
            <a:ext cx="13335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льготы и преференции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2" name="Google Shape;1102;p66"/>
          <p:cNvSpPr/>
          <p:nvPr/>
        </p:nvSpPr>
        <p:spPr>
          <a:xfrm>
            <a:off x="6065541" y="2951362"/>
            <a:ext cx="10479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стать резидентом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67"/>
          <p:cNvSpPr txBox="1"/>
          <p:nvPr>
            <p:ph idx="12" type="sldNum"/>
          </p:nvPr>
        </p:nvSpPr>
        <p:spPr>
          <a:xfrm>
            <a:off x="8624777" y="233375"/>
            <a:ext cx="271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8" name="Google Shape;1108;p67"/>
          <p:cNvSpPr txBox="1"/>
          <p:nvPr/>
        </p:nvSpPr>
        <p:spPr>
          <a:xfrm>
            <a:off x="261268" y="863275"/>
            <a:ext cx="4257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Требования к каталогу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09" name="Google Shape;1109;p67"/>
          <p:cNvSpPr txBox="1"/>
          <p:nvPr/>
        </p:nvSpPr>
        <p:spPr>
          <a:xfrm>
            <a:off x="249530" y="1809237"/>
            <a:ext cx="2101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Каталог делится на категории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0" name="Google Shape;1110;p67"/>
          <p:cNvSpPr txBox="1"/>
          <p:nvPr/>
        </p:nvSpPr>
        <p:spPr>
          <a:xfrm>
            <a:off x="100067" y="2461156"/>
            <a:ext cx="2280900" cy="16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-1270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автобусы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1270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автовышки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1270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автогидроподъемщики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1270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изометрические фургоны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1270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промтоварные фургоны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1270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эвакуаторы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1270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 т.д.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11" name="Google Shape;1111;p67"/>
          <p:cNvCxnSpPr/>
          <p:nvPr/>
        </p:nvCxnSpPr>
        <p:spPr>
          <a:xfrm>
            <a:off x="269082" y="1729928"/>
            <a:ext cx="2810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112" name="Google Shape;1112;p67"/>
          <p:cNvSpPr txBox="1"/>
          <p:nvPr/>
        </p:nvSpPr>
        <p:spPr>
          <a:xfrm>
            <a:off x="6036603" y="969157"/>
            <a:ext cx="2280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Каталог спецтехники размещается в отдельном разделе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3" name="Google Shape;1113;p67"/>
          <p:cNvSpPr txBox="1"/>
          <p:nvPr/>
        </p:nvSpPr>
        <p:spPr>
          <a:xfrm>
            <a:off x="3158078" y="1809237"/>
            <a:ext cx="2084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Страницы каталога содержат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4" name="Google Shape;1114;p67"/>
          <p:cNvSpPr txBox="1"/>
          <p:nvPr/>
        </p:nvSpPr>
        <p:spPr>
          <a:xfrm>
            <a:off x="3008615" y="2461156"/>
            <a:ext cx="22605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-1270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список спецтехники </a:t>
            </a:r>
            <a:b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 возможностью перехода </a:t>
            </a:r>
            <a:b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 детальную страницу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1270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фильтрацию списка спецтехники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1270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кнопки для перехода </a:t>
            </a:r>
            <a:b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конфигуратор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15" name="Google Shape;1115;p67"/>
          <p:cNvCxnSpPr/>
          <p:nvPr/>
        </p:nvCxnSpPr>
        <p:spPr>
          <a:xfrm>
            <a:off x="3177631" y="1729928"/>
            <a:ext cx="2810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116" name="Google Shape;1116;p67"/>
          <p:cNvSpPr txBox="1"/>
          <p:nvPr/>
        </p:nvSpPr>
        <p:spPr>
          <a:xfrm>
            <a:off x="6050797" y="1809237"/>
            <a:ext cx="2811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Детальные страницы спецтехники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7" name="Google Shape;1117;p67"/>
          <p:cNvSpPr txBox="1"/>
          <p:nvPr/>
        </p:nvSpPr>
        <p:spPr>
          <a:xfrm>
            <a:off x="5891810" y="2461156"/>
            <a:ext cx="2260500" cy="16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-1270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галерея изображений 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1270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описание, характеристики, опции спецтехники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1270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начальная стоимость, </a:t>
            </a:r>
            <a:b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кнопка заявки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1270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кнопка перехода в конфигуратор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127000" lvl="0" marL="152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Inter"/>
              <a:buChar char="•"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ссылки на похожую спецтехнику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18" name="Google Shape;1118;p67"/>
          <p:cNvCxnSpPr/>
          <p:nvPr/>
        </p:nvCxnSpPr>
        <p:spPr>
          <a:xfrm>
            <a:off x="6065587" y="1729928"/>
            <a:ext cx="2810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68"/>
          <p:cNvSpPr txBox="1"/>
          <p:nvPr>
            <p:ph idx="12" type="sldNum"/>
          </p:nvPr>
        </p:nvSpPr>
        <p:spPr>
          <a:xfrm>
            <a:off x="8642203" y="233375"/>
            <a:ext cx="253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24" name="Google Shape;1124;p68"/>
          <p:cNvSpPr txBox="1"/>
          <p:nvPr/>
        </p:nvSpPr>
        <p:spPr>
          <a:xfrm>
            <a:off x="261268" y="863275"/>
            <a:ext cx="4257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Воронка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25" name="Google Shape;1125;p68"/>
          <p:cNvSpPr/>
          <p:nvPr/>
        </p:nvSpPr>
        <p:spPr>
          <a:xfrm rot="5400000">
            <a:off x="137326" y="1448938"/>
            <a:ext cx="3841722" cy="3546126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0" y="21600"/>
                </a:lnTo>
                <a:lnTo>
                  <a:pt x="21600" y="12646"/>
                </a:lnTo>
                <a:lnTo>
                  <a:pt x="21600" y="801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EFDFE">
                  <a:alpha val="31764"/>
                </a:srgbClr>
              </a:gs>
              <a:gs pos="100000">
                <a:srgbClr val="CBFDFE"/>
              </a:gs>
            </a:gsLst>
            <a:lin ang="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6" name="Google Shape;1126;p68"/>
          <p:cNvSpPr txBox="1"/>
          <p:nvPr/>
        </p:nvSpPr>
        <p:spPr>
          <a:xfrm>
            <a:off x="260715" y="2035296"/>
            <a:ext cx="628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1 192 087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7" name="Google Shape;1127;p68"/>
          <p:cNvSpPr txBox="1"/>
          <p:nvPr/>
        </p:nvSpPr>
        <p:spPr>
          <a:xfrm>
            <a:off x="265477" y="3325023"/>
            <a:ext cx="628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228 980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8" name="Google Shape;1128;p68"/>
          <p:cNvSpPr txBox="1"/>
          <p:nvPr/>
        </p:nvSpPr>
        <p:spPr>
          <a:xfrm>
            <a:off x="990874" y="2025297"/>
            <a:ext cx="1333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19,2%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9" name="Google Shape;1129;p68"/>
          <p:cNvSpPr txBox="1"/>
          <p:nvPr/>
        </p:nvSpPr>
        <p:spPr>
          <a:xfrm>
            <a:off x="990874" y="3325023"/>
            <a:ext cx="1333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0,55%</a:t>
            </a:r>
            <a:endParaRPr sz="500"/>
          </a:p>
        </p:txBody>
      </p:sp>
      <p:sp>
        <p:nvSpPr>
          <p:cNvPr id="1130" name="Google Shape;1130;p68"/>
          <p:cNvSpPr txBox="1"/>
          <p:nvPr/>
        </p:nvSpPr>
        <p:spPr>
          <a:xfrm>
            <a:off x="262313" y="4591509"/>
            <a:ext cx="1143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6 603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31" name="Google Shape;1131;p68"/>
          <p:cNvCxnSpPr/>
          <p:nvPr/>
        </p:nvCxnSpPr>
        <p:spPr>
          <a:xfrm>
            <a:off x="268953" y="3875696"/>
            <a:ext cx="35460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132" name="Google Shape;1132;p68"/>
          <p:cNvSpPr txBox="1"/>
          <p:nvPr/>
        </p:nvSpPr>
        <p:spPr>
          <a:xfrm>
            <a:off x="4603455" y="1659510"/>
            <a:ext cx="19902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5600"/>
              <a:buFont typeface="Arial"/>
              <a:buNone/>
            </a:pPr>
            <a:r>
              <a:rPr i="0" lang="en-US" sz="42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19,75%</a:t>
            </a:r>
            <a:endParaRPr sz="42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33" name="Google Shape;1133;p68"/>
          <p:cNvSpPr txBox="1"/>
          <p:nvPr/>
        </p:nvSpPr>
        <p:spPr>
          <a:xfrm>
            <a:off x="4617743" y="2447016"/>
            <a:ext cx="1990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коэф. конверсии к общему числу визитов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4" name="Google Shape;1134;p68"/>
          <p:cNvSpPr txBox="1"/>
          <p:nvPr/>
        </p:nvSpPr>
        <p:spPr>
          <a:xfrm>
            <a:off x="6628805" y="2447016"/>
            <a:ext cx="1532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B7B7B7"/>
                </a:solidFill>
                <a:latin typeface="Inter"/>
                <a:ea typeface="Inter"/>
                <a:cs typeface="Inter"/>
                <a:sym typeface="Inter"/>
              </a:rPr>
              <a:t>общее кол-во микро-конверсий</a:t>
            </a:r>
            <a:endParaRPr sz="1000">
              <a:solidFill>
                <a:srgbClr val="B7B7B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5" name="Google Shape;1135;p68"/>
          <p:cNvSpPr txBox="1"/>
          <p:nvPr/>
        </p:nvSpPr>
        <p:spPr>
          <a:xfrm>
            <a:off x="6600851" y="1659510"/>
            <a:ext cx="23502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5600"/>
              <a:buFont typeface="Arial"/>
              <a:buNone/>
            </a:pPr>
            <a:r>
              <a:rPr i="0" lang="en-US" sz="4200" u="none" cap="none" strike="noStrike">
                <a:solidFill>
                  <a:srgbClr val="B7B7B7"/>
                </a:solidFill>
                <a:latin typeface="Inter Medium"/>
                <a:ea typeface="Inter Medium"/>
                <a:cs typeface="Inter Medium"/>
                <a:sym typeface="Inter Medium"/>
              </a:rPr>
              <a:t>235 583</a:t>
            </a:r>
            <a:endParaRPr sz="4200">
              <a:solidFill>
                <a:srgbClr val="B7B7B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36" name="Google Shape;1136;p68"/>
          <p:cNvSpPr txBox="1"/>
          <p:nvPr/>
        </p:nvSpPr>
        <p:spPr>
          <a:xfrm>
            <a:off x="264173" y="1729476"/>
            <a:ext cx="2111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Визиты сайта из поиска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7" name="Google Shape;1137;p68"/>
          <p:cNvSpPr txBox="1"/>
          <p:nvPr/>
        </p:nvSpPr>
        <p:spPr>
          <a:xfrm>
            <a:off x="265289" y="3016470"/>
            <a:ext cx="1802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Микро-конверсии*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8" name="Google Shape;1138;p68"/>
          <p:cNvSpPr txBox="1"/>
          <p:nvPr/>
        </p:nvSpPr>
        <p:spPr>
          <a:xfrm>
            <a:off x="266748" y="4308074"/>
            <a:ext cx="1333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Лиды**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9" name="Google Shape;1139;p68"/>
          <p:cNvSpPr txBox="1"/>
          <p:nvPr/>
        </p:nvSpPr>
        <p:spPr>
          <a:xfrm>
            <a:off x="4622505" y="936046"/>
            <a:ext cx="1990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Источник: Яндекс Метрика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0" name="Google Shape;1140;p68"/>
          <p:cNvSpPr txBox="1"/>
          <p:nvPr/>
        </p:nvSpPr>
        <p:spPr>
          <a:xfrm>
            <a:off x="4612975" y="4410200"/>
            <a:ext cx="303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Переход на список партнеров, скачивание прайс-листов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68"/>
          <p:cNvSpPr txBox="1"/>
          <p:nvPr/>
        </p:nvSpPr>
        <p:spPr>
          <a:xfrm>
            <a:off x="4455193" y="4410534"/>
            <a:ext cx="15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2" name="Google Shape;1142;p68"/>
          <p:cNvSpPr txBox="1"/>
          <p:nvPr/>
        </p:nvSpPr>
        <p:spPr>
          <a:xfrm>
            <a:off x="4606622" y="4611139"/>
            <a:ext cx="199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Отправка форм с контактами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3" name="Google Shape;1143;p68"/>
          <p:cNvSpPr txBox="1"/>
          <p:nvPr/>
        </p:nvSpPr>
        <p:spPr>
          <a:xfrm>
            <a:off x="4448835" y="4620988"/>
            <a:ext cx="15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**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44" name="Google Shape;1144;p68"/>
          <p:cNvCxnSpPr/>
          <p:nvPr/>
        </p:nvCxnSpPr>
        <p:spPr>
          <a:xfrm>
            <a:off x="268953" y="2589821"/>
            <a:ext cx="35460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69"/>
          <p:cNvSpPr txBox="1"/>
          <p:nvPr/>
        </p:nvSpPr>
        <p:spPr>
          <a:xfrm>
            <a:off x="266030" y="863275"/>
            <a:ext cx="4270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Повышение посещаемости сайта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50" name="Google Shape;1150;p69"/>
          <p:cNvSpPr txBox="1"/>
          <p:nvPr/>
        </p:nvSpPr>
        <p:spPr>
          <a:xfrm>
            <a:off x="278703" y="1490601"/>
            <a:ext cx="2209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lang="en-US" sz="2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+12%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51" name="Google Shape;1151;p69"/>
          <p:cNvSpPr txBox="1"/>
          <p:nvPr/>
        </p:nvSpPr>
        <p:spPr>
          <a:xfrm>
            <a:off x="278703" y="1956817"/>
            <a:ext cx="160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рост среднемесячной посещаемости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Google Shape;1152;p69"/>
          <p:cNvSpPr txBox="1"/>
          <p:nvPr/>
        </p:nvSpPr>
        <p:spPr>
          <a:xfrm>
            <a:off x="3161797" y="1490601"/>
            <a:ext cx="2209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lang="en-US" sz="2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+9%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53" name="Google Shape;1153;p69"/>
          <p:cNvSpPr txBox="1"/>
          <p:nvPr/>
        </p:nvSpPr>
        <p:spPr>
          <a:xfrm>
            <a:off x="3161797" y="1956817"/>
            <a:ext cx="160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рост посещаемости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Яндекс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4" name="Google Shape;1154;p69"/>
          <p:cNvSpPr txBox="1"/>
          <p:nvPr/>
        </p:nvSpPr>
        <p:spPr>
          <a:xfrm>
            <a:off x="6043190" y="1490601"/>
            <a:ext cx="2209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600"/>
              <a:buFont typeface="Arial"/>
              <a:buNone/>
            </a:pPr>
            <a:r>
              <a:rPr lang="en-US" sz="29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+15%</a:t>
            </a:r>
            <a:endParaRPr sz="2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55" name="Google Shape;1155;p69"/>
          <p:cNvSpPr txBox="1"/>
          <p:nvPr/>
        </p:nvSpPr>
        <p:spPr>
          <a:xfrm>
            <a:off x="6043190" y="1956817"/>
            <a:ext cx="160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рост посещаемости 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Google</a:t>
            </a:r>
            <a:endParaRPr sz="800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56" name="Google Shape;1156;p69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700" y="2761804"/>
            <a:ext cx="2149800" cy="17008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69"/>
          <p:cNvSpPr txBox="1"/>
          <p:nvPr/>
        </p:nvSpPr>
        <p:spPr>
          <a:xfrm>
            <a:off x="398800" y="4560925"/>
            <a:ext cx="195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Среднемесячная посещаемость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8" name="Google Shape;1158;p69"/>
          <p:cNvSpPr/>
          <p:nvPr/>
        </p:nvSpPr>
        <p:spPr>
          <a:xfrm>
            <a:off x="278700" y="4588225"/>
            <a:ext cx="107100" cy="107100"/>
          </a:xfrm>
          <a:prstGeom prst="rect">
            <a:avLst/>
          </a:prstGeom>
          <a:solidFill>
            <a:srgbClr val="C3A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59" name="Google Shape;1159;p69" title="Points sco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4725" y="3110847"/>
            <a:ext cx="2149800" cy="1329287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69"/>
          <p:cNvSpPr txBox="1"/>
          <p:nvPr/>
        </p:nvSpPr>
        <p:spPr>
          <a:xfrm>
            <a:off x="3300450" y="4560925"/>
            <a:ext cx="195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Посещаемость Яндекс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69"/>
          <p:cNvSpPr/>
          <p:nvPr/>
        </p:nvSpPr>
        <p:spPr>
          <a:xfrm>
            <a:off x="3180350" y="4588225"/>
            <a:ext cx="107100" cy="107100"/>
          </a:xfrm>
          <a:prstGeom prst="rect">
            <a:avLst/>
          </a:prstGeom>
          <a:solidFill>
            <a:srgbClr val="A7B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2" name="Google Shape;1162;p69" title="Points sco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9492" y="3110992"/>
            <a:ext cx="2149812" cy="13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69"/>
          <p:cNvSpPr txBox="1"/>
          <p:nvPr/>
        </p:nvSpPr>
        <p:spPr>
          <a:xfrm>
            <a:off x="6186525" y="4560925"/>
            <a:ext cx="195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Посещаемость Google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Google Shape;1164;p69"/>
          <p:cNvSpPr/>
          <p:nvPr/>
        </p:nvSpPr>
        <p:spPr>
          <a:xfrm>
            <a:off x="6066425" y="4588225"/>
            <a:ext cx="107100" cy="107100"/>
          </a:xfrm>
          <a:prstGeom prst="rect">
            <a:avLst/>
          </a:prstGeom>
          <a:solidFill>
            <a:srgbClr val="A7B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5" name="Google Shape;1165;p69"/>
          <p:cNvSpPr txBox="1"/>
          <p:nvPr/>
        </p:nvSpPr>
        <p:spPr>
          <a:xfrm>
            <a:off x="8707480" y="233375"/>
            <a:ext cx="174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i="0" lang="en-US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4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70"/>
          <p:cNvSpPr txBox="1"/>
          <p:nvPr>
            <p:ph idx="12" type="sldNum"/>
          </p:nvPr>
        </p:nvSpPr>
        <p:spPr>
          <a:xfrm>
            <a:off x="8491194" y="233375"/>
            <a:ext cx="405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71" name="Google Shape;1171;p70"/>
          <p:cNvSpPr txBox="1"/>
          <p:nvPr/>
        </p:nvSpPr>
        <p:spPr>
          <a:xfrm>
            <a:off x="266030" y="863275"/>
            <a:ext cx="4270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Анализ CMS крупнейших 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компаний России 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72" name="Google Shape;1172;p70"/>
          <p:cNvSpPr txBox="1"/>
          <p:nvPr/>
        </p:nvSpPr>
        <p:spPr>
          <a:xfrm>
            <a:off x="4618865" y="975931"/>
            <a:ext cx="3601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CMS Битрикс пользуется наибольшим спросом, среди крупнейших компаний на рынке. 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3" name="Google Shape;1173;p70"/>
          <p:cNvSpPr txBox="1"/>
          <p:nvPr/>
        </p:nvSpPr>
        <p:spPr>
          <a:xfrm>
            <a:off x="4618865" y="4182130"/>
            <a:ext cx="3601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sng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Список в приложении №1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74" name="Google Shape;1174;p70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2407" y="1740142"/>
            <a:ext cx="5296326" cy="31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70"/>
          <p:cNvSpPr txBox="1"/>
          <p:nvPr/>
        </p:nvSpPr>
        <p:spPr>
          <a:xfrm>
            <a:off x="4618865" y="4530331"/>
            <a:ext cx="3601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1000" u="sng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Источник</a:t>
            </a:r>
            <a:endParaRPr sz="1000" u="sng">
              <a:solidFill>
                <a:srgbClr val="21212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71"/>
          <p:cNvSpPr txBox="1"/>
          <p:nvPr>
            <p:ph idx="12" type="sldNum"/>
          </p:nvPr>
        </p:nvSpPr>
        <p:spPr>
          <a:xfrm>
            <a:off x="8630569" y="233375"/>
            <a:ext cx="265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81" name="Google Shape;1181;p71"/>
          <p:cNvSpPr txBox="1"/>
          <p:nvPr/>
        </p:nvSpPr>
        <p:spPr>
          <a:xfrm>
            <a:off x="266025" y="863275"/>
            <a:ext cx="3067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Команда вашего проекта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descr="вставленный-фильм.png" id="1182" name="Google Shape;1182;p71"/>
          <p:cNvPicPr preferRelativeResize="0"/>
          <p:nvPr/>
        </p:nvPicPr>
        <p:blipFill rotWithShape="1">
          <a:blip r:embed="rId3">
            <a:alphaModFix/>
          </a:blip>
          <a:srcRect b="11" l="714" r="6689" t="0"/>
          <a:stretch/>
        </p:blipFill>
        <p:spPr>
          <a:xfrm>
            <a:off x="272029" y="1398816"/>
            <a:ext cx="491895" cy="491877"/>
          </a:xfrm>
          <a:custGeom>
            <a:rect b="b" l="l" r="r" t="t"/>
            <a:pathLst>
              <a:path extrusionOk="0" h="21600" w="19679">
                <a:moveTo>
                  <a:pt x="9842" y="0"/>
                </a:moveTo>
                <a:cubicBezTo>
                  <a:pt x="7324" y="0"/>
                  <a:pt x="4803" y="1054"/>
                  <a:pt x="2882" y="3163"/>
                </a:cubicBezTo>
                <a:cubicBezTo>
                  <a:pt x="-961" y="7381"/>
                  <a:pt x="-961" y="14219"/>
                  <a:pt x="2882" y="18437"/>
                </a:cubicBezTo>
                <a:cubicBezTo>
                  <a:pt x="4803" y="20546"/>
                  <a:pt x="7324" y="21600"/>
                  <a:pt x="9842" y="21600"/>
                </a:cubicBezTo>
                <a:cubicBezTo>
                  <a:pt x="12360" y="21600"/>
                  <a:pt x="14875" y="20546"/>
                  <a:pt x="16796" y="18437"/>
                </a:cubicBezTo>
                <a:cubicBezTo>
                  <a:pt x="20639" y="14219"/>
                  <a:pt x="20639" y="7381"/>
                  <a:pt x="16796" y="3163"/>
                </a:cubicBezTo>
                <a:cubicBezTo>
                  <a:pt x="14875" y="1054"/>
                  <a:pt x="12360" y="0"/>
                  <a:pt x="9842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83" name="Google Shape;1183;p71"/>
          <p:cNvSpPr txBox="1"/>
          <p:nvPr/>
        </p:nvSpPr>
        <p:spPr>
          <a:xfrm>
            <a:off x="273860" y="2553012"/>
            <a:ext cx="2081255" cy="41815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Здесь будет краткий текст, в несколько строчек, описывающий роль человека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данном проекте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4" name="Google Shape;1184;p71"/>
          <p:cNvSpPr txBox="1"/>
          <p:nvPr/>
        </p:nvSpPr>
        <p:spPr>
          <a:xfrm>
            <a:off x="267758" y="2030930"/>
            <a:ext cx="2081255" cy="1901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Дмитрий Глумов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5" name="Google Shape;1185;p71"/>
          <p:cNvSpPr txBox="1"/>
          <p:nvPr/>
        </p:nvSpPr>
        <p:spPr>
          <a:xfrm>
            <a:off x="267758" y="2264139"/>
            <a:ext cx="2081255" cy="132453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Дизайн-директор, </a:t>
            </a:r>
            <a:r>
              <a:rPr i="0" lang="en-US" sz="6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18 лет опыта</a:t>
            </a:r>
            <a:endParaRPr sz="6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1186" name="Google Shape;1186;p71"/>
          <p:cNvPicPr preferRelativeResize="0"/>
          <p:nvPr/>
        </p:nvPicPr>
        <p:blipFill rotWithShape="1">
          <a:blip r:embed="rId4">
            <a:alphaModFix/>
          </a:blip>
          <a:srcRect b="11" l="1336" r="6068" t="0"/>
          <a:stretch/>
        </p:blipFill>
        <p:spPr>
          <a:xfrm>
            <a:off x="2453934" y="1398816"/>
            <a:ext cx="491895" cy="491877"/>
          </a:xfrm>
          <a:custGeom>
            <a:rect b="b" l="l" r="r" t="t"/>
            <a:pathLst>
              <a:path extrusionOk="0" h="21600" w="19679">
                <a:moveTo>
                  <a:pt x="9842" y="0"/>
                </a:moveTo>
                <a:cubicBezTo>
                  <a:pt x="7324" y="0"/>
                  <a:pt x="4803" y="1054"/>
                  <a:pt x="2882" y="3163"/>
                </a:cubicBezTo>
                <a:cubicBezTo>
                  <a:pt x="-961" y="7381"/>
                  <a:pt x="-961" y="14219"/>
                  <a:pt x="2882" y="18437"/>
                </a:cubicBezTo>
                <a:cubicBezTo>
                  <a:pt x="4803" y="20546"/>
                  <a:pt x="7324" y="21600"/>
                  <a:pt x="9842" y="21600"/>
                </a:cubicBezTo>
                <a:cubicBezTo>
                  <a:pt x="12360" y="21600"/>
                  <a:pt x="14875" y="20546"/>
                  <a:pt x="16796" y="18437"/>
                </a:cubicBezTo>
                <a:cubicBezTo>
                  <a:pt x="20639" y="14219"/>
                  <a:pt x="20639" y="7381"/>
                  <a:pt x="16796" y="3163"/>
                </a:cubicBezTo>
                <a:cubicBezTo>
                  <a:pt x="14875" y="1054"/>
                  <a:pt x="12360" y="0"/>
                  <a:pt x="9842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87" name="Google Shape;1187;p71"/>
          <p:cNvSpPr txBox="1"/>
          <p:nvPr/>
        </p:nvSpPr>
        <p:spPr>
          <a:xfrm>
            <a:off x="2455766" y="2553012"/>
            <a:ext cx="2081255" cy="41815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Здесь будет краткий текст, в несколько строчек, описывающий роль человека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данном проекте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Google Shape;1188;p71"/>
          <p:cNvSpPr txBox="1"/>
          <p:nvPr/>
        </p:nvSpPr>
        <p:spPr>
          <a:xfrm>
            <a:off x="2449664" y="2030930"/>
            <a:ext cx="2081254" cy="1901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Виктория Денис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Google Shape;1189;p71"/>
          <p:cNvSpPr txBox="1"/>
          <p:nvPr/>
        </p:nvSpPr>
        <p:spPr>
          <a:xfrm>
            <a:off x="2449664" y="2264139"/>
            <a:ext cx="2081254" cy="132453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Ведущий дизайнер, </a:t>
            </a:r>
            <a:r>
              <a:rPr i="0" lang="en-US" sz="6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6 лет опыта</a:t>
            </a:r>
            <a:endParaRPr sz="6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1190" name="Google Shape;1190;p71"/>
          <p:cNvPicPr preferRelativeResize="0"/>
          <p:nvPr/>
        </p:nvPicPr>
        <p:blipFill rotWithShape="1">
          <a:blip r:embed="rId5">
            <a:alphaModFix/>
          </a:blip>
          <a:srcRect b="11" l="0" r="7659" t="0"/>
          <a:stretch/>
        </p:blipFill>
        <p:spPr>
          <a:xfrm>
            <a:off x="4626323" y="1398816"/>
            <a:ext cx="491886" cy="491877"/>
          </a:xfrm>
          <a:custGeom>
            <a:rect b="b" l="l" r="r" t="t"/>
            <a:pathLst>
              <a:path extrusionOk="0" h="21600" w="20595">
                <a:moveTo>
                  <a:pt x="10300" y="0"/>
                </a:moveTo>
                <a:cubicBezTo>
                  <a:pt x="7665" y="0"/>
                  <a:pt x="5027" y="1054"/>
                  <a:pt x="3016" y="3163"/>
                </a:cubicBezTo>
                <a:cubicBezTo>
                  <a:pt x="1005" y="5272"/>
                  <a:pt x="0" y="8039"/>
                  <a:pt x="0" y="10803"/>
                </a:cubicBezTo>
                <a:cubicBezTo>
                  <a:pt x="0" y="13568"/>
                  <a:pt x="1005" y="16328"/>
                  <a:pt x="3016" y="18437"/>
                </a:cubicBezTo>
                <a:cubicBezTo>
                  <a:pt x="5027" y="20546"/>
                  <a:pt x="7665" y="21600"/>
                  <a:pt x="10300" y="21600"/>
                </a:cubicBezTo>
                <a:cubicBezTo>
                  <a:pt x="12936" y="21600"/>
                  <a:pt x="15567" y="20546"/>
                  <a:pt x="17578" y="18437"/>
                </a:cubicBezTo>
                <a:cubicBezTo>
                  <a:pt x="21600" y="14219"/>
                  <a:pt x="21600" y="7381"/>
                  <a:pt x="17578" y="3163"/>
                </a:cubicBezTo>
                <a:cubicBezTo>
                  <a:pt x="15567" y="1054"/>
                  <a:pt x="12936" y="0"/>
                  <a:pt x="1030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91" name="Google Shape;1191;p71"/>
          <p:cNvSpPr txBox="1"/>
          <p:nvPr/>
        </p:nvSpPr>
        <p:spPr>
          <a:xfrm>
            <a:off x="4628146" y="2553012"/>
            <a:ext cx="2081255" cy="41815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Здесь будет краткий текст, в несколько строчек, описывающий роль человека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данном проекте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Google Shape;1192;p71"/>
          <p:cNvSpPr txBox="1"/>
          <p:nvPr/>
        </p:nvSpPr>
        <p:spPr>
          <a:xfrm>
            <a:off x="4622044" y="2030930"/>
            <a:ext cx="2081255" cy="1901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Олеся Федорова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Google Shape;1193;p71"/>
          <p:cNvSpPr txBox="1"/>
          <p:nvPr/>
        </p:nvSpPr>
        <p:spPr>
          <a:xfrm>
            <a:off x="4622044" y="2264139"/>
            <a:ext cx="2081255" cy="132453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Тимлид команды QA, </a:t>
            </a:r>
            <a:r>
              <a:rPr i="0" lang="en-US" sz="6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5 лет опыта</a:t>
            </a:r>
            <a:endParaRPr sz="6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1194" name="Google Shape;1194;p71"/>
          <p:cNvPicPr preferRelativeResize="0"/>
          <p:nvPr/>
        </p:nvPicPr>
        <p:blipFill rotWithShape="1">
          <a:blip r:embed="rId6">
            <a:alphaModFix/>
          </a:blip>
          <a:srcRect b="11" l="4986" r="1907" t="0"/>
          <a:stretch/>
        </p:blipFill>
        <p:spPr>
          <a:xfrm>
            <a:off x="6789170" y="1398816"/>
            <a:ext cx="491895" cy="491877"/>
          </a:xfrm>
          <a:custGeom>
            <a:rect b="b" l="l" r="r" t="t"/>
            <a:pathLst>
              <a:path extrusionOk="0" h="21600" w="19679">
                <a:moveTo>
                  <a:pt x="9842" y="0"/>
                </a:moveTo>
                <a:cubicBezTo>
                  <a:pt x="7324" y="0"/>
                  <a:pt x="4803" y="1054"/>
                  <a:pt x="2882" y="3163"/>
                </a:cubicBezTo>
                <a:cubicBezTo>
                  <a:pt x="-961" y="7381"/>
                  <a:pt x="-961" y="14219"/>
                  <a:pt x="2882" y="18437"/>
                </a:cubicBezTo>
                <a:cubicBezTo>
                  <a:pt x="4803" y="20546"/>
                  <a:pt x="7324" y="21600"/>
                  <a:pt x="9842" y="21600"/>
                </a:cubicBezTo>
                <a:cubicBezTo>
                  <a:pt x="12360" y="21600"/>
                  <a:pt x="14875" y="20546"/>
                  <a:pt x="16796" y="18437"/>
                </a:cubicBezTo>
                <a:cubicBezTo>
                  <a:pt x="20639" y="14219"/>
                  <a:pt x="20639" y="7381"/>
                  <a:pt x="16796" y="3163"/>
                </a:cubicBezTo>
                <a:cubicBezTo>
                  <a:pt x="14875" y="1054"/>
                  <a:pt x="12360" y="0"/>
                  <a:pt x="9842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95" name="Google Shape;1195;p71"/>
          <p:cNvSpPr txBox="1"/>
          <p:nvPr/>
        </p:nvSpPr>
        <p:spPr>
          <a:xfrm>
            <a:off x="6791001" y="2553012"/>
            <a:ext cx="2081255" cy="41815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Здесь будет краткий текст, в несколько строчек, описывающий роль человека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данном проекте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6" name="Google Shape;1196;p71"/>
          <p:cNvSpPr txBox="1"/>
          <p:nvPr/>
        </p:nvSpPr>
        <p:spPr>
          <a:xfrm>
            <a:off x="6784899" y="2030930"/>
            <a:ext cx="2081255" cy="1901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Эмиль Тухватуллин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7" name="Google Shape;1197;p71"/>
          <p:cNvSpPr txBox="1"/>
          <p:nvPr/>
        </p:nvSpPr>
        <p:spPr>
          <a:xfrm>
            <a:off x="6784899" y="2264139"/>
            <a:ext cx="2081255" cy="132453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Тимлид команды Frontend, </a:t>
            </a:r>
            <a:r>
              <a:rPr i="0" lang="en-US" sz="6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5 лет опыта</a:t>
            </a:r>
            <a:endParaRPr sz="6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1198" name="Google Shape;1198;p71"/>
          <p:cNvPicPr preferRelativeResize="0"/>
          <p:nvPr/>
        </p:nvPicPr>
        <p:blipFill rotWithShape="1">
          <a:blip r:embed="rId7">
            <a:alphaModFix/>
          </a:blip>
          <a:srcRect b="11" l="0" r="7406" t="0"/>
          <a:stretch/>
        </p:blipFill>
        <p:spPr>
          <a:xfrm>
            <a:off x="272038" y="3194260"/>
            <a:ext cx="491886" cy="491877"/>
          </a:xfrm>
          <a:custGeom>
            <a:rect b="b" l="l" r="r" t="t"/>
            <a:pathLst>
              <a:path extrusionOk="0" h="21600" w="20595">
                <a:moveTo>
                  <a:pt x="10300" y="0"/>
                </a:moveTo>
                <a:cubicBezTo>
                  <a:pt x="7665" y="0"/>
                  <a:pt x="5027" y="1054"/>
                  <a:pt x="3016" y="3163"/>
                </a:cubicBezTo>
                <a:cubicBezTo>
                  <a:pt x="1005" y="5272"/>
                  <a:pt x="0" y="8039"/>
                  <a:pt x="0" y="10803"/>
                </a:cubicBezTo>
                <a:cubicBezTo>
                  <a:pt x="0" y="13568"/>
                  <a:pt x="1005" y="16328"/>
                  <a:pt x="3016" y="18437"/>
                </a:cubicBezTo>
                <a:cubicBezTo>
                  <a:pt x="5027" y="20546"/>
                  <a:pt x="7665" y="21600"/>
                  <a:pt x="10300" y="21600"/>
                </a:cubicBezTo>
                <a:cubicBezTo>
                  <a:pt x="12936" y="21600"/>
                  <a:pt x="15567" y="20546"/>
                  <a:pt x="17578" y="18437"/>
                </a:cubicBezTo>
                <a:cubicBezTo>
                  <a:pt x="21600" y="14219"/>
                  <a:pt x="21600" y="7381"/>
                  <a:pt x="17578" y="3163"/>
                </a:cubicBezTo>
                <a:cubicBezTo>
                  <a:pt x="15567" y="1054"/>
                  <a:pt x="12936" y="0"/>
                  <a:pt x="1030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99" name="Google Shape;1199;p71"/>
          <p:cNvSpPr txBox="1"/>
          <p:nvPr/>
        </p:nvSpPr>
        <p:spPr>
          <a:xfrm>
            <a:off x="273860" y="4348456"/>
            <a:ext cx="2081255" cy="41815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Здесь будет краткий текст, в несколько строчек, описывающий роль человека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данном проекте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0" name="Google Shape;1200;p71"/>
          <p:cNvSpPr txBox="1"/>
          <p:nvPr/>
        </p:nvSpPr>
        <p:spPr>
          <a:xfrm>
            <a:off x="267758" y="3826375"/>
            <a:ext cx="2081255" cy="1901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Илья Воропаев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1" name="Google Shape;1201;p71"/>
          <p:cNvSpPr txBox="1"/>
          <p:nvPr/>
        </p:nvSpPr>
        <p:spPr>
          <a:xfrm>
            <a:off x="267758" y="4059584"/>
            <a:ext cx="2081255" cy="132453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Тимлид команды Backend, </a:t>
            </a:r>
            <a:r>
              <a:rPr i="0" lang="en-US" sz="6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5 лет опыта</a:t>
            </a:r>
            <a:endParaRPr sz="6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1202" name="Google Shape;1202;p71"/>
          <p:cNvPicPr preferRelativeResize="0"/>
          <p:nvPr/>
        </p:nvPicPr>
        <p:blipFill rotWithShape="1">
          <a:blip r:embed="rId8">
            <a:alphaModFix/>
          </a:blip>
          <a:srcRect b="11" l="6756" r="900" t="0"/>
          <a:stretch/>
        </p:blipFill>
        <p:spPr>
          <a:xfrm>
            <a:off x="2453934" y="3194260"/>
            <a:ext cx="491895" cy="491877"/>
          </a:xfrm>
          <a:custGeom>
            <a:rect b="b" l="l" r="r" t="t"/>
            <a:pathLst>
              <a:path extrusionOk="0" h="21600" w="19679">
                <a:moveTo>
                  <a:pt x="9842" y="0"/>
                </a:moveTo>
                <a:cubicBezTo>
                  <a:pt x="7324" y="0"/>
                  <a:pt x="4803" y="1054"/>
                  <a:pt x="2882" y="3163"/>
                </a:cubicBezTo>
                <a:cubicBezTo>
                  <a:pt x="-961" y="7381"/>
                  <a:pt x="-961" y="14219"/>
                  <a:pt x="2882" y="18437"/>
                </a:cubicBezTo>
                <a:cubicBezTo>
                  <a:pt x="4803" y="20546"/>
                  <a:pt x="7324" y="21600"/>
                  <a:pt x="9842" y="21600"/>
                </a:cubicBezTo>
                <a:cubicBezTo>
                  <a:pt x="12360" y="21600"/>
                  <a:pt x="14875" y="20546"/>
                  <a:pt x="16796" y="18437"/>
                </a:cubicBezTo>
                <a:cubicBezTo>
                  <a:pt x="20639" y="14219"/>
                  <a:pt x="20639" y="7381"/>
                  <a:pt x="16796" y="3163"/>
                </a:cubicBezTo>
                <a:cubicBezTo>
                  <a:pt x="14875" y="1054"/>
                  <a:pt x="12360" y="0"/>
                  <a:pt x="9842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03" name="Google Shape;1203;p71"/>
          <p:cNvSpPr txBox="1"/>
          <p:nvPr/>
        </p:nvSpPr>
        <p:spPr>
          <a:xfrm>
            <a:off x="2455766" y="4348456"/>
            <a:ext cx="2081255" cy="41815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Здесь будет краткий текст, в несколько строчек, описывающий роль человека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данном проекте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Google Shape;1204;p71"/>
          <p:cNvSpPr txBox="1"/>
          <p:nvPr/>
        </p:nvSpPr>
        <p:spPr>
          <a:xfrm>
            <a:off x="2449664" y="3826375"/>
            <a:ext cx="2081254" cy="1901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Кирилл Шушкин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Google Shape;1205;p71"/>
          <p:cNvSpPr txBox="1"/>
          <p:nvPr/>
        </p:nvSpPr>
        <p:spPr>
          <a:xfrm>
            <a:off x="2449664" y="4059584"/>
            <a:ext cx="2081254" cy="132453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Тимлид команды IT, </a:t>
            </a:r>
            <a:r>
              <a:rPr i="0" lang="en-US" sz="6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16 лет опыта</a:t>
            </a:r>
            <a:endParaRPr sz="6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1206" name="Google Shape;1206;p71"/>
          <p:cNvPicPr preferRelativeResize="0"/>
          <p:nvPr/>
        </p:nvPicPr>
        <p:blipFill rotWithShape="1">
          <a:blip r:embed="rId9">
            <a:alphaModFix/>
          </a:blip>
          <a:srcRect b="11" l="0" r="7659" t="0"/>
          <a:stretch/>
        </p:blipFill>
        <p:spPr>
          <a:xfrm>
            <a:off x="4626323" y="3194260"/>
            <a:ext cx="491886" cy="491877"/>
          </a:xfrm>
          <a:custGeom>
            <a:rect b="b" l="l" r="r" t="t"/>
            <a:pathLst>
              <a:path extrusionOk="0" h="21600" w="20595">
                <a:moveTo>
                  <a:pt x="10300" y="0"/>
                </a:moveTo>
                <a:cubicBezTo>
                  <a:pt x="7665" y="0"/>
                  <a:pt x="5027" y="1054"/>
                  <a:pt x="3016" y="3163"/>
                </a:cubicBezTo>
                <a:cubicBezTo>
                  <a:pt x="1005" y="5272"/>
                  <a:pt x="0" y="8039"/>
                  <a:pt x="0" y="10803"/>
                </a:cubicBezTo>
                <a:cubicBezTo>
                  <a:pt x="0" y="13568"/>
                  <a:pt x="1005" y="16328"/>
                  <a:pt x="3016" y="18437"/>
                </a:cubicBezTo>
                <a:cubicBezTo>
                  <a:pt x="5027" y="20546"/>
                  <a:pt x="7665" y="21600"/>
                  <a:pt x="10300" y="21600"/>
                </a:cubicBezTo>
                <a:cubicBezTo>
                  <a:pt x="12936" y="21600"/>
                  <a:pt x="15567" y="20546"/>
                  <a:pt x="17578" y="18437"/>
                </a:cubicBezTo>
                <a:cubicBezTo>
                  <a:pt x="21600" y="14219"/>
                  <a:pt x="21600" y="7381"/>
                  <a:pt x="17578" y="3163"/>
                </a:cubicBezTo>
                <a:cubicBezTo>
                  <a:pt x="15567" y="1054"/>
                  <a:pt x="12936" y="0"/>
                  <a:pt x="1030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07" name="Google Shape;1207;p71"/>
          <p:cNvSpPr txBox="1"/>
          <p:nvPr/>
        </p:nvSpPr>
        <p:spPr>
          <a:xfrm>
            <a:off x="4628146" y="4348456"/>
            <a:ext cx="2081255" cy="41815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Здесь будет краткий текст, в несколько строчек, описывающий роль человека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данном проекте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Google Shape;1208;p71"/>
          <p:cNvSpPr txBox="1"/>
          <p:nvPr/>
        </p:nvSpPr>
        <p:spPr>
          <a:xfrm>
            <a:off x="4622044" y="3826375"/>
            <a:ext cx="2081255" cy="1901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Анастасия Макарова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Google Shape;1209;p71"/>
          <p:cNvSpPr txBox="1"/>
          <p:nvPr/>
        </p:nvSpPr>
        <p:spPr>
          <a:xfrm>
            <a:off x="4622044" y="4059584"/>
            <a:ext cx="2081255" cy="132453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Тимлид команды Tilda, </a:t>
            </a:r>
            <a:r>
              <a:rPr i="0" lang="en-US" sz="6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6 лет опыта</a:t>
            </a:r>
            <a:endParaRPr sz="6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вставленный-фильм.png" id="1210" name="Google Shape;1210;p71"/>
          <p:cNvPicPr preferRelativeResize="0"/>
          <p:nvPr/>
        </p:nvPicPr>
        <p:blipFill rotWithShape="1">
          <a:blip r:embed="rId10">
            <a:alphaModFix/>
          </a:blip>
          <a:srcRect b="11" l="2584" r="4819" t="0"/>
          <a:stretch/>
        </p:blipFill>
        <p:spPr>
          <a:xfrm>
            <a:off x="6789170" y="3194260"/>
            <a:ext cx="491895" cy="491877"/>
          </a:xfrm>
          <a:custGeom>
            <a:rect b="b" l="l" r="r" t="t"/>
            <a:pathLst>
              <a:path extrusionOk="0" h="21600" w="19679">
                <a:moveTo>
                  <a:pt x="9842" y="0"/>
                </a:moveTo>
                <a:cubicBezTo>
                  <a:pt x="7324" y="0"/>
                  <a:pt x="4803" y="1054"/>
                  <a:pt x="2882" y="3163"/>
                </a:cubicBezTo>
                <a:cubicBezTo>
                  <a:pt x="-961" y="7381"/>
                  <a:pt x="-961" y="14219"/>
                  <a:pt x="2882" y="18437"/>
                </a:cubicBezTo>
                <a:cubicBezTo>
                  <a:pt x="4803" y="20546"/>
                  <a:pt x="7324" y="21600"/>
                  <a:pt x="9842" y="21600"/>
                </a:cubicBezTo>
                <a:cubicBezTo>
                  <a:pt x="12360" y="21600"/>
                  <a:pt x="14875" y="20546"/>
                  <a:pt x="16796" y="18437"/>
                </a:cubicBezTo>
                <a:cubicBezTo>
                  <a:pt x="20639" y="14219"/>
                  <a:pt x="20639" y="7381"/>
                  <a:pt x="16796" y="3163"/>
                </a:cubicBezTo>
                <a:cubicBezTo>
                  <a:pt x="14875" y="1054"/>
                  <a:pt x="12360" y="0"/>
                  <a:pt x="9842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11" name="Google Shape;1211;p71"/>
          <p:cNvSpPr txBox="1"/>
          <p:nvPr/>
        </p:nvSpPr>
        <p:spPr>
          <a:xfrm>
            <a:off x="6791001" y="4348456"/>
            <a:ext cx="2081255" cy="41815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Здесь будет краткий текст, в несколько строчек, описывающий роль человека </a:t>
            </a:r>
            <a:b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в данном проекте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Google Shape;1212;p71"/>
          <p:cNvSpPr txBox="1"/>
          <p:nvPr/>
        </p:nvSpPr>
        <p:spPr>
          <a:xfrm>
            <a:off x="6784899" y="3826375"/>
            <a:ext cx="2081255" cy="1901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Диана Олейник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Google Shape;1213;p71"/>
          <p:cNvSpPr txBox="1"/>
          <p:nvPr/>
        </p:nvSpPr>
        <p:spPr>
          <a:xfrm>
            <a:off x="6784899" y="4059584"/>
            <a:ext cx="2081255" cy="132453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i="0" lang="en-US" sz="6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Руководитель отдела продаж, </a:t>
            </a:r>
            <a:r>
              <a:rPr i="0" lang="en-US" sz="6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6 лет опыта</a:t>
            </a:r>
            <a:endParaRPr sz="6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rame 1948754546.png" id="1218" name="Google Shape;121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1071" y="1295997"/>
            <a:ext cx="1555553" cy="82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 1948754549.png" id="1219" name="Google Shape;1219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1071" y="2369768"/>
            <a:ext cx="1555553" cy="82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 1948754558.png" id="1220" name="Google Shape;1220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1078" y="3443539"/>
            <a:ext cx="1561851" cy="831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 1948754559.png" id="1221" name="Google Shape;1221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91139" y="2369768"/>
            <a:ext cx="1561851" cy="82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 1948754560.png" id="1222" name="Google Shape;1222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91139" y="1295997"/>
            <a:ext cx="1561851" cy="82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 1948754561.png" id="1223" name="Google Shape;1223;p7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77375" y="2369768"/>
            <a:ext cx="1555553" cy="825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 1948754562.png" id="1224" name="Google Shape;1224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91139" y="3436374"/>
            <a:ext cx="1561851" cy="831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 1948754563.png" id="1225" name="Google Shape;1225;p7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11071" y="3443539"/>
            <a:ext cx="1555553" cy="8313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 1948754564.png" id="1226" name="Google Shape;1226;p7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71077" y="1295997"/>
            <a:ext cx="1555553" cy="8250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72"/>
          <p:cNvSpPr txBox="1"/>
          <p:nvPr>
            <p:ph idx="12" type="sldNum"/>
          </p:nvPr>
        </p:nvSpPr>
        <p:spPr>
          <a:xfrm>
            <a:off x="8700275" y="233375"/>
            <a:ext cx="18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28" name="Google Shape;1228;p72"/>
          <p:cNvSpPr txBox="1"/>
          <p:nvPr/>
        </p:nvSpPr>
        <p:spPr>
          <a:xfrm>
            <a:off x="261268" y="863275"/>
            <a:ext cx="4257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100"/>
              <a:buFont typeface="Arial"/>
              <a:buNone/>
            </a:pP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IT</a:t>
            </a: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i="0" lang="en-US" sz="19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и телеком</a:t>
            </a:r>
            <a:endParaRPr sz="1900"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3" name="Google Shape;1233;p73"/>
          <p:cNvGrpSpPr/>
          <p:nvPr/>
        </p:nvGrpSpPr>
        <p:grpSpPr>
          <a:xfrm>
            <a:off x="265125" y="702930"/>
            <a:ext cx="8424866" cy="495300"/>
            <a:chOff x="-76209" y="0"/>
            <a:chExt cx="22466309" cy="1320800"/>
          </a:xfrm>
        </p:grpSpPr>
        <p:pic>
          <p:nvPicPr>
            <p:cNvPr descr="Image 24" id="1234" name="Google Shape;1234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799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25" id="1235" name="Google Shape;1235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041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26" id="1236" name="Google Shape;1236;p7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5283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27" id="1237" name="Google Shape;1237;p7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6525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28" id="1238" name="Google Shape;1238;p7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7767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29" id="1239" name="Google Shape;1239;p7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99009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0" name="Google Shape;1240;p73"/>
            <p:cNvSpPr txBox="1"/>
            <p:nvPr/>
          </p:nvSpPr>
          <p:spPr>
            <a:xfrm>
              <a:off x="-76209" y="495320"/>
              <a:ext cx="13425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900"/>
                <a:buFont typeface="Arial"/>
                <a:buNone/>
              </a:pPr>
              <a:r>
                <a:rPr i="0" lang="en-US" sz="800" u="none" cap="none" strike="noStrike">
                  <a:solidFill>
                    <a:srgbClr val="212121"/>
                  </a:solidFill>
                  <a:latin typeface="Inter"/>
                  <a:ea typeface="Inter"/>
                  <a:cs typeface="Inter"/>
                  <a:sym typeface="Inter"/>
                </a:rPr>
                <a:t>Финансы</a:t>
              </a:r>
              <a:endParaRPr sz="80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descr="Image 30" id="1241" name="Google Shape;1241;p7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98665" y="2860369"/>
            <a:ext cx="9334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31" id="1242" name="Google Shape;1242;p7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70240" y="2860369"/>
            <a:ext cx="9334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32" id="1243" name="Google Shape;1243;p7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241815" y="2860369"/>
            <a:ext cx="9334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33" id="1244" name="Google Shape;1244;p7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13390" y="2860369"/>
            <a:ext cx="9334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34" id="1245" name="Google Shape;1245;p7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84965" y="2860369"/>
            <a:ext cx="9334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1948754667.png" id="1246" name="Google Shape;1246;p7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00601" y="3023150"/>
            <a:ext cx="441360" cy="169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7" name="Google Shape;1247;p73"/>
          <p:cNvGrpSpPr/>
          <p:nvPr/>
        </p:nvGrpSpPr>
        <p:grpSpPr>
          <a:xfrm>
            <a:off x="265125" y="4298662"/>
            <a:ext cx="8424866" cy="495300"/>
            <a:chOff x="-76209" y="0"/>
            <a:chExt cx="22466309" cy="1320800"/>
          </a:xfrm>
        </p:grpSpPr>
        <p:pic>
          <p:nvPicPr>
            <p:cNvPr descr="Image 6" id="1248" name="Google Shape;1248;p7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2799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7" id="1249" name="Google Shape;1249;p7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4041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9" id="1250" name="Google Shape;1250;p73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36525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10" id="1251" name="Google Shape;1251;p7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67767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11" id="1252" name="Google Shape;1252;p7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99009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73"/>
            <p:cNvSpPr txBox="1"/>
            <p:nvPr/>
          </p:nvSpPr>
          <p:spPr>
            <a:xfrm>
              <a:off x="-76209" y="495301"/>
              <a:ext cx="18948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900"/>
                <a:buFont typeface="Arial"/>
                <a:buNone/>
              </a:pPr>
              <a:r>
                <a:rPr i="0" lang="en-US" sz="800" u="none" cap="none" strike="noStrike">
                  <a:solidFill>
                    <a:srgbClr val="212121"/>
                  </a:solidFill>
                  <a:latin typeface="Inter"/>
                  <a:ea typeface="Inter"/>
                  <a:cs typeface="Inter"/>
                  <a:sym typeface="Inter"/>
                </a:rPr>
                <a:t>Металлургия</a:t>
              </a:r>
              <a:endParaRPr sz="4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descr="Frame 16.png" id="1254" name="Google Shape;1254;p73"/>
            <p:cNvPicPr preferRelativeResize="0"/>
            <p:nvPr/>
          </p:nvPicPr>
          <p:blipFill rotWithShape="1">
            <a:blip r:embed="rId20">
              <a:alphaModFix/>
            </a:blip>
            <a:srcRect b="9353" l="0" r="0" t="9353"/>
            <a:stretch/>
          </p:blipFill>
          <p:spPr>
            <a:xfrm>
              <a:off x="10872589" y="262291"/>
              <a:ext cx="1800637" cy="81495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 19" id="1255" name="Google Shape;1255;p7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898666" y="2141223"/>
            <a:ext cx="9334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20" id="1256" name="Google Shape;1256;p7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070241" y="2141223"/>
            <a:ext cx="9334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21" id="1257" name="Google Shape;1257;p7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241816" y="2141223"/>
            <a:ext cx="9334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22" id="1258" name="Google Shape;1258;p7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413391" y="2141223"/>
            <a:ext cx="9334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73"/>
          <p:cNvSpPr txBox="1"/>
          <p:nvPr/>
        </p:nvSpPr>
        <p:spPr>
          <a:xfrm>
            <a:off x="265124" y="2323475"/>
            <a:ext cx="29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Авиа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 18" id="1260" name="Google Shape;1260;p7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756541" y="2141223"/>
            <a:ext cx="9334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v2 1.png" id="1261" name="Google Shape;1261;p7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584966" y="2359313"/>
            <a:ext cx="933450" cy="591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2" name="Google Shape;1262;p73"/>
          <p:cNvGrpSpPr/>
          <p:nvPr/>
        </p:nvGrpSpPr>
        <p:grpSpPr>
          <a:xfrm>
            <a:off x="265125" y="3579516"/>
            <a:ext cx="8424866" cy="495300"/>
            <a:chOff x="-76209" y="0"/>
            <a:chExt cx="22466309" cy="1320800"/>
          </a:xfrm>
        </p:grpSpPr>
        <p:pic>
          <p:nvPicPr>
            <p:cNvPr descr="Image 1" id="1263" name="Google Shape;1263;p73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4326477" y="0"/>
              <a:ext cx="2489201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2" id="1264" name="Google Shape;1264;p73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7441361" y="0"/>
              <a:ext cx="2489201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3" id="1265" name="Google Shape;1265;p73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0556246" y="0"/>
              <a:ext cx="2489201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4" id="1266" name="Google Shape;1266;p73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13671131" y="0"/>
              <a:ext cx="2489201" cy="132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7" name="Google Shape;1267;p73"/>
            <p:cNvSpPr txBox="1"/>
            <p:nvPr/>
          </p:nvSpPr>
          <p:spPr>
            <a:xfrm>
              <a:off x="-76209" y="551225"/>
              <a:ext cx="24891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900"/>
                <a:buFont typeface="Arial"/>
                <a:buNone/>
              </a:pPr>
              <a:r>
                <a:rPr i="0" lang="en-US" sz="800" u="none" cap="none" strike="noStrike">
                  <a:solidFill>
                    <a:srgbClr val="212121"/>
                  </a:solidFill>
                  <a:latin typeface="Inter"/>
                  <a:ea typeface="Inter"/>
                  <a:cs typeface="Inter"/>
                  <a:sym typeface="Inter"/>
                </a:rPr>
                <a:t>Промышленность</a:t>
              </a:r>
              <a:endParaRPr sz="8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descr="Image 5" id="1268" name="Google Shape;1268;p73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16786015" y="0"/>
              <a:ext cx="2489201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0" id="1269" name="Google Shape;1269;p73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199009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0" name="Google Shape;1270;p73"/>
          <p:cNvGrpSpPr/>
          <p:nvPr/>
        </p:nvGrpSpPr>
        <p:grpSpPr>
          <a:xfrm>
            <a:off x="265125" y="1422047"/>
            <a:ext cx="8427160" cy="495300"/>
            <a:chOff x="-76207" y="0"/>
            <a:chExt cx="22472426" cy="1320800"/>
          </a:xfrm>
        </p:grpSpPr>
        <p:pic>
          <p:nvPicPr>
            <p:cNvPr descr="Image 12" id="1271" name="Google Shape;1271;p73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42799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13" id="1272" name="Google Shape;1272;p73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74041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14" id="1273" name="Google Shape;1273;p73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105283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15" id="1274" name="Google Shape;1274;p73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136525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16" id="1275" name="Google Shape;1275;p73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167767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73"/>
            <p:cNvSpPr txBox="1"/>
            <p:nvPr/>
          </p:nvSpPr>
          <p:spPr>
            <a:xfrm>
              <a:off x="-76207" y="495275"/>
              <a:ext cx="30876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900"/>
                <a:buFont typeface="Arial"/>
                <a:buNone/>
              </a:pPr>
              <a:r>
                <a:rPr i="0" lang="en-US" sz="800" u="none" cap="none" strike="noStrike">
                  <a:solidFill>
                    <a:srgbClr val="212121"/>
                  </a:solidFill>
                  <a:latin typeface="Inter"/>
                  <a:ea typeface="Inter"/>
                  <a:cs typeface="Inter"/>
                  <a:sym typeface="Inter"/>
                </a:rPr>
                <a:t>Транспорт и логистика</a:t>
              </a:r>
              <a:endParaRPr sz="8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descr="Citimobil_21.png" id="1277" name="Google Shape;1277;p73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20154944" y="434859"/>
              <a:ext cx="2241275" cy="4512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8" name="Google Shape;1278;p73"/>
          <p:cNvSpPr txBox="1"/>
          <p:nvPr>
            <p:ph idx="12" type="sldNum"/>
          </p:nvPr>
        </p:nvSpPr>
        <p:spPr>
          <a:xfrm>
            <a:off x="8665422" y="233375"/>
            <a:ext cx="21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79" name="Google Shape;1279;p73"/>
          <p:cNvSpPr txBox="1"/>
          <p:nvPr/>
        </p:nvSpPr>
        <p:spPr>
          <a:xfrm>
            <a:off x="265125" y="3046500"/>
            <a:ext cx="385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lang="en-US" sz="8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FMCG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74"/>
          <p:cNvSpPr txBox="1"/>
          <p:nvPr>
            <p:ph idx="12" type="sldNum"/>
          </p:nvPr>
        </p:nvSpPr>
        <p:spPr>
          <a:xfrm>
            <a:off x="8669478" y="233375"/>
            <a:ext cx="209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descr="vector.pdf" id="1285" name="Google Shape;1285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0363" y="2273146"/>
            <a:ext cx="258387" cy="230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nara-logo 1.png" id="1286" name="Google Shape;1286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7077" y="2304934"/>
            <a:ext cx="947607" cy="167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facade solutions color.pdf" id="1287" name="Google Shape;1287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76009" y="2291172"/>
            <a:ext cx="672429" cy="194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1.pdf" id="1288" name="Google Shape;1288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30230" y="2327155"/>
            <a:ext cx="678092" cy="160785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74"/>
          <p:cNvSpPr txBox="1"/>
          <p:nvPr/>
        </p:nvSpPr>
        <p:spPr>
          <a:xfrm>
            <a:off x="265341" y="2347555"/>
            <a:ext cx="857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Строительство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Group.pdf" id="1290" name="Google Shape;1290;p7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91301" y="2326543"/>
            <a:ext cx="917836" cy="1239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ite.pdf" id="1291" name="Google Shape;1291;p7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03626" y="2229178"/>
            <a:ext cx="235793" cy="318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4125.png" id="1292" name="Google Shape;1292;p7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8633" y="3678467"/>
            <a:ext cx="297415" cy="297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29" id="1293" name="Google Shape;1293;p7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02892" y="3579525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1948754564.pdf" id="1294" name="Google Shape;1294;p7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57923" y="3743489"/>
            <a:ext cx="561590" cy="1673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 1.pdf" id="1295" name="Google Shape;1295;p7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35975" y="3751872"/>
            <a:ext cx="753031" cy="150606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74"/>
          <p:cNvSpPr txBox="1"/>
          <p:nvPr/>
        </p:nvSpPr>
        <p:spPr>
          <a:xfrm>
            <a:off x="265878" y="3761781"/>
            <a:ext cx="675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Консалтинг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 3" id="1297" name="Google Shape;1297;p7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902145" y="2867099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280.pdf" id="1298" name="Google Shape;1298;p7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069121" y="3087449"/>
            <a:ext cx="942520" cy="47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ype.pdf" id="1299" name="Google Shape;1299;p7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664110" y="2993304"/>
            <a:ext cx="409769" cy="235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.pdf" id="1300" name="Google Shape;1300;p7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945249" y="2941103"/>
            <a:ext cx="209593" cy="340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rex.png" id="1301" name="Google Shape;1301;p74"/>
          <p:cNvPicPr preferRelativeResize="0"/>
          <p:nvPr/>
        </p:nvPicPr>
        <p:blipFill rotWithShape="1">
          <a:blip r:embed="rId17">
            <a:alphaModFix/>
          </a:blip>
          <a:srcRect b="13173" l="0" r="0" t="13173"/>
          <a:stretch/>
        </p:blipFill>
        <p:spPr>
          <a:xfrm>
            <a:off x="7885275" y="2863617"/>
            <a:ext cx="67247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74"/>
          <p:cNvSpPr txBox="1"/>
          <p:nvPr/>
        </p:nvSpPr>
        <p:spPr>
          <a:xfrm>
            <a:off x="265055" y="3049355"/>
            <a:ext cx="633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Авто / мото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logo-act-black.pdf" id="1303" name="Google Shape;1303;p7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500719" y="3001790"/>
            <a:ext cx="422279" cy="2189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ctor.pdf" id="1304" name="Google Shape;1304;p7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141270" y="880703"/>
            <a:ext cx="796756" cy="150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36" id="1305" name="Google Shape;1305;p7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583182" y="708128"/>
            <a:ext cx="933450" cy="4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74"/>
          <p:cNvSpPr txBox="1"/>
          <p:nvPr/>
        </p:nvSpPr>
        <p:spPr>
          <a:xfrm>
            <a:off x="266424" y="895075"/>
            <a:ext cx="713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IT и телеком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logo_lat.pdf" id="1307" name="Google Shape;1307;p7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067907" y="1608040"/>
            <a:ext cx="944108" cy="132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SC_Pharma_logotype_.jpg" id="1308" name="Google Shape;1308;p7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006658" y="1467671"/>
            <a:ext cx="735273" cy="4131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png" id="1309" name="Google Shape;1309;p7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514382" y="1591244"/>
            <a:ext cx="713717" cy="1590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s.png" id="1310" name="Google Shape;1310;p7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748919" y="1575557"/>
            <a:ext cx="604510" cy="190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rba Mayr.png" id="1311" name="Google Shape;1311;p7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947006" y="1530657"/>
            <a:ext cx="549078" cy="280219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74"/>
          <p:cNvSpPr txBox="1"/>
          <p:nvPr/>
        </p:nvSpPr>
        <p:spPr>
          <a:xfrm>
            <a:off x="265128" y="1608855"/>
            <a:ext cx="1351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Медицина и здоровье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498px-Merz_Pharma_logo.svg.png" id="1313" name="Google Shape;1313;p7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557104" y="1523092"/>
            <a:ext cx="306457" cy="295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 1948754546.png" id="1314" name="Google Shape;1314;p7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902599" y="708128"/>
            <a:ext cx="933887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 1948754549.png" id="1315" name="Google Shape;1315;p74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398586" y="708128"/>
            <a:ext cx="933887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 1948754561.png" id="1316" name="Google Shape;1316;p74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754578" y="708128"/>
            <a:ext cx="933886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e 1948754564.png" id="1317" name="Google Shape;1317;p7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4242783" y="708128"/>
            <a:ext cx="933887" cy="49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75"/>
          <p:cNvSpPr txBox="1"/>
          <p:nvPr>
            <p:ph idx="12" type="sldNum"/>
          </p:nvPr>
        </p:nvSpPr>
        <p:spPr>
          <a:xfrm>
            <a:off x="8666172" y="233375"/>
            <a:ext cx="21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800">
              <a:solidFill>
                <a:srgbClr val="999999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descr="Image 22" id="1323" name="Google Shape;132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003" y="1864995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v2 1.png" id="1324" name="Google Shape;1324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6428" y="2083086"/>
            <a:ext cx="933450" cy="59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34" id="1325" name="Google Shape;1325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2589" y="3291077"/>
            <a:ext cx="677978" cy="910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39" id="1326" name="Google Shape;1326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3454" y="2654200"/>
            <a:ext cx="680416" cy="1408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29" id="1327" name="Google Shape;1327;p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89578" y="641018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24" id="1328" name="Google Shape;1328;p7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74853" y="641018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25" id="1329" name="Google Shape;1329;p7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46428" y="641018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26" id="1330" name="Google Shape;1330;p7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18003" y="641018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27" id="1331" name="Google Shape;1331;p7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32728" y="641018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28" id="1332" name="Google Shape;1332;p7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61153" y="641018"/>
            <a:ext cx="933450" cy="4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75"/>
          <p:cNvSpPr txBox="1"/>
          <p:nvPr/>
        </p:nvSpPr>
        <p:spPr>
          <a:xfrm>
            <a:off x="269902" y="826750"/>
            <a:ext cx="543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Финансы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 36" id="1334" name="Google Shape;1334;p7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89578" y="2476983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37" id="1335" name="Google Shape;1335;p7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046428" y="2476983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38" id="1336" name="Google Shape;1336;p7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218003" y="2476983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40" id="1337" name="Google Shape;1337;p7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61153" y="2476983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41" id="1338" name="Google Shape;1338;p7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732728" y="2476983"/>
            <a:ext cx="933450" cy="4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9" name="Google Shape;1339;p75"/>
          <p:cNvSpPr txBox="1"/>
          <p:nvPr/>
        </p:nvSpPr>
        <p:spPr>
          <a:xfrm>
            <a:off x="269901" y="2662725"/>
            <a:ext cx="675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IT и телеком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 30" id="1340" name="Google Shape;1340;p7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046428" y="3088972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31" id="1341" name="Google Shape;1341;p7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218003" y="3088972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32" id="1342" name="Google Shape;1342;p7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389578" y="3088972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33" id="1343" name="Google Shape;1343;p7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561153" y="3088972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1948754667.png" id="1344" name="Google Shape;1344;p7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976789" y="3251753"/>
            <a:ext cx="441361" cy="169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75"/>
          <p:cNvSpPr txBox="1"/>
          <p:nvPr/>
        </p:nvSpPr>
        <p:spPr>
          <a:xfrm>
            <a:off x="269891" y="3274710"/>
            <a:ext cx="112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Retail /FMCG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 6" id="1346" name="Google Shape;1346;p7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874853" y="4312950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7" id="1347" name="Google Shape;1347;p7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046428" y="4312950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9" id="1348" name="Google Shape;1348;p7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732455" y="4461356"/>
            <a:ext cx="247695" cy="198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10" id="1349" name="Google Shape;1349;p7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561153" y="4312950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11" id="1350" name="Google Shape;1350;p7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732728" y="4312950"/>
            <a:ext cx="933450" cy="4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75"/>
          <p:cNvSpPr txBox="1"/>
          <p:nvPr/>
        </p:nvSpPr>
        <p:spPr>
          <a:xfrm>
            <a:off x="269901" y="4498675"/>
            <a:ext cx="678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Металлургия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Frame 16.png" id="1352" name="Google Shape;1352;p75"/>
          <p:cNvPicPr preferRelativeResize="0"/>
          <p:nvPr/>
        </p:nvPicPr>
        <p:blipFill rotWithShape="1">
          <a:blip r:embed="rId28">
            <a:alphaModFix/>
          </a:blip>
          <a:srcRect b="9353" l="0" r="0" t="9353"/>
          <a:stretch/>
        </p:blipFill>
        <p:spPr>
          <a:xfrm>
            <a:off x="4347111" y="4411309"/>
            <a:ext cx="675239" cy="305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19" id="1353" name="Google Shape;1353;p75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874853" y="1864995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20" id="1354" name="Google Shape;1354;p75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561153" y="1864995"/>
            <a:ext cx="933450" cy="495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21" id="1355" name="Google Shape;1355;p75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5389578" y="1864995"/>
            <a:ext cx="933450" cy="4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75"/>
          <p:cNvSpPr txBox="1"/>
          <p:nvPr/>
        </p:nvSpPr>
        <p:spPr>
          <a:xfrm>
            <a:off x="269904" y="2047250"/>
            <a:ext cx="334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Авиа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 18" id="1357" name="Google Shape;1357;p75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7732728" y="1864995"/>
            <a:ext cx="933450" cy="495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8" name="Google Shape;1358;p75"/>
          <p:cNvGrpSpPr/>
          <p:nvPr/>
        </p:nvGrpSpPr>
        <p:grpSpPr>
          <a:xfrm>
            <a:off x="269900" y="3700961"/>
            <a:ext cx="8396278" cy="495300"/>
            <a:chOff x="25" y="0"/>
            <a:chExt cx="22390075" cy="1320800"/>
          </a:xfrm>
        </p:grpSpPr>
        <p:pic>
          <p:nvPicPr>
            <p:cNvPr descr="Image 1" id="1359" name="Google Shape;1359;p75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4326477" y="0"/>
              <a:ext cx="2489201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2" id="1360" name="Google Shape;1360;p75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7441361" y="0"/>
              <a:ext cx="2489201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3" id="1361" name="Google Shape;1361;p75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10556246" y="0"/>
              <a:ext cx="2489201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4" id="1362" name="Google Shape;1362;p75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13671131" y="0"/>
              <a:ext cx="2489201" cy="132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3" name="Google Shape;1363;p75"/>
            <p:cNvSpPr txBox="1"/>
            <p:nvPr/>
          </p:nvSpPr>
          <p:spPr>
            <a:xfrm>
              <a:off x="25" y="551238"/>
              <a:ext cx="25638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900"/>
                <a:buFont typeface="Arial"/>
                <a:buNone/>
              </a:pPr>
              <a:r>
                <a:rPr i="0" lang="en-US" sz="800" u="none" cap="none" strike="noStrike">
                  <a:solidFill>
                    <a:srgbClr val="212121"/>
                  </a:solidFill>
                  <a:latin typeface="Inter"/>
                  <a:ea typeface="Inter"/>
                  <a:cs typeface="Inter"/>
                  <a:sym typeface="Inter"/>
                </a:rPr>
                <a:t>Промышленность</a:t>
              </a:r>
              <a:endParaRPr sz="8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descr="Image 5" id="1364" name="Google Shape;1364;p75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16786015" y="0"/>
              <a:ext cx="2489201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0" id="1365" name="Google Shape;1365;p75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199009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6" name="Google Shape;1366;p75"/>
          <p:cNvGrpSpPr/>
          <p:nvPr/>
        </p:nvGrpSpPr>
        <p:grpSpPr>
          <a:xfrm>
            <a:off x="269901" y="1253006"/>
            <a:ext cx="8170152" cy="495300"/>
            <a:chOff x="28" y="0"/>
            <a:chExt cx="21787071" cy="1320800"/>
          </a:xfrm>
        </p:grpSpPr>
        <p:pic>
          <p:nvPicPr>
            <p:cNvPr descr="Image 12" id="1367" name="Google Shape;1367;p75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42799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13" id="1368" name="Google Shape;1368;p75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74041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14" id="1369" name="Google Shape;1369;p75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105283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15" id="1370" name="Google Shape;1370;p75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136525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16" id="1371" name="Google Shape;1371;p75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16776700" y="0"/>
              <a:ext cx="2489200" cy="132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2" name="Google Shape;1372;p75"/>
            <p:cNvSpPr txBox="1"/>
            <p:nvPr/>
          </p:nvSpPr>
          <p:spPr>
            <a:xfrm>
              <a:off x="28" y="495318"/>
              <a:ext cx="32760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4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900"/>
                <a:buFont typeface="Arial"/>
                <a:buNone/>
              </a:pPr>
              <a:r>
                <a:rPr i="0" lang="en-US" sz="800" u="none" cap="none" strike="noStrike">
                  <a:solidFill>
                    <a:srgbClr val="212121"/>
                  </a:solidFill>
                  <a:latin typeface="Inter"/>
                  <a:ea typeface="Inter"/>
                  <a:cs typeface="Inter"/>
                  <a:sym typeface="Inter"/>
                </a:rPr>
                <a:t>Транспорт и логистика</a:t>
              </a:r>
              <a:endParaRPr sz="40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descr="pasted-movie.png" id="1373" name="Google Shape;1373;p75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20338592" y="225047"/>
              <a:ext cx="1448507" cy="8147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76"/>
          <p:cNvSpPr txBox="1"/>
          <p:nvPr/>
        </p:nvSpPr>
        <p:spPr>
          <a:xfrm>
            <a:off x="144050" y="1377850"/>
            <a:ext cx="9258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713"/>
              <a:buFont typeface="Arial"/>
              <a:buNone/>
            </a:pPr>
            <a:r>
              <a:rPr b="1" lang="en-US" sz="1448">
                <a:latin typeface="Inter"/>
                <a:ea typeface="Inter"/>
                <a:cs typeface="Inter"/>
                <a:sym typeface="Inter"/>
              </a:rPr>
              <a:t>Ядро системы (MVP)</a:t>
            </a:r>
            <a:endParaRPr b="1" sz="1448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9" name="Google Shape;1379;p76"/>
          <p:cNvSpPr txBox="1"/>
          <p:nvPr/>
        </p:nvSpPr>
        <p:spPr>
          <a:xfrm>
            <a:off x="144050" y="2571750"/>
            <a:ext cx="9258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713"/>
              <a:buFont typeface="Arial"/>
              <a:buNone/>
            </a:pPr>
            <a:r>
              <a:rPr b="1" lang="en-US" sz="1448">
                <a:latin typeface="Inter"/>
                <a:ea typeface="Inter"/>
                <a:cs typeface="Inter"/>
                <a:sym typeface="Inter"/>
              </a:rPr>
              <a:t>Полная версия</a:t>
            </a:r>
            <a:endParaRPr b="1" sz="1448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0" name="Google Shape;1380;p76"/>
          <p:cNvSpPr txBox="1"/>
          <p:nvPr/>
        </p:nvSpPr>
        <p:spPr>
          <a:xfrm>
            <a:off x="144050" y="3765650"/>
            <a:ext cx="9258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713"/>
              <a:buFont typeface="Arial"/>
              <a:buNone/>
            </a:pPr>
            <a:r>
              <a:rPr b="1" lang="en-US" sz="1448">
                <a:latin typeface="Inter"/>
                <a:ea typeface="Inter"/>
                <a:cs typeface="Inter"/>
                <a:sym typeface="Inter"/>
              </a:rPr>
              <a:t>Развитие</a:t>
            </a:r>
            <a:endParaRPr b="1" sz="1448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Google Shape;1381;p76"/>
          <p:cNvSpPr txBox="1"/>
          <p:nvPr/>
        </p:nvSpPr>
        <p:spPr>
          <a:xfrm>
            <a:off x="1180800" y="336350"/>
            <a:ext cx="13464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713"/>
              <a:buFont typeface="Arial"/>
              <a:buNone/>
            </a:pPr>
            <a:r>
              <a:rPr b="1" lang="en-US" sz="1248">
                <a:latin typeface="Inter"/>
                <a:ea typeface="Inter"/>
                <a:cs typeface="Inter"/>
                <a:sym typeface="Inter"/>
              </a:rPr>
              <a:t>Технический потенциал</a:t>
            </a:r>
            <a:endParaRPr b="1" sz="1248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Google Shape;1382;p76"/>
          <p:cNvSpPr txBox="1"/>
          <p:nvPr/>
        </p:nvSpPr>
        <p:spPr>
          <a:xfrm>
            <a:off x="2789701" y="336350"/>
            <a:ext cx="15945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99"/>
              <a:buFont typeface="Arial"/>
              <a:buNone/>
            </a:pPr>
            <a:r>
              <a:rPr b="1" lang="en-US" sz="1213">
                <a:latin typeface="Inter"/>
                <a:ea typeface="Inter"/>
                <a:cs typeface="Inter"/>
                <a:sym typeface="Inter"/>
              </a:rPr>
              <a:t>Потенциал для </a:t>
            </a:r>
            <a:endParaRPr b="1" sz="1213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99"/>
              <a:buFont typeface="Arial"/>
              <a:buNone/>
            </a:pPr>
            <a:r>
              <a:rPr b="1" lang="en-US" sz="1213">
                <a:latin typeface="Inter"/>
                <a:ea typeface="Inter"/>
                <a:cs typeface="Inter"/>
                <a:sym typeface="Inter"/>
              </a:rPr>
              <a:t>пользовательского </a:t>
            </a:r>
            <a:endParaRPr b="1" sz="1213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99"/>
              <a:buFont typeface="Arial"/>
              <a:buNone/>
            </a:pPr>
            <a:r>
              <a:rPr b="1" lang="en-US" sz="1213">
                <a:latin typeface="Inter"/>
                <a:ea typeface="Inter"/>
                <a:cs typeface="Inter"/>
                <a:sym typeface="Inter"/>
              </a:rPr>
              <a:t>опыта (UX)</a:t>
            </a:r>
            <a:endParaRPr b="1" sz="1213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Google Shape;1383;p76"/>
          <p:cNvSpPr txBox="1"/>
          <p:nvPr/>
        </p:nvSpPr>
        <p:spPr>
          <a:xfrm>
            <a:off x="4531039" y="336350"/>
            <a:ext cx="13464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713"/>
              <a:buFont typeface="Arial"/>
              <a:buNone/>
            </a:pPr>
            <a:r>
              <a:rPr b="1" lang="en-US" sz="1248">
                <a:latin typeface="Inter"/>
                <a:ea typeface="Inter"/>
                <a:cs typeface="Inter"/>
                <a:sym typeface="Inter"/>
              </a:rPr>
              <a:t>Маркетинговый потенциал</a:t>
            </a:r>
            <a:endParaRPr b="1" sz="1248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4" name="Google Shape;1384;p76"/>
          <p:cNvSpPr txBox="1"/>
          <p:nvPr/>
        </p:nvSpPr>
        <p:spPr>
          <a:xfrm>
            <a:off x="6065389" y="336350"/>
            <a:ext cx="13464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306"/>
              <a:buFont typeface="Arial"/>
              <a:buNone/>
            </a:pPr>
            <a:r>
              <a:rPr b="1" lang="en-US" sz="1200">
                <a:latin typeface="Inter"/>
                <a:ea typeface="Inter"/>
                <a:cs typeface="Inter"/>
                <a:sym typeface="Inter"/>
              </a:rPr>
              <a:t>Потенциал к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306"/>
              <a:buFont typeface="Arial"/>
              <a:buNone/>
            </a:pPr>
            <a:r>
              <a:rPr b="1" lang="en-US" sz="1200">
                <a:latin typeface="Inter"/>
                <a:ea typeface="Inter"/>
                <a:cs typeface="Inter"/>
                <a:sym typeface="Inter"/>
              </a:rPr>
              <a:t>автоматизации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306"/>
              <a:buFont typeface="Arial"/>
              <a:buNone/>
            </a:pPr>
            <a:r>
              <a:rPr b="1" lang="en-US" sz="1200">
                <a:latin typeface="Inter"/>
                <a:ea typeface="Inter"/>
                <a:cs typeface="Inter"/>
                <a:sym typeface="Inter"/>
              </a:rPr>
              <a:t>внутренних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306"/>
              <a:buFont typeface="Arial"/>
              <a:buNone/>
            </a:pPr>
            <a:r>
              <a:rPr b="1" lang="en-US" sz="1200">
                <a:latin typeface="Inter"/>
                <a:ea typeface="Inter"/>
                <a:cs typeface="Inter"/>
                <a:sym typeface="Inter"/>
              </a:rPr>
              <a:t>процессов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5" name="Google Shape;1385;p76"/>
          <p:cNvSpPr txBox="1"/>
          <p:nvPr/>
        </p:nvSpPr>
        <p:spPr>
          <a:xfrm>
            <a:off x="7527215" y="336350"/>
            <a:ext cx="13464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713"/>
              <a:buFont typeface="Arial"/>
              <a:buNone/>
            </a:pPr>
            <a:r>
              <a:rPr b="1" lang="en-US" sz="1248">
                <a:latin typeface="Inter"/>
                <a:ea typeface="Inter"/>
                <a:cs typeface="Inter"/>
                <a:sym typeface="Inter"/>
              </a:rPr>
              <a:t>Потенциал</a:t>
            </a:r>
            <a:endParaRPr b="1" sz="1248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713"/>
              <a:buFont typeface="Arial"/>
              <a:buNone/>
            </a:pPr>
            <a:r>
              <a:rPr b="1" lang="en-US" sz="1248">
                <a:latin typeface="Inter"/>
                <a:ea typeface="Inter"/>
                <a:cs typeface="Inter"/>
                <a:sym typeface="Inter"/>
              </a:rPr>
              <a:t>Data-driven</a:t>
            </a:r>
            <a:endParaRPr b="1" sz="1248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713"/>
              <a:buFont typeface="Arial"/>
              <a:buNone/>
            </a:pPr>
            <a:r>
              <a:rPr b="1" lang="en-US" sz="1248">
                <a:latin typeface="Inter"/>
                <a:ea typeface="Inter"/>
                <a:cs typeface="Inter"/>
                <a:sym typeface="Inter"/>
              </a:rPr>
              <a:t>подхода</a:t>
            </a:r>
            <a:endParaRPr b="1" sz="1248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6" name="Google Shape;1386;p76"/>
          <p:cNvSpPr txBox="1"/>
          <p:nvPr/>
        </p:nvSpPr>
        <p:spPr>
          <a:xfrm>
            <a:off x="1181625" y="1357900"/>
            <a:ext cx="17019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Архитектурное масштабирование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Инфраструктурное масштабирование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Базовая WAF-защита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Наличие API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Логирование и мониторинг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87" name="Google Shape;1387;p76"/>
          <p:cNvSpPr txBox="1"/>
          <p:nvPr/>
        </p:nvSpPr>
        <p:spPr>
          <a:xfrm>
            <a:off x="1180800" y="2639225"/>
            <a:ext cx="17019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Базовая DDoS-защита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88" name="Google Shape;1388;p76"/>
          <p:cNvSpPr txBox="1"/>
          <p:nvPr/>
        </p:nvSpPr>
        <p:spPr>
          <a:xfrm>
            <a:off x="1181625" y="3828825"/>
            <a:ext cx="17019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Расширенная WAF-защита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Расширенная DDoS-защита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89" name="Google Shape;1389;p76"/>
          <p:cNvSpPr txBox="1"/>
          <p:nvPr/>
        </p:nvSpPr>
        <p:spPr>
          <a:xfrm>
            <a:off x="2790000" y="1357900"/>
            <a:ext cx="15945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UX/UI-дизйн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Компонентный подход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Внедрение готовых решений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Базовый административный интерфейс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Улучшение имиджа компании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90" name="Google Shape;1390;p76"/>
          <p:cNvSpPr txBox="1"/>
          <p:nvPr/>
        </p:nvSpPr>
        <p:spPr>
          <a:xfrm>
            <a:off x="2790000" y="3828825"/>
            <a:ext cx="17019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Личный кабинет Клиента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Личный кабинет Дилера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Личный кабинет Сотрудника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91" name="Google Shape;1391;p76"/>
          <p:cNvSpPr txBox="1"/>
          <p:nvPr/>
        </p:nvSpPr>
        <p:spPr>
          <a:xfrm>
            <a:off x="4532400" y="1357900"/>
            <a:ext cx="14475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SEO-продвижение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Контент-менеджмент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Сборка посадочных страниц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92" name="Google Shape;1392;p76"/>
          <p:cNvSpPr txBox="1"/>
          <p:nvPr/>
        </p:nvSpPr>
        <p:spPr>
          <a:xfrm>
            <a:off x="4532400" y="2639225"/>
            <a:ext cx="17019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Интеграция с системой маркетинговых рассылок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93" name="Google Shape;1393;p76"/>
          <p:cNvSpPr txBox="1"/>
          <p:nvPr/>
        </p:nvSpPr>
        <p:spPr>
          <a:xfrm>
            <a:off x="4532400" y="3828825"/>
            <a:ext cx="1504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Формирование золотой записи Клиента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A/B или A/A-тестирование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94" name="Google Shape;1394;p76"/>
          <p:cNvSpPr txBox="1"/>
          <p:nvPr/>
        </p:nvSpPr>
        <p:spPr>
          <a:xfrm>
            <a:off x="6066970" y="1357900"/>
            <a:ext cx="14475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Сокращение цикла продаж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Снижение нагрузки на менеджеров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95" name="Google Shape;1395;p76"/>
          <p:cNvSpPr txBox="1"/>
          <p:nvPr/>
        </p:nvSpPr>
        <p:spPr>
          <a:xfrm>
            <a:off x="6066000" y="2639225"/>
            <a:ext cx="17019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Сервис технической поддержки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CRM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Чаты с экспертами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96" name="Google Shape;1396;p76"/>
          <p:cNvSpPr txBox="1"/>
          <p:nvPr/>
        </p:nvSpPr>
        <p:spPr>
          <a:xfrm>
            <a:off x="6066975" y="3828825"/>
            <a:ext cx="11784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Внедрение чат-ботов с AI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97" name="Google Shape;1397;p76"/>
          <p:cNvSpPr txBox="1"/>
          <p:nvPr/>
        </p:nvSpPr>
        <p:spPr>
          <a:xfrm>
            <a:off x="7527600" y="1357900"/>
            <a:ext cx="14475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Web-аналитика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98" name="Google Shape;1398;p76"/>
          <p:cNvSpPr txBox="1"/>
          <p:nvPr/>
        </p:nvSpPr>
        <p:spPr>
          <a:xfrm>
            <a:off x="7527600" y="2639225"/>
            <a:ext cx="13464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Формирование простой базовой отчетности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99" name="Google Shape;1399;p76"/>
          <p:cNvSpPr txBox="1"/>
          <p:nvPr/>
        </p:nvSpPr>
        <p:spPr>
          <a:xfrm>
            <a:off x="7527600" y="3828825"/>
            <a:ext cx="1594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Создание корпоративного хранилища данных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Настройка слоя ETL/LTE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Внедрение BI-систем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86799" lvl="0" marL="3599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00"/>
              <a:buFont typeface="Inter Medium"/>
              <a:buChar char="●"/>
            </a:pPr>
            <a:r>
              <a:rPr lang="en-US" sz="800">
                <a:latin typeface="Inter Medium"/>
                <a:ea typeface="Inter Medium"/>
                <a:cs typeface="Inter Medium"/>
                <a:sym typeface="Inter Medium"/>
              </a:rPr>
              <a:t>Сквозная аналитика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00" name="Google Shape;1400;p76"/>
          <p:cNvSpPr txBox="1"/>
          <p:nvPr/>
        </p:nvSpPr>
        <p:spPr>
          <a:xfrm>
            <a:off x="8707480" y="233375"/>
            <a:ext cx="174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fld id="{00000000-1234-1234-1234-123412341234}" type="slidenum">
              <a:rPr i="0" lang="en-US" sz="8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400">
              <a:solidFill>
                <a:srgbClr val="99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1" id="1405" name="Google Shape;1405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329238" cy="4967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77"/>
          <p:cNvSpPr txBox="1"/>
          <p:nvPr/>
        </p:nvSpPr>
        <p:spPr>
          <a:xfrm>
            <a:off x="4619625" y="3581400"/>
            <a:ext cx="643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Москва</a:t>
            </a:r>
            <a:endParaRPr sz="10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07" name="Google Shape;1407;p77"/>
          <p:cNvSpPr txBox="1"/>
          <p:nvPr/>
        </p:nvSpPr>
        <p:spPr>
          <a:xfrm>
            <a:off x="6062675" y="2924175"/>
            <a:ext cx="808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www.uplab.ru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8" name="Google Shape;1408;p77"/>
          <p:cNvSpPr txBox="1"/>
          <p:nvPr/>
        </p:nvSpPr>
        <p:spPr>
          <a:xfrm>
            <a:off x="4572000" y="1885950"/>
            <a:ext cx="4205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6000"/>
              <a:buFont typeface="Arial"/>
              <a:buNone/>
            </a:pPr>
            <a:r>
              <a:rPr i="0" lang="en-US" sz="45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info@uplab.ru</a:t>
            </a:r>
            <a:endParaRPr sz="45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09" name="Google Shape;1409;p77"/>
          <p:cNvSpPr txBox="1"/>
          <p:nvPr/>
        </p:nvSpPr>
        <p:spPr>
          <a:xfrm>
            <a:off x="6062677" y="3581400"/>
            <a:ext cx="808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i="0" lang="en-US" sz="10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Чебоксары</a:t>
            </a:r>
            <a:endParaRPr sz="10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10" name="Google Shape;1410;p77"/>
          <p:cNvSpPr txBox="1"/>
          <p:nvPr/>
        </p:nvSpPr>
        <p:spPr>
          <a:xfrm>
            <a:off x="4619625" y="3905250"/>
            <a:ext cx="110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127055, 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ул. Новослободская, д. 61, стр. 2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11" name="Google Shape;1411;p77"/>
          <p:cNvSpPr txBox="1"/>
          <p:nvPr/>
        </p:nvSpPr>
        <p:spPr>
          <a:xfrm>
            <a:off x="6062676" y="3905250"/>
            <a:ext cx="10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428018,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ул. Нижегородская, д. 6, стр. 2</a:t>
            </a:r>
            <a:endParaRPr sz="8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12" name="Google Shape;1412;p77"/>
          <p:cNvSpPr txBox="1"/>
          <p:nvPr/>
        </p:nvSpPr>
        <p:spPr>
          <a:xfrm>
            <a:off x="4619625" y="2924175"/>
            <a:ext cx="921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i="0" lang="en-US" sz="8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+7 499 653 78 83</a:t>
            </a:r>
            <a:endParaRPr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3" name="Google Shape;1413;p77"/>
          <p:cNvSpPr/>
          <p:nvPr/>
        </p:nvSpPr>
        <p:spPr>
          <a:xfrm>
            <a:off x="276495" y="435512"/>
            <a:ext cx="447600" cy="139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78"/>
          <p:cNvSpPr txBox="1"/>
          <p:nvPr/>
        </p:nvSpPr>
        <p:spPr>
          <a:xfrm>
            <a:off x="276500" y="1797350"/>
            <a:ext cx="7148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69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Arial"/>
              <a:buNone/>
            </a:pPr>
            <a:r>
              <a:rPr i="0" lang="en-US" sz="5000" u="none" cap="none" strike="noStrike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Павел Тарелкин</a:t>
            </a:r>
            <a:endParaRPr sz="50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19" name="Google Shape;1419;p78"/>
          <p:cNvSpPr/>
          <p:nvPr/>
        </p:nvSpPr>
        <p:spPr>
          <a:xfrm>
            <a:off x="276495" y="435512"/>
            <a:ext cx="447600" cy="13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0" name="Google Shape;1420;p78"/>
          <p:cNvSpPr txBox="1"/>
          <p:nvPr/>
        </p:nvSpPr>
        <p:spPr>
          <a:xfrm>
            <a:off x="276500" y="2997750"/>
            <a:ext cx="210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генеральный директор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21" name="Google Shape;1421;p78"/>
          <p:cNvSpPr txBox="1"/>
          <p:nvPr/>
        </p:nvSpPr>
        <p:spPr>
          <a:xfrm>
            <a:off x="276500" y="3664500"/>
            <a:ext cx="210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www.uplab.ru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22" name="Google Shape;1422;p78"/>
          <p:cNvSpPr txBox="1"/>
          <p:nvPr/>
        </p:nvSpPr>
        <p:spPr>
          <a:xfrm>
            <a:off x="3100850" y="2997750"/>
            <a:ext cx="210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@</a:t>
            </a:r>
            <a:r>
              <a:rPr lang="en-US" sz="12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paveltarelkin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23" name="Google Shape;1423;p78"/>
          <p:cNvSpPr txBox="1"/>
          <p:nvPr/>
        </p:nvSpPr>
        <p:spPr>
          <a:xfrm>
            <a:off x="3100850" y="3354775"/>
            <a:ext cx="210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+7 925 829 60 63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24" name="Google Shape;1424;p78"/>
          <p:cNvSpPr txBox="1"/>
          <p:nvPr/>
        </p:nvSpPr>
        <p:spPr>
          <a:xfrm>
            <a:off x="3100850" y="3664500"/>
            <a:ext cx="210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12121"/>
                </a:solidFill>
                <a:latin typeface="Inter Medium"/>
                <a:ea typeface="Inter Medium"/>
                <a:cs typeface="Inter Medium"/>
                <a:sym typeface="Inter Medium"/>
              </a:rPr>
              <a:t>pas@uplab.ru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425" name="Google Shape;142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1425" y="2962325"/>
            <a:ext cx="255650" cy="25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