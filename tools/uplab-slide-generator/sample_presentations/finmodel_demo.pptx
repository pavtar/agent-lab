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5"/>
    <p:sldMasterId id="2147483677" r:id="rId6"/>
  </p:sldMasterIdLst>
  <p:notesMasterIdLst>
    <p:notesMasterId r:id="rId7"/>
  </p:notesMasterIdLst>
  <p:sldIdLst>
    <p:sldId id="256" r:id="rId32"/>
    <p:sldId id="257" r:id="rId33"/>
    <p:sldId id="258" r:id="rId34"/>
    <p:sldId id="259" r:id="rId35"/>
    <p:sldId id="260" r:id="rId36"/>
    <p:sldId id="261" r:id="rId37"/>
    <p:sldId id="262" r:id="rId38"/>
    <p:sldId id="263" r:id="rId39"/>
    <p:sldId id="264" r:id="rId40"/>
    <p:sldId id="265" r:id="rId41"/>
    <p:sldId id="266" r:id="rId42"/>
    <p:sldId id="267" r:id="rId43"/>
    <p:sldId id="268" r:id="rId44"/>
    <p:sldId id="269" r:id="rId45"/>
    <p:sldId id="270" r:id="rId46"/>
    <p:sldId id="271" r:id="rId47"/>
    <p:sldId id="272" r:id="rId48"/>
    <p:sldId id="273" r:id="rId49"/>
    <p:sldId id="274" r:id="rId50"/>
    <p:sldId id="275" r:id="rId51"/>
    <p:sldId id="276" r:id="rId52"/>
    <p:sldId id="277" r:id="rId53"/>
    <p:sldId id="278" r:id="rId54"/>
    <p:sldId id="279" r:id="rId55"/>
    <p:sldId id="280" r:id="rId31"/>
    <p:sldId id="281" r:id="rId30"/>
    <p:sldId id="282" r:id="rId29"/>
    <p:sldId id="283" r:id="rId28"/>
    <p:sldId id="284" r:id="rId27"/>
    <p:sldId id="285" r:id="rId26"/>
    <p:sldId id="286" r:id="rId25"/>
    <p:sldId id="287" r:id="rId24"/>
    <p:sldId id="288" r:id="rId23"/>
    <p:sldId id="289" r:id="rId22"/>
    <p:sldId id="290" r:id="rId21"/>
    <p:sldId id="291" r:id="rId20"/>
    <p:sldId id="292" r:id="rId19"/>
    <p:sldId id="293" r:id="rId18"/>
    <p:sldId id="294" r:id="rId17"/>
    <p:sldId id="295" r:id="rId16"/>
    <p:sldId id="296" r:id="rId15"/>
    <p:sldId id="297" r:id="rId14"/>
    <p:sldId id="298" r:id="rId13"/>
    <p:sldId id="299" r:id="rId12"/>
    <p:sldId id="300" r:id="rId11"/>
    <p:sldId id="301" r:id="rId10"/>
    <p:sldId id="302" r:id="rId9"/>
  </p:sldIdLst>
  <p:sldSz cy="5143500" cx="9144000"/>
  <p:notesSz cx="6858000" cy="9144000"/>
  <p:embeddedFontLst>
    <p:embeddedFont>
      <p:font typeface="Inter Light"/>
      <p:regular r:id="rId56"/>
      <p:bold r:id="rId57"/>
      <p:italic r:id="rId58"/>
      <p:boldItalic r:id="rId59"/>
    </p:embeddedFont>
    <p:embeddedFont>
      <p:font typeface="Inter"/>
      <p:regular r:id="rId60"/>
      <p:bold r:id="rId61"/>
      <p:italic r:id="rId62"/>
      <p:boldItalic r:id="rId63"/>
    </p:embeddedFont>
    <p:embeddedFont>
      <p:font typeface="Montserrat"/>
      <p:regular r:id="rId64"/>
      <p:bold r:id="rId65"/>
      <p:italic r:id="rId66"/>
      <p:boldItalic r:id="rId67"/>
    </p:embeddedFont>
    <p:embeddedFont>
      <p:font typeface="Helvetica Neue"/>
      <p:regular r:id="rId68"/>
      <p:bold r:id="rId69"/>
      <p:italic r:id="rId70"/>
      <p:boldItalic r:id="rId71"/>
    </p:embeddedFont>
    <p:embeddedFont>
      <p:font typeface="Helvetica Neue Light"/>
      <p:regular r:id="rId72"/>
      <p:bold r:id="rId73"/>
      <p:italic r:id="rId74"/>
      <p:boldItalic r:id="rId75"/>
    </p:embeddedFont>
    <p:embeddedFont>
      <p:font typeface="Inter Medium"/>
      <p:regular r:id="rId76"/>
      <p:bold r:id="rId77"/>
      <p:italic r:id="rId78"/>
      <p:boldItalic r:id="rId7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49">
          <p15:clr>
            <a:schemeClr val="accent4"/>
          </p15:clr>
        </p15:guide>
        <p15:guide id="2" pos="2862">
          <p15:clr>
            <a:schemeClr val="accent4"/>
          </p15:clr>
        </p15:guide>
        <p15:guide id="3" orient="horz" pos="823">
          <p15:clr>
            <a:schemeClr val="accent4"/>
          </p15:clr>
        </p15:guide>
        <p15:guide id="4" orient="horz" pos="1090">
          <p15:clr>
            <a:schemeClr val="accent4"/>
          </p15:clr>
        </p15:guide>
        <p15:guide id="5" orient="horz" pos="1369">
          <p15:clr>
            <a:schemeClr val="accent4"/>
          </p15:clr>
        </p15:guide>
        <p15:guide id="6" orient="horz" pos="1630">
          <p15:clr>
            <a:schemeClr val="accent4"/>
          </p15:clr>
        </p15:guide>
        <p15:guide id="7" orient="horz" pos="1899">
          <p15:clr>
            <a:schemeClr val="accent4"/>
          </p15:clr>
        </p15:guide>
        <p15:guide id="8" orient="horz" pos="2171">
          <p15:clr>
            <a:schemeClr val="accent4"/>
          </p15:clr>
        </p15:guide>
        <p15:guide id="9" orient="horz" pos="2444">
          <p15:clr>
            <a:schemeClr val="accent4"/>
          </p15:clr>
        </p15:guide>
        <p15:guide id="10" orient="horz" pos="2711">
          <p15:clr>
            <a:schemeClr val="accent4"/>
          </p15:clr>
        </p15:guide>
        <p15:guide id="11" orient="horz" pos="2975">
          <p15:clr>
            <a:schemeClr val="accent4"/>
          </p15:clr>
        </p15:guide>
        <p15:guide id="12" pos="176">
          <p15:clr>
            <a:schemeClr val="accent4"/>
          </p15:clr>
        </p15:guide>
        <p15:guide id="13" pos="591">
          <p15:clr>
            <a:schemeClr val="accent4"/>
          </p15:clr>
        </p15:guide>
        <p15:guide id="14" pos="638">
          <p15:clr>
            <a:schemeClr val="accent4"/>
          </p15:clr>
        </p15:guide>
        <p15:guide id="15" pos="1047">
          <p15:clr>
            <a:schemeClr val="accent4"/>
          </p15:clr>
        </p15:guide>
        <p15:guide id="16" pos="1100">
          <p15:clr>
            <a:schemeClr val="accent4"/>
          </p15:clr>
        </p15:guide>
        <p15:guide id="17" pos="1500">
          <p15:clr>
            <a:schemeClr val="accent4"/>
          </p15:clr>
        </p15:guide>
        <p15:guide id="18" pos="1548">
          <p15:clr>
            <a:schemeClr val="accent4"/>
          </p15:clr>
        </p15:guide>
        <p15:guide id="19" pos="1953">
          <p15:clr>
            <a:schemeClr val="accent4"/>
          </p15:clr>
        </p15:guide>
        <p15:guide id="20" pos="2003">
          <p15:clr>
            <a:schemeClr val="accent4"/>
          </p15:clr>
        </p15:guide>
        <p15:guide id="21" pos="2408">
          <p15:clr>
            <a:schemeClr val="accent4"/>
          </p15:clr>
        </p15:guide>
        <p15:guide id="22" pos="2459">
          <p15:clr>
            <a:schemeClr val="accent4"/>
          </p15:clr>
        </p15:guide>
        <p15:guide id="23" pos="2914">
          <p15:clr>
            <a:schemeClr val="accent4"/>
          </p15:clr>
        </p15:guide>
        <p15:guide id="24" pos="3315">
          <p15:clr>
            <a:schemeClr val="accent4"/>
          </p15:clr>
        </p15:guide>
        <p15:guide id="25" pos="3368">
          <p15:clr>
            <a:schemeClr val="accent4"/>
          </p15:clr>
        </p15:guide>
        <p15:guide id="26" pos="3772">
          <p15:clr>
            <a:schemeClr val="accent4"/>
          </p15:clr>
        </p15:guide>
        <p15:guide id="27" pos="3821">
          <p15:clr>
            <a:schemeClr val="accent4"/>
          </p15:clr>
        </p15:guide>
        <p15:guide id="28" pos="4225">
          <p15:clr>
            <a:schemeClr val="accent4"/>
          </p15:clr>
        </p15:guide>
        <p15:guide id="29" pos="4275">
          <p15:clr>
            <a:schemeClr val="accent4"/>
          </p15:clr>
        </p15:guide>
        <p15:guide id="30" pos="4678">
          <p15:clr>
            <a:schemeClr val="accent4"/>
          </p15:clr>
        </p15:guide>
        <p15:guide id="31" pos="4728">
          <p15:clr>
            <a:schemeClr val="accent4"/>
          </p15:clr>
        </p15:guide>
        <p15:guide id="32" pos="5131">
          <p15:clr>
            <a:schemeClr val="accent4"/>
          </p15:clr>
        </p15:guide>
        <p15:guide id="33" pos="5181">
          <p15:clr>
            <a:schemeClr val="accent4"/>
          </p15:clr>
        </p15:guide>
        <p15:guide id="34" pos="5584">
          <p15:clr>
            <a:schemeClr val="accent4"/>
          </p15:clr>
        </p15:guide>
        <p15:guide id="35" orient="horz" pos="703">
          <p15:clr>
            <a:srgbClr val="747775"/>
          </p15:clr>
        </p15:guide>
        <p15:guide id="36" orient="horz" pos="504">
          <p15:clr>
            <a:srgbClr val="747775"/>
          </p15:clr>
        </p15:guide>
        <p15:guide id="37" orient="horz" pos="1107">
          <p15:clr>
            <a:srgbClr val="747775"/>
          </p15:clr>
        </p15:guide>
        <p15:guide id="38" orient="horz" pos="2756">
          <p15:clr>
            <a:srgbClr val="747775"/>
          </p15:clr>
        </p15:guide>
        <p15:guide id="39" orient="horz" pos="2400">
          <p15:clr>
            <a:srgbClr val="747775"/>
          </p15:clr>
        </p15:guide>
        <p15:guide id="40" orient="horz" pos="28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3D5205-A638-40E8-9367-87A60A20FF23}">
  <a:tblStyle styleId="{CB3D5205-A638-40E8-9367-87A60A20FF23}" styleName="Table_0"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/>
          </a:solidFill>
        </a:fill>
      </a:tcStyle>
    </a:wholeTbl>
    <a:band1H>
      <a:tcTxStyle/>
    </a:band1H>
    <a:band2H>
      <a:tcTxStyle b="off" i="off"/>
      <a:tcStyle>
        <a:fill>
          <a:solidFill>
            <a:srgbClr val="E3E5E8"/>
          </a:solidFill>
        </a:fill>
      </a:tcStyle>
    </a:band2H>
    <a:band1V>
      <a:tcTxStyle/>
    </a:band1V>
    <a:band2V>
      <a:tcTxStyle/>
    </a:band2V>
    <a:lastCol>
      <a:tcTxStyle/>
    </a:lastCol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0076B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3797C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004C7F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49" orient="horz"/>
        <p:guide pos="2862"/>
        <p:guide pos="823" orient="horz"/>
        <p:guide pos="1090" orient="horz"/>
        <p:guide pos="1369" orient="horz"/>
        <p:guide pos="1630" orient="horz"/>
        <p:guide pos="1899" orient="horz"/>
        <p:guide pos="2171" orient="horz"/>
        <p:guide pos="2444" orient="horz"/>
        <p:guide pos="2711" orient="horz"/>
        <p:guide pos="2975" orient="horz"/>
        <p:guide pos="176"/>
        <p:guide pos="591"/>
        <p:guide pos="638"/>
        <p:guide pos="1047"/>
        <p:guide pos="1100"/>
        <p:guide pos="1500"/>
        <p:guide pos="1548"/>
        <p:guide pos="1953"/>
        <p:guide pos="2003"/>
        <p:guide pos="2408"/>
        <p:guide pos="2459"/>
        <p:guide pos="2914"/>
        <p:guide pos="3315"/>
        <p:guide pos="3368"/>
        <p:guide pos="3772"/>
        <p:guide pos="3821"/>
        <p:guide pos="4225"/>
        <p:guide pos="4275"/>
        <p:guide pos="4678"/>
        <p:guide pos="4728"/>
        <p:guide pos="5131"/>
        <p:guide pos="5181"/>
        <p:guide pos="5584"/>
        <p:guide pos="703" orient="horz"/>
        <p:guide pos="504" orient="horz"/>
        <p:guide pos="1107" orient="horz"/>
        <p:guide pos="2756" orient="horz"/>
        <p:guide pos="2400" orient="horz"/>
        <p:guide pos="2881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9" Type="http://schemas.openxmlformats.org/officeDocument/2006/relationships/slide" Target="slides/slide47.xml"/><Relationship Id="rId10" Type="http://schemas.openxmlformats.org/officeDocument/2006/relationships/slide" Target="slides/slide46.xml"/><Relationship Id="rId11" Type="http://schemas.openxmlformats.org/officeDocument/2006/relationships/slide" Target="slides/slide45.xml"/><Relationship Id="rId12" Type="http://schemas.openxmlformats.org/officeDocument/2006/relationships/slide" Target="slides/slide44.xml"/><Relationship Id="rId13" Type="http://schemas.openxmlformats.org/officeDocument/2006/relationships/slide" Target="slides/slide43.xml"/><Relationship Id="rId14" Type="http://schemas.openxmlformats.org/officeDocument/2006/relationships/slide" Target="slides/slide42.xml"/><Relationship Id="rId15" Type="http://schemas.openxmlformats.org/officeDocument/2006/relationships/slide" Target="slides/slide41.xml"/><Relationship Id="rId16" Type="http://schemas.openxmlformats.org/officeDocument/2006/relationships/slide" Target="slides/slide40.xml"/><Relationship Id="rId17" Type="http://schemas.openxmlformats.org/officeDocument/2006/relationships/slide" Target="slides/slide39.xml"/><Relationship Id="rId18" Type="http://schemas.openxmlformats.org/officeDocument/2006/relationships/slide" Target="slides/slide38.xml"/><Relationship Id="rId19" Type="http://schemas.openxmlformats.org/officeDocument/2006/relationships/slide" Target="slides/slide37.xml"/><Relationship Id="rId20" Type="http://schemas.openxmlformats.org/officeDocument/2006/relationships/slide" Target="slides/slide36.xml"/><Relationship Id="rId21" Type="http://schemas.openxmlformats.org/officeDocument/2006/relationships/slide" Target="slides/slide35.xml"/><Relationship Id="rId22" Type="http://schemas.openxmlformats.org/officeDocument/2006/relationships/slide" Target="slides/slide34.xml"/><Relationship Id="rId23" Type="http://schemas.openxmlformats.org/officeDocument/2006/relationships/slide" Target="slides/slide33.xml"/><Relationship Id="rId24" Type="http://schemas.openxmlformats.org/officeDocument/2006/relationships/slide" Target="slides/slide32.xml"/><Relationship Id="rId25" Type="http://schemas.openxmlformats.org/officeDocument/2006/relationships/slide" Target="slides/slide31.xml"/><Relationship Id="rId26" Type="http://schemas.openxmlformats.org/officeDocument/2006/relationships/slide" Target="slides/slide30.xml"/><Relationship Id="rId27" Type="http://schemas.openxmlformats.org/officeDocument/2006/relationships/slide" Target="slides/slide29.xml"/><Relationship Id="rId28" Type="http://schemas.openxmlformats.org/officeDocument/2006/relationships/slide" Target="slides/slide28.xml"/><Relationship Id="rId29" Type="http://schemas.openxmlformats.org/officeDocument/2006/relationships/slide" Target="slides/slide27.xml"/><Relationship Id="rId30" Type="http://schemas.openxmlformats.org/officeDocument/2006/relationships/slide" Target="slides/slide26.xml"/><Relationship Id="rId31" Type="http://schemas.openxmlformats.org/officeDocument/2006/relationships/slide" Target="slides/slide25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font" Target="fonts/InterLight-regular.fntdata"/><Relationship Id="rId57" Type="http://schemas.openxmlformats.org/officeDocument/2006/relationships/font" Target="fonts/InterLight-bold.fntdata"/><Relationship Id="rId58" Type="http://schemas.openxmlformats.org/officeDocument/2006/relationships/font" Target="fonts/InterLight-italic.fntdata"/><Relationship Id="rId59" Type="http://schemas.openxmlformats.org/officeDocument/2006/relationships/font" Target="fonts/InterLight-boldItalic.fntdata"/><Relationship Id="rId60" Type="http://schemas.openxmlformats.org/officeDocument/2006/relationships/font" Target="fonts/Inter-regular.fntdata"/><Relationship Id="rId61" Type="http://schemas.openxmlformats.org/officeDocument/2006/relationships/font" Target="fonts/Inter-bold.fntdata"/><Relationship Id="rId62" Type="http://schemas.openxmlformats.org/officeDocument/2006/relationships/font" Target="fonts/Inter-italic.fntdata"/><Relationship Id="rId63" Type="http://schemas.openxmlformats.org/officeDocument/2006/relationships/font" Target="fonts/Inter-boldItalic.fntdata"/><Relationship Id="rId64" Type="http://schemas.openxmlformats.org/officeDocument/2006/relationships/font" Target="fonts/Montserrat-regular.fntdata"/><Relationship Id="rId65" Type="http://schemas.openxmlformats.org/officeDocument/2006/relationships/font" Target="fonts/Montserrat-bold.fntdata"/><Relationship Id="rId66" Type="http://schemas.openxmlformats.org/officeDocument/2006/relationships/font" Target="fonts/Montserrat-italic.fntdata"/><Relationship Id="rId67" Type="http://schemas.openxmlformats.org/officeDocument/2006/relationships/font" Target="fonts/Montserrat-boldItalic.fntdata"/><Relationship Id="rId68" Type="http://schemas.openxmlformats.org/officeDocument/2006/relationships/font" Target="fonts/HelveticaNeue-regular.fntdata"/><Relationship Id="rId69" Type="http://schemas.openxmlformats.org/officeDocument/2006/relationships/font" Target="fonts/HelveticaNeue-bold.fntdata"/><Relationship Id="rId70" Type="http://schemas.openxmlformats.org/officeDocument/2006/relationships/font" Target="fonts/HelveticaNeue-italic.fntdata"/><Relationship Id="rId71" Type="http://schemas.openxmlformats.org/officeDocument/2006/relationships/font" Target="fonts/HelveticaNeue-boldItalic.fntdata"/><Relationship Id="rId72" Type="http://schemas.openxmlformats.org/officeDocument/2006/relationships/font" Target="fonts/HelveticaNeueLight-regular.fntdata"/><Relationship Id="rId73" Type="http://schemas.openxmlformats.org/officeDocument/2006/relationships/font" Target="fonts/HelveticaNeueLight-bold.fntdata"/><Relationship Id="rId74" Type="http://schemas.openxmlformats.org/officeDocument/2006/relationships/font" Target="fonts/HelveticaNeueLight-italic.fntdata"/><Relationship Id="rId75" Type="http://schemas.openxmlformats.org/officeDocument/2006/relationships/font" Target="fonts/HelveticaNeueLight-boldItalic.fntdata"/><Relationship Id="rId76" Type="http://schemas.openxmlformats.org/officeDocument/2006/relationships/font" Target="fonts/InterMedium-regular.fntdata"/><Relationship Id="rId77" Type="http://schemas.openxmlformats.org/officeDocument/2006/relationships/font" Target="fonts/InterMedium-bold.fntdata"/><Relationship Id="rId78" Type="http://schemas.openxmlformats.org/officeDocument/2006/relationships/font" Target="fonts/InterMedium-italic.fntdata"/><Relationship Id="rId79" Type="http://schemas.openxmlformats.org/officeDocument/2006/relationships/font" Target="fonts/InterMedium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ункты">
  <p:cSld name="Заголовок и пункты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nt">
  <p:cSld name="mint">
    <p:bg>
      <p:bgPr>
        <a:solidFill>
          <a:srgbClr val="CC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 — горизонтально">
  <p:cSld name="Фото — горизонтально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/>
          <p:nvPr>
            <p:ph idx="2" type="pic"/>
          </p:nvPr>
        </p:nvSpPr>
        <p:spPr>
          <a:xfrm>
            <a:off x="1172238" y="-147637"/>
            <a:ext cx="6801000" cy="4533900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6"/>
          <p:cNvSpPr txBox="1"/>
          <p:nvPr>
            <p:ph type="title"/>
          </p:nvPr>
        </p:nvSpPr>
        <p:spPr>
          <a:xfrm>
            <a:off x="238125" y="3567113"/>
            <a:ext cx="8667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" type="body"/>
          </p:nvPr>
        </p:nvSpPr>
        <p:spPr>
          <a:xfrm>
            <a:off x="238125" y="4291013"/>
            <a:ext cx="8667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 — по центру">
  <p:cSld name="Заголовок — по центру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666750" y="17002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 — вертикально">
  <p:cSld name="Фото — вертикально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/>
          <p:nvPr>
            <p:ph idx="2" type="pic"/>
          </p:nvPr>
        </p:nvSpPr>
        <p:spPr>
          <a:xfrm>
            <a:off x="4810125" y="357188"/>
            <a:ext cx="43005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8"/>
          <p:cNvSpPr txBox="1"/>
          <p:nvPr>
            <p:ph type="title"/>
          </p:nvPr>
        </p:nvSpPr>
        <p:spPr>
          <a:xfrm>
            <a:off x="619125" y="357188"/>
            <a:ext cx="3833700" cy="20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619125" y="2447925"/>
            <a:ext cx="3833700" cy="21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 — сверху">
  <p:cSld name="Заголовок — сверху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, пункты и фото">
  <p:cSld name="Заголовок, пункты и фото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/>
          <p:nvPr>
            <p:ph idx="2" type="pic"/>
          </p:nvPr>
        </p:nvSpPr>
        <p:spPr>
          <a:xfrm>
            <a:off x="4110038" y="1181100"/>
            <a:ext cx="5229300" cy="34863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10"/>
          <p:cNvSpPr txBox="1"/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" type="body"/>
          </p:nvPr>
        </p:nvSpPr>
        <p:spPr>
          <a:xfrm>
            <a:off x="633413" y="1181100"/>
            <a:ext cx="38337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36550" lvl="0" marL="4572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700"/>
              <a:buFont typeface="Helvetica Neue"/>
              <a:buChar char="•"/>
              <a:defRPr sz="1400"/>
            </a:lvl1pPr>
            <a:lvl2pPr indent="-342900" lvl="1" marL="9144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800"/>
              <a:buFont typeface="Helvetica Neue"/>
              <a:buChar char="•"/>
              <a:defRPr sz="1400"/>
            </a:lvl2pPr>
            <a:lvl3pPr indent="-342900" lvl="2" marL="1371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800"/>
              <a:buFont typeface="Helvetica Neue"/>
              <a:buChar char="•"/>
              <a:defRPr sz="1400"/>
            </a:lvl3pPr>
            <a:lvl4pPr indent="-342900" lvl="3" marL="18288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800"/>
              <a:buFont typeface="Helvetica Neue"/>
              <a:buChar char="•"/>
              <a:defRPr sz="1400"/>
            </a:lvl4pPr>
            <a:lvl5pPr indent="-342900" lvl="4" marL="22860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800"/>
              <a:buFont typeface="Helvetica Neue"/>
              <a:buChar char="•"/>
              <a:defRPr sz="1400"/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нкты">
  <p:cSld name="Пункты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633413" y="666750"/>
            <a:ext cx="78771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68300" lvl="0" marL="457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Helvetica Neue"/>
              <a:buChar char="•"/>
              <a:defRPr sz="1800"/>
            </a:lvl1pPr>
            <a:lvl2pPr indent="-374650" lvl="1" marL="914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Helvetica Neue"/>
              <a:buChar char="•"/>
              <a:defRPr sz="1800"/>
            </a:lvl2pPr>
            <a:lvl3pPr indent="-374650" lvl="2" marL="1371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Helvetica Neue"/>
              <a:buChar char="•"/>
              <a:defRPr sz="1800"/>
            </a:lvl3pPr>
            <a:lvl4pPr indent="-374650" lvl="3" marL="1828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Helvetica Neue"/>
              <a:buChar char="•"/>
              <a:defRPr sz="1800"/>
            </a:lvl4pPr>
            <a:lvl5pPr indent="-374650" lvl="4" marL="2286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Helvetica Neue"/>
              <a:buChar char="•"/>
              <a:defRPr sz="1800"/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(3 шт.)">
  <p:cSld name="Фото (3 шт.)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/>
          <p:nvPr>
            <p:ph idx="2" type="pic"/>
          </p:nvPr>
        </p:nvSpPr>
        <p:spPr>
          <a:xfrm>
            <a:off x="5737622" y="2643188"/>
            <a:ext cx="3121800" cy="20811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2"/>
          <p:cNvSpPr/>
          <p:nvPr>
            <p:ph idx="3" type="pic"/>
          </p:nvPr>
        </p:nvSpPr>
        <p:spPr>
          <a:xfrm>
            <a:off x="5910263" y="323850"/>
            <a:ext cx="2776500" cy="27765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2"/>
          <p:cNvSpPr/>
          <p:nvPr>
            <p:ph idx="4" type="pic"/>
          </p:nvPr>
        </p:nvSpPr>
        <p:spPr>
          <a:xfrm>
            <a:off x="-371475" y="423863"/>
            <a:ext cx="64509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">
  <p:cSld name="Фото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/>
          <p:nvPr>
            <p:ph idx="2" type="pic"/>
          </p:nvPr>
        </p:nvSpPr>
        <p:spPr>
          <a:xfrm>
            <a:off x="-19050" y="-476250"/>
            <a:ext cx="9182100" cy="61215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y">
  <p:cSld name="gray">
    <p:bg>
      <p:bgPr>
        <a:solidFill>
          <a:srgbClr val="F2F2F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idx="12" type="sldNum"/>
          </p:nvPr>
        </p:nvSpPr>
        <p:spPr>
          <a:xfrm>
            <a:off x="8572170" y="413907"/>
            <a:ext cx="1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1" name="Google Shape;51;p14"/>
          <p:cNvSpPr txBox="1"/>
          <p:nvPr>
            <p:ph type="title"/>
          </p:nvPr>
        </p:nvSpPr>
        <p:spPr>
          <a:xfrm>
            <a:off x="1168003" y="409145"/>
            <a:ext cx="57087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>
            <a:lvl1pPr lv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 sz="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>
  <p:cSld name="CUSTOM">
    <p:bg>
      <p:bgPr>
        <a:solidFill>
          <a:srgbClr val="D6FEFE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/>
        </p:nvSpPr>
        <p:spPr>
          <a:xfrm>
            <a:off x="4594813" y="4230344"/>
            <a:ext cx="3546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202</a:t>
            </a:r>
            <a:r>
              <a:rPr lang="en-US" sz="13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sz="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Google Shape;54;p15"/>
          <p:cNvSpPr/>
          <p:nvPr/>
        </p:nvSpPr>
        <p:spPr>
          <a:xfrm>
            <a:off x="276495" y="435512"/>
            <a:ext cx="447900" cy="139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Slide2">
  <p:cSld name="MasterSlide2">
    <p:bg>
      <p:bgPr>
        <a:solidFill>
          <a:srgbClr val="D6FEFE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/>
          <p:nvPr/>
        </p:nvSpPr>
        <p:spPr>
          <a:xfrm>
            <a:off x="0" y="3214755"/>
            <a:ext cx="9144090" cy="1928880"/>
          </a:xfrm>
          <a:custGeom>
            <a:rect b="b" l="l" r="r" t="t"/>
            <a:pathLst>
              <a:path extrusionOk="0" h="14288" w="67734">
                <a:moveTo>
                  <a:pt x="0" y="9561"/>
                </a:moveTo>
                <a:lnTo>
                  <a:pt x="67734" y="0"/>
                </a:lnTo>
                <a:lnTo>
                  <a:pt x="67734" y="14288"/>
                </a:lnTo>
                <a:lnTo>
                  <a:pt x="0" y="14288"/>
                </a:lnTo>
                <a:lnTo>
                  <a:pt x="0" y="9561"/>
                </a:lnTo>
                <a:close/>
              </a:path>
            </a:pathLst>
          </a:custGeom>
          <a:gradFill>
            <a:gsLst>
              <a:gs pos="0">
                <a:srgbClr val="D6FEFE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16875" lIns="33750" spcFirstLastPara="1" rIns="33750" wrap="square" tIns="16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6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9pPr>
          </a:lstStyle>
          <a:p/>
        </p:txBody>
      </p:sp>
      <p:sp>
        <p:nvSpPr>
          <p:cNvPr id="58" name="Google Shape;58;p16"/>
          <p:cNvSpPr txBox="1"/>
          <p:nvPr>
            <p:ph idx="1" type="body"/>
          </p:nvPr>
        </p:nvSpPr>
        <p:spPr>
          <a:xfrm>
            <a:off x="457110" y="1203525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1pPr>
            <a:lvl2pPr indent="-228600" lvl="1" marL="9144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2pPr>
            <a:lvl3pPr indent="-228600" lvl="2" marL="13716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3pPr>
            <a:lvl4pPr indent="-228600" lvl="3" marL="18288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4pPr>
            <a:lvl5pPr indent="-228600" lvl="4" marL="22860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5pPr>
            <a:lvl6pPr indent="-228600" lvl="5" marL="27432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6pPr>
            <a:lvl7pPr indent="-228600" lvl="6" marL="32004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7pPr>
            <a:lvl8pPr indent="-228600" lvl="7" marL="36576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8pPr>
            <a:lvl9pPr indent="-228600" lvl="8" marL="41148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2">
  <p:cSld name="TITLE_AND_BODY_3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Slide1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/>
          <p:nvPr/>
        </p:nvSpPr>
        <p:spPr>
          <a:xfrm>
            <a:off x="821531" y="1982391"/>
            <a:ext cx="5143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20"/>
          <p:cNvSpPr txBox="1"/>
          <p:nvPr>
            <p:ph idx="12" type="sldNum"/>
          </p:nvPr>
        </p:nvSpPr>
        <p:spPr>
          <a:xfrm>
            <a:off x="8778999" y="233363"/>
            <a:ext cx="99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</a:t>
            </a:r>
            <a:endParaRPr/>
          </a:p>
        </p:txBody>
      </p:sp>
      <p:sp>
        <p:nvSpPr>
          <p:cNvPr id="69" name="Google Shape;69;p20"/>
          <p:cNvSpPr/>
          <p:nvPr/>
        </p:nvSpPr>
        <p:spPr>
          <a:xfrm>
            <a:off x="266700" y="413750"/>
            <a:ext cx="8610600" cy="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>
  <p:cSld name="CUSTOM">
    <p:bg>
      <p:bgPr>
        <a:solidFill>
          <a:srgbClr val="D6FEFE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/>
          <p:nvPr/>
        </p:nvSpPr>
        <p:spPr>
          <a:xfrm>
            <a:off x="4594813" y="4230344"/>
            <a:ext cx="3546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2024</a:t>
            </a:r>
            <a:endParaRPr sz="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21"/>
          <p:cNvSpPr/>
          <p:nvPr/>
        </p:nvSpPr>
        <p:spPr>
          <a:xfrm>
            <a:off x="276495" y="435512"/>
            <a:ext cx="447900" cy="139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" showMasterSp="0">
  <p:cSld name="26_Пустой слайд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22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75" name="Google Shape;75;p22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2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" showMasterSp="0">
  <p:cSld name="TITLE_AND_BODY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23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79" name="Google Shape;79;p23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0" name="Google Shape;80;p23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1" name="Google Shape;81;p23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2" name="Google Shape;82;p23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3" name="Google Shape;83;p23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4" name="Google Shape;84;p23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5" name="Google Shape;85;p23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23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7" name="Google Shape;87;p23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8" name="Google Shape;88;p23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23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0" name="Google Shape;90;p23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1" name="Google Shape;91;p23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23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93" name="Google Shape;93;p23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95" name="Google Shape;95;p23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96" name="Google Shape;96;p23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3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23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 1" showMasterSp="0">
  <p:cSld name="TITLE_AND_BODY_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24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101" name="Google Shape;101;p24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2" name="Google Shape;102;p24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3" name="Google Shape;103;p24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4" name="Google Shape;104;p24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5" name="Google Shape;105;p24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6" name="Google Shape;106;p24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7" name="Google Shape;107;p24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8" name="Google Shape;108;p24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9" name="Google Shape;109;p24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0" name="Google Shape;110;p24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1" name="Google Shape;111;p24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2" name="Google Shape;112;p24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3" name="Google Shape;113;p24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4" name="Google Shape;114;p24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15" name="Google Shape;115;p24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6" name="Google Shape;116;p24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17" name="Google Shape;117;p24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118" name="Google Shape;118;p24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4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" name="Google Shape;120;p24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 2" showMasterSp="0">
  <p:cSld name="TITLE_AND_BODY_3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25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123" name="Google Shape;123;p25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4" name="Google Shape;124;p25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5" name="Google Shape;125;p25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6" name="Google Shape;126;p25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7" name="Google Shape;127;p25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8" name="Google Shape;128;p25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9" name="Google Shape;129;p25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0" name="Google Shape;130;p25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1" name="Google Shape;131;p25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2" name="Google Shape;132;p25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3" name="Google Shape;133;p25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4" name="Google Shape;134;p25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5" name="Google Shape;135;p25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6" name="Google Shape;136;p25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37" name="Google Shape;137;p25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39" name="Google Shape;139;p25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140" name="Google Shape;140;p25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5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" name="Google Shape;142;p25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 3" showMasterSp="0">
  <p:cSld name="TITLE_AND_BODY_4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26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145" name="Google Shape;145;p26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6" name="Google Shape;146;p26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7" name="Google Shape;147;p26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8" name="Google Shape;148;p26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9" name="Google Shape;149;p26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0" name="Google Shape;150;p26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1" name="Google Shape;151;p26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2" name="Google Shape;152;p26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3" name="Google Shape;153;p26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4" name="Google Shape;154;p26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5" name="Google Shape;155;p26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6" name="Google Shape;156;p26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7" name="Google Shape;157;p26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8" name="Google Shape;158;p26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9" name="Google Shape;159;p26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61" name="Google Shape;161;p26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162" name="Google Shape;162;p26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6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26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Пустой слайд" showMasterSp="0">
  <p:cSld name="27_Пустой слайд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/>
          <p:nvPr/>
        </p:nvSpPr>
        <p:spPr>
          <a:xfrm>
            <a:off x="0" y="4235999"/>
            <a:ext cx="9144000" cy="9075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27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ontserrat"/>
              <a:buNone/>
              <a:defRPr b="1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grpSp>
        <p:nvGrpSpPr>
          <p:cNvPr id="168" name="Google Shape;168;p27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169" name="Google Shape;169;p27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0" name="Google Shape;170;p27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1" name="Google Shape;171;p27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2" name="Google Shape;172;p27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3" name="Google Shape;173;p27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4" name="Google Shape;174;p27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5" name="Google Shape;175;p27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6" name="Google Shape;176;p27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7" name="Google Shape;177;p27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8" name="Google Shape;178;p27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9" name="Google Shape;179;p27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0" name="Google Shape;180;p27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1" name="Google Shape;181;p27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2" name="Google Shape;182;p27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83" name="Google Shape;183;p27"/>
          <p:cNvSpPr txBox="1"/>
          <p:nvPr>
            <p:ph idx="1" type="body"/>
          </p:nvPr>
        </p:nvSpPr>
        <p:spPr>
          <a:xfrm>
            <a:off x="1203493" y="1279777"/>
            <a:ext cx="3837000" cy="22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Montserrat"/>
              <a:buChar char="•"/>
              <a:defRPr sz="1100">
                <a:solidFill>
                  <a:srgbClr val="3D3D3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Montserrat"/>
              <a:buChar char="•"/>
              <a:defRPr sz="1100">
                <a:solidFill>
                  <a:srgbClr val="3D3D3D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Montserrat"/>
              <a:buChar char="•"/>
              <a:defRPr sz="1100">
                <a:solidFill>
                  <a:srgbClr val="3D3D3D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Montserrat"/>
              <a:buChar char="•"/>
              <a:defRPr sz="1100">
                <a:solidFill>
                  <a:srgbClr val="3D3D3D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Montserrat"/>
              <a:buChar char="•"/>
              <a:defRPr sz="1100">
                <a:solidFill>
                  <a:srgbClr val="3D3D3D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84" name="Google Shape;184;p27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185" name="Google Shape;185;p27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7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27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Пустой слайд" showMasterSp="0">
  <p:cSld name="11_Пустой слайд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28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190" name="Google Shape;190;p28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1" name="Google Shape;191;p28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2" name="Google Shape;192;p28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3" name="Google Shape;193;p28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4" name="Google Shape;194;p28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5" name="Google Shape;195;p28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6" name="Google Shape;196;p28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7" name="Google Shape;197;p28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8" name="Google Shape;198;p28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9" name="Google Shape;199;p28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0" name="Google Shape;200;p28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1" name="Google Shape;201;p28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2" name="Google Shape;202;p28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3" name="Google Shape;203;p28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04" name="Google Shape;204;p28"/>
          <p:cNvSpPr/>
          <p:nvPr>
            <p:ph idx="2" type="pic"/>
          </p:nvPr>
        </p:nvSpPr>
        <p:spPr>
          <a:xfrm>
            <a:off x="521493" y="1730261"/>
            <a:ext cx="833400" cy="8346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28"/>
          <p:cNvSpPr/>
          <p:nvPr>
            <p:ph idx="3" type="pic"/>
          </p:nvPr>
        </p:nvSpPr>
        <p:spPr>
          <a:xfrm>
            <a:off x="521493" y="3685580"/>
            <a:ext cx="833400" cy="8346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28"/>
          <p:cNvSpPr txBox="1"/>
          <p:nvPr>
            <p:ph idx="1" type="body"/>
          </p:nvPr>
        </p:nvSpPr>
        <p:spPr>
          <a:xfrm>
            <a:off x="1578485" y="1730261"/>
            <a:ext cx="3997500" cy="8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857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•"/>
              <a:defRPr sz="9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857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•"/>
              <a:defRPr sz="9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857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•"/>
              <a:defRPr sz="9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857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•"/>
              <a:defRPr sz="9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857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•"/>
              <a:defRPr sz="9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p28"/>
          <p:cNvSpPr txBox="1"/>
          <p:nvPr>
            <p:ph idx="4" type="body"/>
          </p:nvPr>
        </p:nvSpPr>
        <p:spPr>
          <a:xfrm>
            <a:off x="1578484" y="3685580"/>
            <a:ext cx="6521400" cy="8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28"/>
          <p:cNvSpPr txBox="1"/>
          <p:nvPr>
            <p:ph type="title"/>
          </p:nvPr>
        </p:nvSpPr>
        <p:spPr>
          <a:xfrm>
            <a:off x="2536473" y="413872"/>
            <a:ext cx="4071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ontserrat"/>
              <a:buNone/>
              <a:defRPr b="1" sz="18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09" name="Google Shape;209;p28"/>
          <p:cNvSpPr txBox="1"/>
          <p:nvPr>
            <p:ph idx="5" type="body"/>
          </p:nvPr>
        </p:nvSpPr>
        <p:spPr>
          <a:xfrm>
            <a:off x="442014" y="3179211"/>
            <a:ext cx="4130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0" name="Google Shape;210;p28"/>
          <p:cNvSpPr txBox="1"/>
          <p:nvPr>
            <p:ph idx="6" type="body"/>
          </p:nvPr>
        </p:nvSpPr>
        <p:spPr>
          <a:xfrm>
            <a:off x="442014" y="1229435"/>
            <a:ext cx="4130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11" name="Google Shape;211;p28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212" name="Google Shape;212;p28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8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4" name="Google Shape;214;p28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15" name="Google Shape;215;p28"/>
          <p:cNvSpPr txBox="1"/>
          <p:nvPr>
            <p:ph idx="7" type="body"/>
          </p:nvPr>
        </p:nvSpPr>
        <p:spPr>
          <a:xfrm>
            <a:off x="6618648" y="1650488"/>
            <a:ext cx="1420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 4" showMasterSp="0">
  <p:cSld name="TITLE_AND_BODY_5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29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218" name="Google Shape;218;p29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9" name="Google Shape;219;p29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0" name="Google Shape;220;p29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1" name="Google Shape;221;p29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2" name="Google Shape;222;p29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3" name="Google Shape;223;p29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4" name="Google Shape;224;p29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5" name="Google Shape;225;p29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6" name="Google Shape;226;p29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7" name="Google Shape;227;p29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8" name="Google Shape;228;p29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9" name="Google Shape;229;p29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0" name="Google Shape;230;p29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1" name="Google Shape;231;p29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32" name="Google Shape;232;p29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33" name="Google Shape;233;p29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34" name="Google Shape;234;p29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235" name="Google Shape;235;p29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9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7" name="Google Shape;237;p29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 5" showMasterSp="0">
  <p:cSld name="TITLE_AND_BODY_6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30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240" name="Google Shape;240;p30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1" name="Google Shape;241;p30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2" name="Google Shape;242;p30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3" name="Google Shape;243;p30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4" name="Google Shape;244;p30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5" name="Google Shape;245;p30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6" name="Google Shape;246;p30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7" name="Google Shape;247;p30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8" name="Google Shape;248;p30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9" name="Google Shape;249;p30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0" name="Google Shape;250;p30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1" name="Google Shape;251;p30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2" name="Google Shape;252;p30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3" name="Google Shape;253;p30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54" name="Google Shape;254;p30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5" name="Google Shape;255;p30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56" name="Google Shape;256;p30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257" name="Google Shape;257;p30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30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9" name="Google Shape;259;p30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33413" y="1181100"/>
            <a:ext cx="78771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74650" lvl="0" marL="457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3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/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Inter Medium"/>
              <a:buNone/>
              <a:defRPr i="0" sz="29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633413" y="1181100"/>
            <a:ext cx="78771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49250" lvl="0" marL="4572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Char char="•"/>
              <a:defRPr i="0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1150" lvl="1" marL="9144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"/>
              <a:buChar char="•"/>
              <a:defRPr i="0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98450" lvl="2" marL="13716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•"/>
              <a:defRPr i="0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81000" lvl="3" marL="18288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81000" lvl="4" marL="22860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81000" lvl="5" marL="27432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81000" lvl="6" marL="32004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81000" lvl="7" marL="36576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81000" lvl="8" marL="41148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5" name="Google Shape;65;p19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822960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19456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212121"/>
                </a:solidFill>
                <a:latin typeface="Inter Medium"/>
              </a:rPr>
              <a:t>Финмодель агентства заказной разработки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5943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700" b="0">
                <a:solidFill>
                  <a:srgbClr val="212121"/>
                </a:solidFill>
                <a:latin typeface="Inter"/>
              </a:rPr>
              <a:t>Как считать проекты, чтобы держать маржу 30%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Кто я и почему говорю про финансы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3886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Uplab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Выручка ~250 млн руб./год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Направления: разработка, дизайн, поддержка, SEO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Модели: FTE, фикс, T&amp;M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9160" y="1051560"/>
            <a:ext cx="3886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Контекст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Модель продажи часов меняется из-за AI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Но управленческая экономика нужна в любой модели</a:t>
            </a:r>
          </a:p>
        </p:txBody>
      </p:sp>
      <p:pic>
        <p:nvPicPr>
          <p:cNvPr id="5" name="Picture 4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Как я впервые задумался о финансах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Партнер вел кассу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Пора платить дивиденды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Купил машину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Через месяц занимал на зарплату</a:t>
            </a:r>
          </a:p>
        </p:txBody>
      </p:sp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Путь от на коленке к системе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51560"/>
          <a:ext cx="8046720" cy="1536192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1164194"/>
                <a:gridCol w="1546635"/>
                <a:gridCol w="5335891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Этап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Срок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Описание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Начало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Ранний этап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Выручка минус зарплаты = вроде остается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Перелом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Консалтинг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Серия разборов и финансист на полставки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Сейчас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Система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PnL, ДДС, ворклог, рентабельность, бюджет, forecast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7 ошибок, которые убивают маржу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1. Не считают налоги на ФОТ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2. Не считают и не продают время менеджеров и лидов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3. Не закладывают простой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4. Не трекают время</a:t>
            </a:r>
          </a:p>
        </p:txBody>
      </p:sp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7 ошибок, которые убивают маржу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5. Путают деньги на счете с прибылью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6. Считают маржу в среднем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7. Не считают переделки</a:t>
            </a:r>
          </a:p>
        </p:txBody>
      </p:sp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Зарплата 150 тыс. это не 150 тыс. расходов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74519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12121"/>
                </a:solidFill>
                <a:latin typeface="Inter Medium"/>
              </a:rPr>
              <a:t>150 000 -&gt; 216 500 (+44%)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6324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На руки -&gt; gross -&gt; взносы -&gt; отпускные</a:t>
            </a:r>
          </a:p>
        </p:txBody>
      </p:sp>
      <p:pic>
        <p:nvPicPr>
          <p:cNvPr id="5" name="Picture 4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Предоплата это не прибыль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Предоплата пришла на счет -&gt; деньги есть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Проект не сделан -&gt; расходы впереди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Закрыли с перерасходом -&gt; прибыль 0 или минус</a:t>
            </a:r>
          </a:p>
        </p:txBody>
      </p:sp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Регулярный менеджмент в финансах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3886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Контрол-фрик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Считает часы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Видит маржу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Решает по цифрам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9160" y="1051560"/>
            <a:ext cx="3886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И так сойдет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Смотрит на оборот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Оценивает на ощущениях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Удивляется в конце года</a:t>
            </a:r>
          </a:p>
        </p:txBody>
      </p:sp>
      <p:pic>
        <p:nvPicPr>
          <p:cNvPr id="5" name="Picture 4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Финмодель это не бухгалтерия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74519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12121"/>
                </a:solidFill>
                <a:latin typeface="Inter Medium"/>
              </a:rPr>
              <a:t>Это инструмент управления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6324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До старта проекта понять: заработаем или нет</a:t>
            </a:r>
          </a:p>
        </p:txBody>
      </p:sp>
      <p:pic>
        <p:nvPicPr>
          <p:cNvPr id="5" name="Picture 4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Как мы продаем и как это влияет на маржу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52728"/>
          <a:ext cx="8046720" cy="1536192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940908"/>
                <a:gridCol w="3797934"/>
                <a:gridCol w="330787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Модель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Маржа считается как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Главный риск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Фикс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Бюджет - себестоимость часов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Перерасход за наш счет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T&amp;M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(Ставка - себестоимость) x часы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Простои и паузы у клиента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FTE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Ставка - полная стоимость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Ниже маржа, но предсказуемо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КО 2,5 сколько должен приносить сотрудник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74519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12121"/>
                </a:solidFill>
                <a:latin typeface="Inter Medium"/>
              </a:rPr>
              <a:t>КО = Выручка сотрудника / ФОТ gross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6324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Gross 172 000 -&gt; норматив выручки 430 000 руб./мес.</a:t>
            </a:r>
          </a:p>
        </p:txBody>
      </p:sp>
      <p:pic>
        <p:nvPicPr>
          <p:cNvPr id="5" name="Picture 4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От 150 тыс. на руки до 321 тыс. реальных расходов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52728"/>
          <a:ext cx="8046720" cy="268833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3268980"/>
                <a:gridCol w="2766060"/>
                <a:gridCol w="20116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Шаг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Расчет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Сумма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ЗП на руки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150 000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НДФЛ 13%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/ 0,87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172 414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Взносы 15,2%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x 0,152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+26 207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Отпускные ~9%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x 0,09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+17 876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Косвенные 70%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оклад x 0,7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+105 000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Итого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321 497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Страховые взносы IT-льгота меняет картину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52728"/>
            <a:ext cx="3886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С IT-льготой 15,2%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Взносы: 26 207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Итого: 321 497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9160" y="1252728"/>
            <a:ext cx="3886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Без льготы 30%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Взносы: 51 724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Итого: ~350 000</a:t>
            </a:r>
          </a:p>
        </p:txBody>
      </p:sp>
      <p:pic>
        <p:nvPicPr>
          <p:cNvPr id="5" name="Picture 4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Себестоимость продуктивного часа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74519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12121"/>
                </a:solidFill>
                <a:latin typeface="Inter Medium"/>
              </a:rPr>
              <a:t>321 497 / 123,6 ч = 2 601 руб./час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6324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20,6 дней x 6 оплаченных часов (утилизация 75%)</a:t>
            </a:r>
          </a:p>
        </p:txBody>
      </p:sp>
      <p:pic>
        <p:nvPicPr>
          <p:cNvPr id="5" name="Picture 4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Каждые 500 руб. в ставке это +-15% маржи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52728"/>
          <a:ext cx="8046720" cy="192024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5442603"/>
                <a:gridCol w="2604117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Ставка клиенту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Маржа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3 000 руб.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13%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3 500 руб.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26%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4 000 руб.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35%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4 500 руб.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42%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Утилизация скрытый убийца маржи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51560"/>
          <a:ext cx="8046720" cy="192024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1547446"/>
                <a:gridCol w="2321169"/>
                <a:gridCol w="4178105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Утилизация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Себестоимость x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Что значит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50%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x2,00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Половина времени не продана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65%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x1,54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Ниже нормы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75%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x1,33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Целевой уровень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80%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x1,25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Хорошо, но на пределе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Месяц без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74519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12121"/>
                </a:solidFill>
                <a:latin typeface="Inter Medium"/>
              </a:rPr>
              <a:t>-321 000 руб.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6324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Зарплата, налоги, отпускные и косвенные ложатся на другие проекты</a:t>
            </a:r>
          </a:p>
        </p:txBody>
      </p:sp>
      <p:pic>
        <p:nvPicPr>
          <p:cNvPr id="5" name="Picture 4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Куда уходят деньги студии 3 млн в месяц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52728"/>
          <a:ext cx="8046720" cy="192024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3908407"/>
                <a:gridCol w="1379438"/>
                <a:gridCol w="2758875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Статья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Доля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Сумма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ФОТ производства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40-50%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1,2-1,5 млн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Налоги на ФОТ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7-9%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210-270 тыс.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Косвенные расходы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20-30%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0,6-0,9 млн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Прибыль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15-25%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450-750 тыс.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Валовая рентабельность не равна чистой прибыли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52728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Выручка 100%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Прямые расходы ФОТ ~50% -&gt; валовая 50%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Косвенные расходы ~25%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Фонды ~10%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Чистая прибыль ~15%</a:t>
            </a:r>
          </a:p>
        </p:txBody>
      </p:sp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6 метрик которые нужно знать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51560"/>
          <a:ext cx="8046720" cy="268833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5592383"/>
                <a:gridCol w="2454337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Метрика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Целевое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Маржа проекта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&gt;=30%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Себестоимость часа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~2 600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Утилизация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75%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Валовая рентабельность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&gt;=45%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Чистая рентабельность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&gt;=15%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КО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2,5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212121"/>
                </a:solidFill>
                <a:latin typeface="Inter Medium"/>
              </a:rPr>
              <a:t>Кейсы из нашей практики</a:t>
            </a:r>
          </a:p>
        </p:txBody>
      </p:sp>
      <p:pic>
        <p:nvPicPr>
          <p:cNvPr id="3" name="Picture 2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Кейс дизайн по фикспрайс ситуация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Бюджет этапа: 700 000 руб.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Заложена маржа 35% на затраты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Команда: PM + арт-директор + дизайнер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Плановые часы: 200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Запрос клиента: wow-эффект без четких критериев</a:t>
            </a:r>
          </a:p>
        </p:txBody>
      </p:sp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Кейс дизайн по фикспрайс план против факта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52728"/>
          <a:ext cx="8046720" cy="2304288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3786692"/>
                <a:gridCol w="1893346"/>
                <a:gridCol w="236668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Показатель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План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Факт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Часы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200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640 (+440)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Затраты x2 600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520 000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1 664 000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Бюджет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700 000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700 000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Маржа руб.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+180 000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-964 000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Маржа на затраты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+35%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-138%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Урок красиво не критерий приемки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74519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12121"/>
                </a:solidFill>
                <a:latin typeface="Inter Medium"/>
              </a:rPr>
              <a:t>-964 000 руб.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6324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Дизайн по фиксу = четкие критерии и лимиты итераций</a:t>
            </a:r>
          </a:p>
        </p:txBody>
      </p:sp>
      <p:pic>
        <p:nvPicPr>
          <p:cNvPr id="5" name="Picture 4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Кейс: на разработке всплывает то, что не оценивали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52728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Модель: фикс — бюджет закрепили на продаже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На пресейле в смету не попали: интеграции, НФТ, ограничения легаси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Аналитика: что нужно, без проверки как и сколько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Дизайн увеличил объем экранов/состояний — договор не пересмотрели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Небрежный контроль скоупа -&gt; открытия всплывают в коде, а деньги в договоре уже не те.</a:t>
            </a:r>
          </a:p>
        </p:txBody>
      </p:sp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Кейс открытия считаем последствия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51560"/>
          <a:ext cx="8046720" cy="192024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4235116"/>
                <a:gridCol w="1905802"/>
                <a:gridCol w="190580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Показатель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План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Факт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Часы разработки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800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1 200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Себестоимость x2 600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2 080 000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3 120 000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Выручка этапа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2 800 000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2 800 000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Маржа этапа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+720 тыс.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-320 тыс.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Урок скоуп закрывается до разработки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1. Baseline после аналитики: все вне рамки = change request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2. Технический просмотр сметы до цены для клиента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3. Дизайн расширил объем = пересчет разработки и бюджета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4. Уже поплыли: фиксируем факт и выносим доп. стоимость</a:t>
            </a:r>
          </a:p>
        </p:txBody>
      </p:sp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Кейс сделали все кроме главного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Силы ушли на второстепенные фичи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Критическое ядро оставили в конце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К сроку деньги и ресурс закончились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Заказчик не принял проект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Потери по кейсу: -3 500 000 руб.</a:t>
            </a:r>
          </a:p>
        </p:txBody>
      </p:sp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Кейс сайт готов а контента нет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Разработка готова, контента нет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Не закрывается приемка и акт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Касса: 2 млн ждали в мае, пришли в сентябре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Хвост проекта съедает ресурс и переключения</a:t>
            </a:r>
          </a:p>
        </p:txBody>
      </p:sp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Кейс поддержка и разработка в одном бэклоге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52728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Смешаны абонентская поддержка и новый продукт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Ворклог не соответствует документам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Непонятно, что оплачено и за что команда работает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Правило: поддержка и разработка всегда разные договоры</a:t>
            </a:r>
          </a:p>
        </p:txBody>
      </p:sp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Узнали свою ситуацию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Были проблемы с приемкой дизайна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Ловили открытия из пресейла в разработке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Сталкивались с задержкой из-за контента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Смешивали поддержку и разработку</a:t>
            </a:r>
          </a:p>
        </p:txBody>
      </p:sp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212121"/>
                </a:solidFill>
                <a:latin typeface="Inter Medium"/>
              </a:rPr>
              <a:t>К чему расти от проекта к системе</a:t>
            </a:r>
          </a:p>
        </p:txBody>
      </p:sp>
      <p:pic>
        <p:nvPicPr>
          <p:cNvPr id="3" name="Picture 2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4 отчета которые нужны студии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51560"/>
          <a:ext cx="8046720" cy="192024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3559126"/>
                <a:gridCol w="2785403"/>
                <a:gridCol w="1702191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Отчет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Зачем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Частота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PnL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Заработали или нет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Ежемесячно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ДДС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Хватит ли денег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Еженедельно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Ворклог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Утилизация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Еженедельно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Рентабельность проектов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Маржа по проектам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По проекту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Финансовая ответственность по ролям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51560"/>
          <a:ext cx="8046720" cy="192024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4332849"/>
                <a:gridCol w="3713871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Что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Кто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Выручка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Хед юнита / комдир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Прямые расходы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Хед юнита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Маржа проекта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РП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Рентабельность отдела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Лид частично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Куда идет прибыль 3 фонда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2499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Дивиденды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Вознаграждение собственников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22320" y="1051560"/>
            <a:ext cx="2499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Премии и бонусы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Мотивация команды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0" y="1051560"/>
            <a:ext cx="2499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Резерв и развитие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Целевой резерв: 2 среднемесячных расхода</a:t>
            </a:r>
          </a:p>
        </p:txBody>
      </p:sp>
      <p:pic>
        <p:nvPicPr>
          <p:cNvPr id="6" name="Picture 5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От проектной экономики к юнит-экономике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52728"/>
          <a:ext cx="8046720" cy="192024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1552876"/>
                <a:gridCol w="4093945"/>
                <a:gridCol w="2399899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Уровень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Что считаем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Когда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1. Проект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Маржа проекта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С первого проекта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2. Портфель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Маржа по клиенту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5+ проектов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3. Юнит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Рентабельность бизнес-единицы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20+ человек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4. Компания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PnL, бюджет, forecast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Всегда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212121"/>
                </a:solidFill>
                <a:latin typeface="Inter Medium"/>
              </a:rPr>
              <a:t>Практика</a:t>
            </a:r>
          </a:p>
        </p:txBody>
      </p:sp>
      <p:pic>
        <p:nvPicPr>
          <p:cNvPr id="3" name="Picture 2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Давайте посчитаем ваш проект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74519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12121"/>
                </a:solidFill>
                <a:latin typeface="Inter Medium"/>
              </a:rPr>
              <a:t>Прямо сейчас на реальных цифрах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6324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Показываем шаблон Google Sheets</a:t>
            </a:r>
          </a:p>
        </p:txBody>
      </p:sp>
      <p:pic>
        <p:nvPicPr>
          <p:cNvPr id="5" name="Picture 4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Дайте 4 цифры покажу маржу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1. Бюджет проекта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2. Размер команды и примерные ЗП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3. Оценка часов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4. Срок и модель: фикс / T&amp;M / FTE</a:t>
            </a:r>
          </a:p>
        </p:txBody>
      </p:sp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Рабочий слайд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Экран переключается на Google Sheets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В реальном времени считаем себестоимость и маржу проекта</a:t>
            </a:r>
          </a:p>
        </p:txBody>
      </p:sp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212121"/>
                </a:solidFill>
                <a:latin typeface="Inter Medium"/>
              </a:rPr>
              <a:t>Итоги</a:t>
            </a:r>
          </a:p>
        </p:txBody>
      </p:sp>
      <p:pic>
        <p:nvPicPr>
          <p:cNvPr id="3" name="Picture 2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5 метрик которые нужно считать завтра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51560"/>
          <a:ext cx="8046720" cy="2304288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3803904"/>
                <a:gridCol w="1609344"/>
                <a:gridCol w="263347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Метрика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Целевое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Частота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Себестоимость часа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~2 600 руб.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Раз в квартал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Утилизация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75%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Еженедельно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Маржа проекта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&gt;=30%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По каждому проекту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Отклонение план/факт часов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&lt;=15%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Еженедельно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КО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&gt;=2,5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Ежемесячно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Не нужно все сразу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74519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12121"/>
                </a:solidFill>
                <a:latin typeface="Inter Medium"/>
              </a:rPr>
              <a:t>Начните с одного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6324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Посчитайте себестоимость часа</a:t>
            </a:r>
          </a:p>
        </p:txBody>
      </p:sp>
      <p:pic>
        <p:nvPicPr>
          <p:cNvPr id="5" name="Picture 4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Что забираете с собой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2499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Шаблон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Google Sheets с формулами финмодели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22320" y="1051560"/>
            <a:ext cx="2499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Чек-лист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5 ключевых метрик для контроля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0" y="1051560"/>
            <a:ext cx="2499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Понимание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Как цифры связаны с управленческими решениями</a:t>
            </a:r>
          </a:p>
        </p:txBody>
      </p:sp>
      <p:pic>
        <p:nvPicPr>
          <p:cNvPr id="6" name="Picture 5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0" y="182880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212121"/>
                </a:solidFill>
                <a:latin typeface="Inter Medium"/>
              </a:rPr>
              <a:t>info@uplab.ru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+7 499 653 78 83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www.uplab.ru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6576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200" b="0">
                <a:solidFill>
                  <a:srgbClr val="212121"/>
                </a:solidFill>
                <a:latin typeface="Inter"/>
              </a:rPr>
              <a:t>Москва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212121"/>
                </a:solidFill>
                <a:latin typeface="Inter"/>
              </a:rPr>
              <a:t>127055, ул. Новослободская, д. 61, стр. 2</a:t>
            </a:r>
          </a:p>
        </p:txBody>
      </p:sp>
      <p:pic>
        <p:nvPicPr>
          <p:cNvPr id="6" name="Picture 5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Спасибо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74519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12121"/>
                </a:solidFill>
                <a:latin typeface="Inter Medium"/>
              </a:rPr>
              <a:t>Если после встречи вы посчитали хотя бы один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6324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Встреча прошла идеально</a:t>
            </a:r>
          </a:p>
        </p:txBody>
      </p:sp>
      <p:pic>
        <p:nvPicPr>
          <p:cNvPr id="5" name="Picture 4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Финмодель агентства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