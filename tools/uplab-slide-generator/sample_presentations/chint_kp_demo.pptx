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  <p:sldMasterId id="2147483677" r:id="rId6"/>
  </p:sldMasterIdLst>
  <p:notesMasterIdLst>
    <p:notesMasterId r:id="rId7"/>
  </p:notesMasterIdLst>
  <p:sldIdLst>
    <p:sldId id="256" r:id="rId32"/>
    <p:sldId id="257" r:id="rId33"/>
    <p:sldId id="258" r:id="rId34"/>
    <p:sldId id="259" r:id="rId35"/>
    <p:sldId id="260" r:id="rId36"/>
    <p:sldId id="261" r:id="rId37"/>
    <p:sldId id="262" r:id="rId38"/>
    <p:sldId id="263" r:id="rId39"/>
    <p:sldId id="264" r:id="rId40"/>
    <p:sldId id="265" r:id="rId41"/>
    <p:sldId id="266" r:id="rId42"/>
    <p:sldId id="267" r:id="rId43"/>
    <p:sldId id="268" r:id="rId44"/>
    <p:sldId id="269" r:id="rId45"/>
    <p:sldId id="270" r:id="rId46"/>
    <p:sldId id="271" r:id="rId47"/>
    <p:sldId id="272" r:id="rId48"/>
    <p:sldId id="273" r:id="rId49"/>
    <p:sldId id="274" r:id="rId50"/>
    <p:sldId id="275" r:id="rId51"/>
  </p:sldIdLst>
  <p:sldSz cy="5143500" cx="9144000"/>
  <p:notesSz cx="6858000" cy="9144000"/>
  <p:embeddedFontLst>
    <p:embeddedFont>
      <p:font typeface="Inter Light"/>
      <p:regular r:id="rId56"/>
      <p:bold r:id="rId57"/>
      <p:italic r:id="rId58"/>
      <p:boldItalic r:id="rId59"/>
    </p:embeddedFont>
    <p:embeddedFont>
      <p:font typeface="Inter"/>
      <p:regular r:id="rId60"/>
      <p:bold r:id="rId61"/>
      <p:italic r:id="rId62"/>
      <p:boldItalic r:id="rId63"/>
    </p:embeddedFont>
    <p:embeddedFont>
      <p:font typeface="Montserrat"/>
      <p:regular r:id="rId64"/>
      <p:bold r:id="rId65"/>
      <p:italic r:id="rId66"/>
      <p:boldItalic r:id="rId67"/>
    </p:embeddedFont>
    <p:embeddedFont>
      <p:font typeface="Helvetica Neue"/>
      <p:regular r:id="rId68"/>
      <p:bold r:id="rId69"/>
      <p:italic r:id="rId70"/>
      <p:boldItalic r:id="rId71"/>
    </p:embeddedFont>
    <p:embeddedFont>
      <p:font typeface="Helvetica Neue Light"/>
      <p:regular r:id="rId72"/>
      <p:bold r:id="rId73"/>
      <p:italic r:id="rId74"/>
      <p:boldItalic r:id="rId75"/>
    </p:embeddedFont>
    <p:embeddedFont>
      <p:font typeface="Inter Medium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49">
          <p15:clr>
            <a:schemeClr val="accent4"/>
          </p15:clr>
        </p15:guide>
        <p15:guide id="2" pos="2862">
          <p15:clr>
            <a:schemeClr val="accent4"/>
          </p15:clr>
        </p15:guide>
        <p15:guide id="3" orient="horz" pos="823">
          <p15:clr>
            <a:schemeClr val="accent4"/>
          </p15:clr>
        </p15:guide>
        <p15:guide id="4" orient="horz" pos="1090">
          <p15:clr>
            <a:schemeClr val="accent4"/>
          </p15:clr>
        </p15:guide>
        <p15:guide id="5" orient="horz" pos="1369">
          <p15:clr>
            <a:schemeClr val="accent4"/>
          </p15:clr>
        </p15:guide>
        <p15:guide id="6" orient="horz" pos="1630">
          <p15:clr>
            <a:schemeClr val="accent4"/>
          </p15:clr>
        </p15:guide>
        <p15:guide id="7" orient="horz" pos="1899">
          <p15:clr>
            <a:schemeClr val="accent4"/>
          </p15:clr>
        </p15:guide>
        <p15:guide id="8" orient="horz" pos="2171">
          <p15:clr>
            <a:schemeClr val="accent4"/>
          </p15:clr>
        </p15:guide>
        <p15:guide id="9" orient="horz" pos="2444">
          <p15:clr>
            <a:schemeClr val="accent4"/>
          </p15:clr>
        </p15:guide>
        <p15:guide id="10" orient="horz" pos="2711">
          <p15:clr>
            <a:schemeClr val="accent4"/>
          </p15:clr>
        </p15:guide>
        <p15:guide id="11" orient="horz" pos="2975">
          <p15:clr>
            <a:schemeClr val="accent4"/>
          </p15:clr>
        </p15:guide>
        <p15:guide id="12" pos="176">
          <p15:clr>
            <a:schemeClr val="accent4"/>
          </p15:clr>
        </p15:guide>
        <p15:guide id="13" pos="591">
          <p15:clr>
            <a:schemeClr val="accent4"/>
          </p15:clr>
        </p15:guide>
        <p15:guide id="14" pos="638">
          <p15:clr>
            <a:schemeClr val="accent4"/>
          </p15:clr>
        </p15:guide>
        <p15:guide id="15" pos="1047">
          <p15:clr>
            <a:schemeClr val="accent4"/>
          </p15:clr>
        </p15:guide>
        <p15:guide id="16" pos="1100">
          <p15:clr>
            <a:schemeClr val="accent4"/>
          </p15:clr>
        </p15:guide>
        <p15:guide id="17" pos="1500">
          <p15:clr>
            <a:schemeClr val="accent4"/>
          </p15:clr>
        </p15:guide>
        <p15:guide id="18" pos="1548">
          <p15:clr>
            <a:schemeClr val="accent4"/>
          </p15:clr>
        </p15:guide>
        <p15:guide id="19" pos="1953">
          <p15:clr>
            <a:schemeClr val="accent4"/>
          </p15:clr>
        </p15:guide>
        <p15:guide id="20" pos="2003">
          <p15:clr>
            <a:schemeClr val="accent4"/>
          </p15:clr>
        </p15:guide>
        <p15:guide id="21" pos="2408">
          <p15:clr>
            <a:schemeClr val="accent4"/>
          </p15:clr>
        </p15:guide>
        <p15:guide id="22" pos="2459">
          <p15:clr>
            <a:schemeClr val="accent4"/>
          </p15:clr>
        </p15:guide>
        <p15:guide id="23" pos="2914">
          <p15:clr>
            <a:schemeClr val="accent4"/>
          </p15:clr>
        </p15:guide>
        <p15:guide id="24" pos="3315">
          <p15:clr>
            <a:schemeClr val="accent4"/>
          </p15:clr>
        </p15:guide>
        <p15:guide id="25" pos="3368">
          <p15:clr>
            <a:schemeClr val="accent4"/>
          </p15:clr>
        </p15:guide>
        <p15:guide id="26" pos="3772">
          <p15:clr>
            <a:schemeClr val="accent4"/>
          </p15:clr>
        </p15:guide>
        <p15:guide id="27" pos="3821">
          <p15:clr>
            <a:schemeClr val="accent4"/>
          </p15:clr>
        </p15:guide>
        <p15:guide id="28" pos="4225">
          <p15:clr>
            <a:schemeClr val="accent4"/>
          </p15:clr>
        </p15:guide>
        <p15:guide id="29" pos="4275">
          <p15:clr>
            <a:schemeClr val="accent4"/>
          </p15:clr>
        </p15:guide>
        <p15:guide id="30" pos="4678">
          <p15:clr>
            <a:schemeClr val="accent4"/>
          </p15:clr>
        </p15:guide>
        <p15:guide id="31" pos="4728">
          <p15:clr>
            <a:schemeClr val="accent4"/>
          </p15:clr>
        </p15:guide>
        <p15:guide id="32" pos="5131">
          <p15:clr>
            <a:schemeClr val="accent4"/>
          </p15:clr>
        </p15:guide>
        <p15:guide id="33" pos="5181">
          <p15:clr>
            <a:schemeClr val="accent4"/>
          </p15:clr>
        </p15:guide>
        <p15:guide id="34" pos="5584">
          <p15:clr>
            <a:schemeClr val="accent4"/>
          </p15:clr>
        </p15:guide>
        <p15:guide id="35" orient="horz" pos="703">
          <p15:clr>
            <a:srgbClr val="747775"/>
          </p15:clr>
        </p15:guide>
        <p15:guide id="36" orient="horz" pos="504">
          <p15:clr>
            <a:srgbClr val="747775"/>
          </p15:clr>
        </p15:guide>
        <p15:guide id="37" orient="horz" pos="1107">
          <p15:clr>
            <a:srgbClr val="747775"/>
          </p15:clr>
        </p15:guide>
        <p15:guide id="38" orient="horz" pos="2756">
          <p15:clr>
            <a:srgbClr val="747775"/>
          </p15:clr>
        </p15:guide>
        <p15:guide id="39" orient="horz" pos="2400">
          <p15:clr>
            <a:srgbClr val="747775"/>
          </p15:clr>
        </p15:guide>
        <p15:guide id="40" orient="horz" pos="28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3D5205-A638-40E8-9367-87A60A20FF23}">
  <a:tblStyle styleId="{CB3D5205-A638-40E8-9367-87A60A20FF23}" styleName="Table_0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wholeTbl>
    <a:band1H>
      <a:tcTxStyle/>
    </a:band1H>
    <a:band2H>
      <a:tcTxStyle b="off" i="off"/>
      <a:tcStyle>
        <a:fill>
          <a:solidFill>
            <a:srgbClr val="E3E5E8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0076B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3797C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004C7F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9" orient="horz"/>
        <p:guide pos="2862"/>
        <p:guide pos="823" orient="horz"/>
        <p:guide pos="1090" orient="horz"/>
        <p:guide pos="1369" orient="horz"/>
        <p:guide pos="1630" orient="horz"/>
        <p:guide pos="1899" orient="horz"/>
        <p:guide pos="2171" orient="horz"/>
        <p:guide pos="2444" orient="horz"/>
        <p:guide pos="2711" orient="horz"/>
        <p:guide pos="2975" orient="horz"/>
        <p:guide pos="176"/>
        <p:guide pos="591"/>
        <p:guide pos="638"/>
        <p:guide pos="1047"/>
        <p:guide pos="1100"/>
        <p:guide pos="1500"/>
        <p:guide pos="1548"/>
        <p:guide pos="1953"/>
        <p:guide pos="2003"/>
        <p:guide pos="2408"/>
        <p:guide pos="2459"/>
        <p:guide pos="2914"/>
        <p:guide pos="3315"/>
        <p:guide pos="3368"/>
        <p:guide pos="3772"/>
        <p:guide pos="3821"/>
        <p:guide pos="4225"/>
        <p:guide pos="4275"/>
        <p:guide pos="4678"/>
        <p:guide pos="4728"/>
        <p:guide pos="5131"/>
        <p:guide pos="5181"/>
        <p:guide pos="5584"/>
        <p:guide pos="703" orient="horz"/>
        <p:guide pos="504" orient="horz"/>
        <p:guide pos="1107" orient="horz"/>
        <p:guide pos="2756" orient="horz"/>
        <p:guide pos="2400" orient="horz"/>
        <p:guide pos="2881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6" Type="http://schemas.openxmlformats.org/officeDocument/2006/relationships/font" Target="fonts/InterLight-regular.fntdata"/><Relationship Id="rId57" Type="http://schemas.openxmlformats.org/officeDocument/2006/relationships/font" Target="fonts/InterLight-bold.fntdata"/><Relationship Id="rId58" Type="http://schemas.openxmlformats.org/officeDocument/2006/relationships/font" Target="fonts/InterLight-italic.fntdata"/><Relationship Id="rId59" Type="http://schemas.openxmlformats.org/officeDocument/2006/relationships/font" Target="fonts/InterLight-boldItalic.fntdata"/><Relationship Id="rId60" Type="http://schemas.openxmlformats.org/officeDocument/2006/relationships/font" Target="fonts/Inter-regular.fntdata"/><Relationship Id="rId61" Type="http://schemas.openxmlformats.org/officeDocument/2006/relationships/font" Target="fonts/Inter-bold.fntdata"/><Relationship Id="rId62" Type="http://schemas.openxmlformats.org/officeDocument/2006/relationships/font" Target="fonts/Inter-italic.fntdata"/><Relationship Id="rId63" Type="http://schemas.openxmlformats.org/officeDocument/2006/relationships/font" Target="fonts/Inter-boldItalic.fntdata"/><Relationship Id="rId64" Type="http://schemas.openxmlformats.org/officeDocument/2006/relationships/font" Target="fonts/Montserrat-regular.fntdata"/><Relationship Id="rId65" Type="http://schemas.openxmlformats.org/officeDocument/2006/relationships/font" Target="fonts/Montserrat-bold.fntdata"/><Relationship Id="rId66" Type="http://schemas.openxmlformats.org/officeDocument/2006/relationships/font" Target="fonts/Montserrat-italic.fntdata"/><Relationship Id="rId67" Type="http://schemas.openxmlformats.org/officeDocument/2006/relationships/font" Target="fonts/Montserrat-boldItalic.fntdata"/><Relationship Id="rId68" Type="http://schemas.openxmlformats.org/officeDocument/2006/relationships/font" Target="fonts/HelveticaNeue-regular.fntdata"/><Relationship Id="rId69" Type="http://schemas.openxmlformats.org/officeDocument/2006/relationships/font" Target="fonts/HelveticaNeue-bold.fntdata"/><Relationship Id="rId70" Type="http://schemas.openxmlformats.org/officeDocument/2006/relationships/font" Target="fonts/HelveticaNeue-italic.fntdata"/><Relationship Id="rId71" Type="http://schemas.openxmlformats.org/officeDocument/2006/relationships/font" Target="fonts/HelveticaNeue-boldItalic.fntdata"/><Relationship Id="rId72" Type="http://schemas.openxmlformats.org/officeDocument/2006/relationships/font" Target="fonts/HelveticaNeueLight-regular.fntdata"/><Relationship Id="rId73" Type="http://schemas.openxmlformats.org/officeDocument/2006/relationships/font" Target="fonts/HelveticaNeueLight-bold.fntdata"/><Relationship Id="rId74" Type="http://schemas.openxmlformats.org/officeDocument/2006/relationships/font" Target="fonts/HelveticaNeueLight-italic.fntdata"/><Relationship Id="rId75" Type="http://schemas.openxmlformats.org/officeDocument/2006/relationships/font" Target="fonts/HelveticaNeueLight-boldItalic.fntdata"/><Relationship Id="rId76" Type="http://schemas.openxmlformats.org/officeDocument/2006/relationships/font" Target="fonts/InterMedium-regular.fntdata"/><Relationship Id="rId77" Type="http://schemas.openxmlformats.org/officeDocument/2006/relationships/font" Target="fonts/InterMedium-bold.fntdata"/><Relationship Id="rId78" Type="http://schemas.openxmlformats.org/officeDocument/2006/relationships/font" Target="fonts/InterMedium-italic.fntdata"/><Relationship Id="rId79" Type="http://schemas.openxmlformats.org/officeDocument/2006/relationships/font" Target="fonts/Inter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t">
  <p:cSld name="mint">
    <p:bg>
      <p:bgPr>
        <a:solidFill>
          <a:srgbClr val="CC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горизонтально">
  <p:cSld name="Фото — горизонтально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/>
          <p:nvPr>
            <p:ph idx="2" type="pic"/>
          </p:nvPr>
        </p:nvSpPr>
        <p:spPr>
          <a:xfrm>
            <a:off x="1172238" y="-147637"/>
            <a:ext cx="6801000" cy="45339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6"/>
          <p:cNvSpPr txBox="1"/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по центру">
  <p:cSld name="Заголовок — по центру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вертикально">
  <p:cSld name="Фото — вертикально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>
            <p:ph idx="2" type="pic"/>
          </p:nvPr>
        </p:nvSpPr>
        <p:spPr>
          <a:xfrm>
            <a:off x="4810125" y="357188"/>
            <a:ext cx="43005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8"/>
          <p:cNvSpPr txBox="1"/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сверху">
  <p:cSld name="Заголовок — сверху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>
            <p:ph idx="2" type="pic"/>
          </p:nvPr>
        </p:nvSpPr>
        <p:spPr>
          <a:xfrm>
            <a:off x="4110038" y="1181100"/>
            <a:ext cx="5229300" cy="34863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633413" y="1181100"/>
            <a:ext cx="38337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36550" lvl="0" marL="457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700"/>
              <a:buFont typeface="Helvetica Neue"/>
              <a:buChar char="•"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2pPr>
            <a:lvl3pPr indent="-3429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3pPr>
            <a:lvl4pPr indent="-34290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4pPr>
            <a:lvl5pPr indent="-34290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Helvetica Neue"/>
              <a:buChar char="•"/>
              <a:defRPr sz="1800"/>
            </a:lvl1pPr>
            <a:lvl2pPr indent="-37465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2pPr>
            <a:lvl3pPr indent="-37465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3pPr>
            <a:lvl4pPr indent="-37465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4pPr>
            <a:lvl5pPr indent="-37465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(3 шт.)">
  <p:cSld name="Фото (3 шт.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/>
          <p:nvPr>
            <p:ph idx="2" type="pic"/>
          </p:nvPr>
        </p:nvSpPr>
        <p:spPr>
          <a:xfrm>
            <a:off x="5737622" y="2643188"/>
            <a:ext cx="31218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/>
          <p:nvPr>
            <p:ph idx="3" type="pic"/>
          </p:nvPr>
        </p:nvSpPr>
        <p:spPr>
          <a:xfrm>
            <a:off x="5910263" y="323850"/>
            <a:ext cx="2776500" cy="2776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/>
          <p:nvPr>
            <p:ph idx="4" type="pic"/>
          </p:nvPr>
        </p:nvSpPr>
        <p:spPr>
          <a:xfrm>
            <a:off x="-371475" y="423863"/>
            <a:ext cx="64509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>
  <p:cSld name="Фото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/>
          <p:nvPr>
            <p:ph idx="2" type="pic"/>
          </p:nvPr>
        </p:nvSpPr>
        <p:spPr>
          <a:xfrm>
            <a:off x="-19050" y="-476250"/>
            <a:ext cx="9182100" cy="61215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">
  <p:cSld name="gray">
    <p:bg>
      <p:bgPr>
        <a:solidFill>
          <a:srgbClr val="F2F2F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8572170" y="413907"/>
            <a:ext cx="1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1" name="Google Shape;51;p14"/>
          <p:cNvSpPr txBox="1"/>
          <p:nvPr>
            <p:ph type="title"/>
          </p:nvPr>
        </p:nvSpPr>
        <p:spPr>
          <a:xfrm>
            <a:off x="1168003" y="409145"/>
            <a:ext cx="5708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">
    <p:bg>
      <p:bgPr>
        <a:solidFill>
          <a:srgbClr val="D6FEFE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/>
        </p:nvSpPr>
        <p:spPr>
          <a:xfrm>
            <a:off x="4594813" y="4230344"/>
            <a:ext cx="3546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202</a:t>
            </a: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5"/>
          <p:cNvSpPr/>
          <p:nvPr/>
        </p:nvSpPr>
        <p:spPr>
          <a:xfrm>
            <a:off x="276495" y="435512"/>
            <a:ext cx="447900" cy="139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2">
  <p:cSld name="MasterSlide2">
    <p:bg>
      <p:bgPr>
        <a:solidFill>
          <a:srgbClr val="D6FEF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/>
          <p:nvPr/>
        </p:nvSpPr>
        <p:spPr>
          <a:xfrm>
            <a:off x="0" y="3214755"/>
            <a:ext cx="9144090" cy="1928880"/>
          </a:xfrm>
          <a:custGeom>
            <a:rect b="b" l="l" r="r" t="t"/>
            <a:pathLst>
              <a:path extrusionOk="0" h="14288" w="67734">
                <a:moveTo>
                  <a:pt x="0" y="9561"/>
                </a:moveTo>
                <a:lnTo>
                  <a:pt x="67734" y="0"/>
                </a:lnTo>
                <a:lnTo>
                  <a:pt x="67734" y="14288"/>
                </a:lnTo>
                <a:lnTo>
                  <a:pt x="0" y="14288"/>
                </a:lnTo>
                <a:lnTo>
                  <a:pt x="0" y="9561"/>
                </a:lnTo>
                <a:close/>
              </a:path>
            </a:pathLst>
          </a:custGeom>
          <a:gradFill>
            <a:gsLst>
              <a:gs pos="0">
                <a:srgbClr val="D6FEFE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16875" lIns="33750" spcFirstLastPara="1" rIns="33750" wrap="square" tIns="16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457110" y="1203525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indent="-228600" lvl="1" marL="9144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indent="-228600" lvl="2" marL="13716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indent="-228600" lvl="3" marL="18288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indent="-228600" lvl="4" marL="22860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indent="-228600" lvl="5" marL="27432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indent="-228600" lvl="6" marL="32004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indent="-228600" lvl="7" marL="36576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indent="-228600" lvl="8" marL="41148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2">
  <p:cSld name="TITLE_AND_BODY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1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/>
        </p:nvSpPr>
        <p:spPr>
          <a:xfrm>
            <a:off x="821531" y="1982391"/>
            <a:ext cx="5143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778999" y="233363"/>
            <a:ext cx="9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</a:t>
            </a:r>
            <a:endParaRPr/>
          </a:p>
        </p:txBody>
      </p:sp>
      <p:sp>
        <p:nvSpPr>
          <p:cNvPr id="69" name="Google Shape;69;p20"/>
          <p:cNvSpPr/>
          <p:nvPr/>
        </p:nvSpPr>
        <p:spPr>
          <a:xfrm>
            <a:off x="266700" y="413750"/>
            <a:ext cx="86106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">
    <p:bg>
      <p:bgPr>
        <a:solidFill>
          <a:srgbClr val="D6FEF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/>
        </p:nvSpPr>
        <p:spPr>
          <a:xfrm>
            <a:off x="4594813" y="4230344"/>
            <a:ext cx="3546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2024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21"/>
          <p:cNvSpPr/>
          <p:nvPr/>
        </p:nvSpPr>
        <p:spPr>
          <a:xfrm>
            <a:off x="276495" y="435512"/>
            <a:ext cx="447900" cy="139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showMasterSp="0">
  <p:cSld name="26_Пустой слайд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2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75" name="Google Shape;75;p22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2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" showMasterSp="0">
  <p:cSld name="TITLE_AND_BOD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23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79" name="Google Shape;79;p23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" name="Google Shape;80;p23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" name="Google Shape;81;p23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2" name="Google Shape;82;p23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" name="Google Shape;83;p23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4" name="Google Shape;84;p23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" name="Google Shape;85;p23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23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" name="Google Shape;87;p23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" name="Google Shape;88;p23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23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" name="Google Shape;90;p23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1" name="Google Shape;91;p23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23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3" name="Google Shape;93;p23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5" name="Google Shape;95;p23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96" name="Google Shape;96;p23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3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1" showMasterSp="0">
  <p:cSld name="TITLE_AND_BODY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4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01" name="Google Shape;101;p24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2" name="Google Shape;102;p24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3" name="Google Shape;103;p24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24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5" name="Google Shape;105;p24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24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24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9" name="Google Shape;109;p24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0" name="Google Shape;110;p24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24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24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24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4" name="Google Shape;114;p24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5" name="Google Shape;115;p24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17" name="Google Shape;117;p24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18" name="Google Shape;118;p24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4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2" showMasterSp="0">
  <p:cSld name="TITLE_AND_BODY_3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5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23" name="Google Shape;123;p25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25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5" name="Google Shape;125;p25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" name="Google Shape;126;p25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25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25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" name="Google Shape;129;p25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0" name="Google Shape;130;p25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1" name="Google Shape;131;p25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2" name="Google Shape;132;p25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3" name="Google Shape;133;p25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4" name="Google Shape;134;p25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5" name="Google Shape;135;p25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6" name="Google Shape;136;p25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7" name="Google Shape;137;p25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9" name="Google Shape;139;p25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40" name="Google Shape;140;p25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5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3" showMasterSp="0">
  <p:cSld name="TITLE_AND_BODY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6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45" name="Google Shape;145;p26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" name="Google Shape;147;p26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26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1" name="Google Shape;151;p26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9" name="Google Shape;159;p26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61" name="Google Shape;161;p26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62" name="Google Shape;162;p26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Пустой слайд" showMasterSp="0">
  <p:cSld name="27_Пустой слайд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0" y="4235999"/>
            <a:ext cx="9144000" cy="9075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ontserrat"/>
              <a:buNone/>
              <a:defRPr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168" name="Google Shape;168;p27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69" name="Google Shape;169;p27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2" name="Google Shape;182;p27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1203493" y="1279777"/>
            <a:ext cx="38370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84" name="Google Shape;184;p27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85" name="Google Shape;185;p27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Пустой слайд" showMasterSp="0">
  <p:cSld name="11_Пустой слайд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8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90" name="Google Shape;190;p28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4" name="Google Shape;204;p28"/>
          <p:cNvSpPr/>
          <p:nvPr>
            <p:ph idx="2" type="pic"/>
          </p:nvPr>
        </p:nvSpPr>
        <p:spPr>
          <a:xfrm>
            <a:off x="521493" y="1730261"/>
            <a:ext cx="833400" cy="8346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28"/>
          <p:cNvSpPr/>
          <p:nvPr>
            <p:ph idx="3" type="pic"/>
          </p:nvPr>
        </p:nvSpPr>
        <p:spPr>
          <a:xfrm>
            <a:off x="521493" y="3685580"/>
            <a:ext cx="833400" cy="834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1578485" y="1730261"/>
            <a:ext cx="39975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4" type="body"/>
          </p:nvPr>
        </p:nvSpPr>
        <p:spPr>
          <a:xfrm>
            <a:off x="1578484" y="3685580"/>
            <a:ext cx="65214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28"/>
          <p:cNvSpPr txBox="1"/>
          <p:nvPr>
            <p:ph type="title"/>
          </p:nvPr>
        </p:nvSpPr>
        <p:spPr>
          <a:xfrm>
            <a:off x="2536473" y="413872"/>
            <a:ext cx="4071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ontserrat"/>
              <a:buNone/>
              <a:defRPr b="1" sz="18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9" name="Google Shape;209;p28"/>
          <p:cNvSpPr txBox="1"/>
          <p:nvPr>
            <p:ph idx="5" type="body"/>
          </p:nvPr>
        </p:nvSpPr>
        <p:spPr>
          <a:xfrm>
            <a:off x="442014" y="3179211"/>
            <a:ext cx="4130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28"/>
          <p:cNvSpPr txBox="1"/>
          <p:nvPr>
            <p:ph idx="6" type="body"/>
          </p:nvPr>
        </p:nvSpPr>
        <p:spPr>
          <a:xfrm>
            <a:off x="442014" y="1229435"/>
            <a:ext cx="4130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11" name="Google Shape;211;p28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12" name="Google Shape;212;p28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5" name="Google Shape;215;p28"/>
          <p:cNvSpPr txBox="1"/>
          <p:nvPr>
            <p:ph idx="7" type="body"/>
          </p:nvPr>
        </p:nvSpPr>
        <p:spPr>
          <a:xfrm>
            <a:off x="6618648" y="1650488"/>
            <a:ext cx="1420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4" showMasterSp="0">
  <p:cSld name="TITLE_AND_BODY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9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218" name="Google Shape;218;p29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2" name="Google Shape;222;p29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p29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4" name="Google Shape;224;p29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6" name="Google Shape;226;p29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7" name="Google Shape;227;p29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9" name="Google Shape;229;p29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0" name="Google Shape;230;p29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2" name="Google Shape;232;p29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34" name="Google Shape;234;p29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35" name="Google Shape;235;p29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9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29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5" showMasterSp="0">
  <p:cSld name="TITLE_AND_BODY_6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30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240" name="Google Shape;240;p30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1" name="Google Shape;251;p30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3" name="Google Shape;253;p30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54" name="Google Shape;254;p30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56" name="Google Shape;256;p30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57" name="Google Shape;257;p30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7465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3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Inter Medium"/>
              <a:buNone/>
              <a:defRPr i="0" sz="29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49250" lvl="0" marL="457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  <a:defRPr i="0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Char char="•"/>
              <a:defRPr i="0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  <a:defRPr i="0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81000" lvl="3" marL="1828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81000" lvl="4" marL="22860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81000" lvl="5" marL="2743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81000" lvl="6" marL="3200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81000" lvl="7" marL="3657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81000" lvl="8" marL="4114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12121"/>
                </a:solidFill>
                <a:latin typeface="Inter Medium"/>
              </a:rPr>
              <a:t>Разработка корпоративного сайта для CHINT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Содержание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1.   Цели и задачи</a:t>
            </a:r>
          </a:p>
          <a:p>
            <a:pPr algn="l">
              <a:spcBef>
                <a:spcPts val="1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2.   Функциональная архитектура</a:t>
            </a:r>
          </a:p>
          <a:p>
            <a:pPr algn="l">
              <a:spcBef>
                <a:spcPts val="1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3.   Технологический стек</a:t>
            </a:r>
          </a:p>
          <a:p>
            <a:pPr algn="l">
              <a:spcBef>
                <a:spcPts val="1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4.   Бюджет и сроки реализации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5.   Процессы и подходы к разработке</a:t>
            </a:r>
          </a:p>
          <a:p>
            <a:pPr algn="l">
              <a:spcBef>
                <a:spcPts val="1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6.   Наши кейсы</a:t>
            </a:r>
          </a:p>
          <a:p>
            <a:pPr algn="l">
              <a:spcBef>
                <a:spcPts val="1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7.   Команда проекта</a:t>
            </a:r>
          </a:p>
          <a:p>
            <a:pPr algn="l">
              <a:spcBef>
                <a:spcPts val="1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8.   Контакты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Цели и задачи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Цели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Цель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Создать современный, удобный и функциональный корпоративный сайт, который: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укрепит позиционирование CHINT на российском рынке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обеспечит удобный каталог продукции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станет каналом лидогенерации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соответствует мировому уровню бренда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Ключевые задачи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Разработка современного адаптивного дизайна, включая UIKit и мастер-шаблоны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Реализация многоуровневого каталога продукции с фильтрацией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Создание раздела отраслевых решений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Настройка гибкой CMS для самостоятельного управления контентом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SEO-оптимизация и настройка аналитики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Функциональная архитектура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Предварительная базовая архитектура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[images/architecture.png]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 b="0">
                <a:solidFill>
                  <a:srgbClr val="999999"/>
                </a:solidFill>
                <a:latin typeface="Inter"/>
              </a:rPr>
              <a:t>headless CMS с отдельным Front-end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Преимущества технологического стека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1С-Битрикс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Готовое ядро с множеством решений различных задач. Российская разработка: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Интегрируемость и масштабируемость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Производительность и безопасность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Удобство для администраторов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Гибкая настройка маркетинга и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Vue.js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Использование Vue.js на фронтенде обеспечивает: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Отзывчивый, динамичный интерфейс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Поддержку всех функций для SEO (SSR)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Четкое разделение фронтенда и бэкенда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Высокая производительность рендеринга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Предварительный технологический стек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268833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045776"/>
                <a:gridCol w="600094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Технология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Преимущества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Nginx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Высокая производительность, балансировка нагрузки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PHP + PHPFPM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Широкая экосистема, изоляция процессов, стабильность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MySQL 8.0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Надежность (ACID), расширенные JSON, оконные функции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1С-Битрикс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CMS с модулями каталога, маркетинга, SEO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Vue.js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Реактивность, Virtual DOM, компонентная архитектура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Vite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Сборка, минификация, транспиляция, HMR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Бюджет и сроки реализации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Предварительная стоимость проекта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5303520" cy="3072384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3450139"/>
                <a:gridCol w="185338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Этап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Стоимость, ₽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Аналитика и проектирование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630 000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Дизайн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2 108 000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Разработка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3 830 800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Внедрение, тестирование, запуск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681 900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"/>
                        </a:rPr>
                        <a:t>Итого без НДС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"/>
                        </a:rPr>
                        <a:t>7 250 700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НДС 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362 535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"/>
                        </a:rPr>
                        <a:t>Итого с НДС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"/>
                        </a:rPr>
                        <a:t>7 613 235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51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Срок реализации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~6,5-7 месяцев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Технологический стек: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Битрикс + Vue.js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Процессы и подходы к разработке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Порядок сотрудничества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1. Формат работы и договорные отношения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Проект реализуется поэтапно — каждый ключевой этап оформляется в приложении и закрывается актом выполненных работ.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2. Сроки заключения договора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Обычно процесс согласования и подписания договора занимает от 2 до 4 недель — тоже зависит от скорости обратной связи. Предпочитаем ЭДО.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3. Условия оплаты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Оптимальный для нас формат — 50% предоплата и 50% после подписания акта выполненных работ по каждому из этапов.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4. Гарантия на выполненные работы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На все выполненные работы предоставляется гарантия сроком 6 календарных месяцев.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Сроки реализации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268833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920786"/>
                <a:gridCol w="1371990"/>
                <a:gridCol w="475394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Этап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Срок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Описание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Аналитика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4–6 нед.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Интервью, ТЗ, user stories, карта сайта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Проектирование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3–4 нед.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Прототипы, user flow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Дизайн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6–8 нед.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UI Kit, макеты, адаптив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Разработка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10–12 нед.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Спринты по 2 недели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2–3 нед.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QA, нагрузка, UAT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Запуск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1 нед.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Деплой, мониторинг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Наши кейсы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79476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2121"/>
                </a:solidFill>
                <a:latin typeface="Inter Medium"/>
              </a:rPr>
              <a:t>Имед. Цифровой каталог медицинской техники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Inter"/>
              </a:rPr>
              <a:t>2025. Каталоги, информационные порталы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3794760" cy="33421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12 тыс.  товаров в каталоге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80+  параметров при анализе конкурентов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"/>
              </a:rPr>
              <a:t>Бизнес-цели: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Перенести каталог на новую платформу, сохранить интеграцию с MS Dynamics CRM, сделать удобную навигацию для врачей и менеджеров.</a:t>
            </a:r>
          </a:p>
          <a:p>
            <a:pPr>
              <a:spcBef>
                <a:spcPts val="1000"/>
              </a:spcBef>
            </a:pPr>
            <a:r>
              <a:rPr sz="1000" b="0">
                <a:solidFill>
                  <a:srgbClr val="999999"/>
                </a:solidFill>
                <a:latin typeface="Inter"/>
              </a:rPr>
              <a:t>Сайт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37160"/>
            <a:ext cx="4389120" cy="4846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[images/imed.png]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79476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2121"/>
                </a:solidFill>
                <a:latin typeface="Inter Medium"/>
              </a:rPr>
              <a:t>МТТ. Сайт провайдера телекоммуникационных решений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Inter"/>
              </a:rPr>
              <a:t>2024. Телеком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3794760" cy="33421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×2  увеличение заявок на сайте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40%  снижение bounce rate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"/>
              </a:rPr>
              <a:t>Бизнес-цели: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Редизайн корпоративного сайта с фокусом на лидогенерацию. Интеграция с CRM и телефонией.</a:t>
            </a:r>
          </a:p>
          <a:p>
            <a:pPr>
              <a:spcBef>
                <a:spcPts val="1000"/>
              </a:spcBef>
            </a:pPr>
            <a:r>
              <a:rPr sz="1000" b="0">
                <a:solidFill>
                  <a:srgbClr val="999999"/>
                </a:solidFill>
                <a:latin typeface="Inter"/>
              </a:rPr>
              <a:t>Корпоративный сайт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37160"/>
            <a:ext cx="4389120" cy="4846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[images/mtt.png]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79476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2121"/>
                </a:solidFill>
                <a:latin typeface="Inter Medium"/>
              </a:rPr>
              <a:t>Северсталь. Каталог решений из металлоконструкций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Inter"/>
              </a:rPr>
              <a:t>2024. Промышленность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3794760" cy="33421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500+  позиций каталога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12  интеграций с внутренними системами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"/>
              </a:rPr>
              <a:t>Бизнес-цели: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Разработать каталог решений с подбором по параметрам, интеграция с SAP и внутренними калькуляторами.</a:t>
            </a:r>
          </a:p>
          <a:p>
            <a:pPr>
              <a:spcBef>
                <a:spcPts val="1000"/>
              </a:spcBef>
            </a:pPr>
            <a:r>
              <a:rPr sz="1000" b="0">
                <a:solidFill>
                  <a:srgbClr val="999999"/>
                </a:solidFill>
                <a:latin typeface="Inter"/>
              </a:rPr>
              <a:t>Каталог / Промышленность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37160"/>
            <a:ext cx="4389120" cy="4846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[images/severstal.png]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Дизайн, который становится бенчмарком для отрасли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Финансы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Награды: Золотой сайт — 3, Tagline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515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Университеты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Награды: Золотой сайт — 1, Tagline —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0515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Аэропорты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Награды: Золотой сайт — 2, Tagline — 2, Рейтинг Рунета —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Консистентность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Атомарный дизайн обеспечит последовательность и согласованность пользовательского интерфейса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4028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Удобство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Проектирование интерфейсов с фокусом на задачи пользователя и минимизацию когнитивной нагрузки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24028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Масштабируемость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Модульная дизайн-система для удобного развития и добавления новых разделов</a:t>
            </a:r>
          </a:p>
        </p:txBody>
      </p:sp>
      <p:pic>
        <p:nvPicPr>
          <p:cNvPr id="9" name="Picture 8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Команда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499360" cy="10058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[Алексей Андреев]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49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Алексей Андреев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Руководитель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322320" y="1051560"/>
            <a:ext cx="2499360" cy="10058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[Дмитрий Глумов]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2320" y="2148840"/>
            <a:ext cx="249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Дмитрий Глумов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Арт-директор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1051560"/>
            <a:ext cx="2499360" cy="10058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[Анастасия Букреева]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2148840"/>
            <a:ext cx="249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Анастасия Букреева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Ведущий дизайнер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2499360" cy="10058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[Елена Пономарева]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249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Елена Пономарева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Frontend-разработчик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2320" y="3154680"/>
            <a:ext cx="2499360" cy="10058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[Никита Лукьянов]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2320" y="4251960"/>
            <a:ext cx="249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Никита Лукьянов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Backend-разработчик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3154680"/>
            <a:ext cx="2499360" cy="10058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[Лидия Сапрыкина]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4251960"/>
            <a:ext cx="249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Лидия Сапрыкина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UX-аналитик</a:t>
            </a:r>
          </a:p>
        </p:txBody>
      </p:sp>
      <p:pic>
        <p:nvPicPr>
          <p:cNvPr id="15" name="Picture 1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× CHINT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999999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18288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12121"/>
                </a:solidFill>
                <a:latin typeface="Inter Medium"/>
              </a:rPr>
              <a:t>info@uplab.ru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+7 499 653 78 83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www.uplab.ru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657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 b="0">
                <a:solidFill>
                  <a:srgbClr val="212121"/>
                </a:solidFill>
                <a:latin typeface="Inter"/>
              </a:rPr>
              <a:t>Москва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212121"/>
                </a:solidFill>
                <a:latin typeface="Inter"/>
              </a:rPr>
              <a:t>127055, ул. Новослободская, д. 61, стр. 2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